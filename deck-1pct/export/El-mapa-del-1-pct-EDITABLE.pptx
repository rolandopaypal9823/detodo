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11 · Portada
• Cerraste la clase. Ahora les hacés la pregunta directa: ¿quieren que les muestres cómo aplicar esto en su vida, con acompañamiento?
CÓMO DECIRLO
Respirá. Cambiá el tono: acá dejás de enseñar y le hacés la pregunta a la sala, de verdad — dejá el silencio para que conteste mentalmente que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11 · El camino
• Va a ser así: la aplicación, la entrevista, y el acceso al sistema.
• Son tres pasos. Nada más que tres.
• Y de los tres, uno solo depende de vos: el de hoy.
CÓMO DECIRLO
Señalá los tres con la mano mientras los nombrás. Que se vea que es corto.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 11 · Reservás tu entrevista
• Este es tu 1% de hoy: reservás tu entrevista de admisión.
• Te vamos a preguntar unos datos. Es para asignarte el coach que corresponde a tu caso, no para llenar una planilla.
• Elegís el horario que te sirve.
CÓMO DECIRLO
Rápido, 15 segundos. Es el paso que tiene que sonar chico.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11 · Tu autodiagnóstico
• Por WhatsApp te compartimos un autodiagnóstico.
• Este paso es clave: con esto armamos tu sistema. Tu sistema personal, no uno genérico.
• Lo que respondas acá es lo que después te llega hecho. Guardá esta idea, porque vuelve en el paso tres.
CÓMO DECIRLO
Acá sí frená un segundo. Es lo que convierte el trámite en algo que ya es tuyo.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11 · Con tu coach asignado
• Segundo paso: tu entrevista de admisión con tu coach asignado.
• Ahí vemos tu caso y vemos si realmente podemos ayudarte o no. Y a veces la respuesta es que no.
• No es una llamada para venderte nada. Es para ver si esto es para vos.
CÓMO DECIRLO
El "puede que no" dicho tranquilo baja la guardia más que cualquier otra frase del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 / 11 · Lo único que te pedimos
• Lo único que te pedimos: que nos confirmes por WhatsApp y que cumplas el horario que elegiste.
• Estamos invirtiendo recursos para poder ayudarte y mostrarte si el Instituto es para vos.
• Si agendás algo, respetá el tiempo de los profesionales. Es lo mismo que pedirías vos.
CÓMO DECIRLO
Firme pero sin reto. Es respeto mutuo, no una amenaza. Mirá a cámara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 / 11 · Accedés a tu sistema
• Tercer paso: accedés a tu sistema.
• Si hacemos match, entrás a todo: doce sesiones uno a uno, seis clases en vivo por semana, el método completo.
• Y no me tenés solo a mí: tenés coaches, psicóloga, nutricionista. Un equipo entero atrás de tu caso.
CÓMO DECIRLO
El único momento del mapa donde te podés detener a enumerar. Nombrá al EQUIPO, no a vos: es lo que hace que la gente compre el sistema y no al gurú.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 / 11 · Y si no hacemos match
• Y si no hacemos match, igual te llevás tu entregable.
• Lo preparamos con tu autodiagnóstico, el que hiciste en el paso uno. Herramientas para tu caso específico.
• Acá nadie se va con las manos vacías. Todo esto se basa en que pases a la acción.
CÓMO DECIRLO
ESTA es la que elimina la fricción de "me van a vender". Decila lento y con los ojos en la cámara.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 / 11 · Antes de agendar
• Antes de darte el QR quiero ser honesto con vos, así no te hago perder el tiempo.
• Esto es para el que ya tiene algo andando y hoy es el cuello de botella de su propio negocio. El que llegó lejos a fuerza de horas y sabe que de acá no pasa sumando esfuerzo.
• No venís a empezar. Venís a que lo que ya construiste funcione sin que vos lo sostengas — no a punta de voluntad, más disciplina o más esfuerzo, sino con un sistema integral.
• Es una mentoría con un equipo que te sostiene: coaches, psicóloga, nutricionista, sesiones uno a uno. No estás comprando un curso, estás invirtiendo en un sistema integral.
• El monto se define en la entrevista, según tu caso y lo que necesites. No te vamos a recomendar el plan más caro, sino el que te vaya a dar resultados.
• Ahora, si lo que buscás es un cursito de 200 dólares que te promete soluciones mágicas y a los diez días te devuelve a la misma rutina de antes: esto no es lo que estás buscando.
• Trabajamos con gente que tiene un objetivo concreto y una vida exigente encima: un negocio, un equipo, una carrera, un proyecto propio. Si hoy tu prioridad es llegar a fin de mes o batallar para pagar el alquiler: hoy no es tu momento. Y está perfecto.
CÓMO DECIRLO
Techo, no pozo: le hablás al que llegó lejos y chocó contra un límite, no al que está fallando. La línea del cursito de 200 va con humor, sin desprecio. El cierre bajalo tranquilo: 'y está perfecto' se dice de verdad, no como escape.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11 · El QR
• Tu 1% de hoy es esto y nada más: escaneás, respondés, elegís horario.
• Todo lo demás del camino que te mostré pasa solo.
• Doce cupos esta semana, con el Director de Admisiones.
• Y si no lo hacés hoy no pasa nada grave: simplemente dentro de un año vas a estar exactamente donde estás hoy, con un año más de horas encima.
CÓMO DECIRLO
La urgencia va como costo de oportunidad, nunca como catástrofe. Nada de 'vas a colapsar'. Después dejá el QR en silencio unos segundos: no hables encima del escaneo.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11 · Cierre
• Ese es el camino completo.
• Todo esto se basa en una sola cosa: que pases a la acción.
• Nos vemos del otro lado.
CÓMO DECIRLO
Cierre corto. No agregues nada nuevo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5703" y="2286000"/>
            <a:ext cx="609905" cy="32004"/>
          </a:xfrm>
          <a:prstGeom prst="rect">
            <a:avLst/>
          </a:prstGeom>
          <a:solidFill>
            <a:srgbClr val="FF6602"/>
          </a:solidFill>
          <a:ln/>
        </p:spPr>
      </p:sp>
      <p:sp>
        <p:nvSpPr>
          <p:cNvPr id="3" name="Text 1"/>
          <p:cNvSpPr/>
          <p:nvPr/>
        </p:nvSpPr>
        <p:spPr>
          <a:xfrm>
            <a:off x="1548994" y="2197303"/>
            <a:ext cx="5715000" cy="215798"/>
          </a:xfrm>
          <a:prstGeom prst="rect">
            <a:avLst/>
          </a:prstGeom>
          <a:noFill/>
          <a:ln/>
        </p:spPr>
        <p:txBody>
          <a:bodyPr wrap="square" lIns="0" tIns="0" rIns="0" bIns="0" rtlCol="0" anchor="ctr"/>
          <a:lstStyle/>
          <a:p>
            <a:pPr indent="0" marL="0">
              <a:buNone/>
            </a:pPr>
            <a:r>
              <a:rPr lang="en-US" sz="1300" b="1" spc="400" kern="0" dirty="0">
                <a:solidFill>
                  <a:srgbClr val="0C3452"/>
                </a:solidFill>
                <a:latin typeface="Courier New" pitchFamily="34" charset="0"/>
                <a:ea typeface="Courier New" pitchFamily="34" charset="-122"/>
                <a:cs typeface="Courier New" pitchFamily="34" charset="-120"/>
              </a:rPr>
              <a:t>INSTITUTO DE PRODUCTIVIDAD · NFM</a:t>
            </a:r>
            <a:endParaRPr lang="en-US" sz="1300" dirty="0"/>
          </a:p>
        </p:txBody>
      </p:sp>
      <p:sp>
        <p:nvSpPr>
          <p:cNvPr id="4" name="Text 2"/>
          <p:cNvSpPr/>
          <p:nvPr/>
        </p:nvSpPr>
        <p:spPr>
          <a:xfrm>
            <a:off x="825703" y="2730398"/>
            <a:ext cx="9905695" cy="1904695"/>
          </a:xfrm>
          <a:prstGeom prst="rect">
            <a:avLst/>
          </a:prstGeom>
          <a:noFill/>
          <a:ln/>
        </p:spPr>
        <p:txBody>
          <a:bodyPr wrap="square" lIns="0" tIns="0" rIns="0" bIns="0" rtlCol="0" anchor="t"/>
          <a:lstStyle/>
          <a:p>
            <a:pPr indent="0" marL="0">
              <a:lnSpc>
                <a:spcPct val="106000"/>
              </a:lnSpc>
              <a:buNone/>
            </a:pPr>
            <a:r>
              <a:rPr lang="en-US" sz="4000" b="1" spc="-50" kern="0" dirty="0">
                <a:solidFill>
                  <a:srgbClr val="0C3452"/>
                </a:solidFill>
                <a:latin typeface="Montserrat" pitchFamily="34" charset="0"/>
                <a:ea typeface="Montserrat" pitchFamily="34" charset="-122"/>
                <a:cs typeface="Montserrat" pitchFamily="34" charset="-120"/>
              </a:rPr>
              <a:t>¿Querés que te muestre cómo aplicar el sistema completo en tu vida con nuestro </a:t>
            </a:r>
            <a:pPr indent="0" marL="0">
              <a:lnSpc>
                <a:spcPct val="106000"/>
              </a:lnSpc>
              <a:buNone/>
            </a:pPr>
            <a:r>
              <a:rPr lang="en-US" sz="4000" b="1" spc="-50" kern="0" dirty="0">
                <a:solidFill>
                  <a:srgbClr val="FF6602"/>
                </a:solidFill>
                <a:latin typeface="Montserrat" pitchFamily="34" charset="0"/>
                <a:ea typeface="Montserrat" pitchFamily="34" charset="-122"/>
                <a:cs typeface="Montserrat" pitchFamily="34" charset="-120"/>
              </a:rPr>
              <a:t>acompañamiento</a:t>
            </a:r>
            <a:pPr indent="0" marL="0">
              <a:lnSpc>
                <a:spcPct val="106000"/>
              </a:lnSpc>
              <a:buNone/>
            </a:pPr>
            <a:r>
              <a:rPr lang="en-US" sz="4000" b="1" spc="-50" kern="0" dirty="0">
                <a:solidFill>
                  <a:srgbClr val="0C3452"/>
                </a:solidFill>
                <a:latin typeface="Montserrat" pitchFamily="34" charset="0"/>
                <a:ea typeface="Montserrat" pitchFamily="34" charset="-122"/>
                <a:cs typeface="Montserrat" pitchFamily="34" charset="-120"/>
              </a:rPr>
              <a:t>?</a:t>
            </a:r>
            <a:endParaRPr lang="en-US" sz="4000" dirty="0"/>
          </a:p>
        </p:txBody>
      </p:sp>
      <p:sp>
        <p:nvSpPr>
          <p:cNvPr id="5" name="Text 3"/>
          <p:cNvSpPr/>
          <p:nvPr/>
        </p:nvSpPr>
        <p:spPr>
          <a:xfrm>
            <a:off x="825703" y="4826203"/>
            <a:ext cx="6349594" cy="381305"/>
          </a:xfrm>
          <a:prstGeom prst="rect">
            <a:avLst/>
          </a:prstGeom>
          <a:noFill/>
          <a:ln/>
        </p:spPr>
        <p:txBody>
          <a:bodyPr wrap="square" lIns="0" tIns="0" rIns="0" bIns="0" rtlCol="0" anchor="ctr"/>
          <a:lstStyle/>
          <a:p>
            <a:pPr indent="0" marL="0">
              <a:buNone/>
            </a:pPr>
            <a:r>
              <a:rPr lang="en-US" sz="2000" b="1" dirty="0">
                <a:solidFill>
                  <a:srgbClr val="0C3452"/>
                </a:solidFill>
                <a:latin typeface="Open Sans" pitchFamily="34" charset="0"/>
                <a:ea typeface="Open Sans" pitchFamily="34" charset="-122"/>
                <a:cs typeface="Open Sans" pitchFamily="34" charset="-120"/>
              </a:rPr>
              <a:t>El camino que empieza hoy.</a:t>
            </a:r>
            <a:endParaRPr lang="en-US" sz="2000" dirty="0"/>
          </a:p>
        </p:txBody>
      </p:sp>
      <p:sp>
        <p:nvSpPr>
          <p:cNvPr id="6" name="Text 4"/>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C9D2DA"/>
                </a:solidFill>
                <a:latin typeface="Courier New" pitchFamily="34" charset="0"/>
                <a:ea typeface="Courier New" pitchFamily="34" charset="-122"/>
                <a:cs typeface="Courier New" pitchFamily="34" charset="-120"/>
              </a:rPr>
              <a:t>01 / 11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81405" y="2540203"/>
            <a:ext cx="9232697" cy="0"/>
          </a:xfrm>
          <a:prstGeom prst="line">
            <a:avLst/>
          </a:prstGeom>
          <a:noFill/>
          <a:ln w="38100">
            <a:solidFill>
              <a:srgbClr val="C9D2DA"/>
            </a:solidFill>
            <a:prstDash val="sysDot"/>
          </a:ln>
        </p:spPr>
      </p:sp>
      <p:sp>
        <p:nvSpPr>
          <p:cNvPr id="3" name="Shape 1"/>
          <p:cNvSpPr/>
          <p:nvPr/>
        </p:nvSpPr>
        <p:spPr>
          <a:xfrm>
            <a:off x="1098194" y="2456993"/>
            <a:ext cx="165506" cy="165506"/>
          </a:xfrm>
          <a:prstGeom prst="ellipse">
            <a:avLst/>
          </a:prstGeom>
          <a:solidFill>
            <a:srgbClr val="0C3452"/>
          </a:solidFill>
          <a:ln/>
        </p:spPr>
      </p:sp>
      <p:sp>
        <p:nvSpPr>
          <p:cNvPr id="4" name="Text 2"/>
          <p:cNvSpPr/>
          <p:nvPr/>
        </p:nvSpPr>
        <p:spPr>
          <a:xfrm>
            <a:off x="418795" y="2704795"/>
            <a:ext cx="1524305" cy="190195"/>
          </a:xfrm>
          <a:prstGeom prst="rect">
            <a:avLst/>
          </a:prstGeom>
          <a:noFill/>
          <a:ln/>
        </p:spPr>
        <p:txBody>
          <a:bodyPr wrap="square" lIns="0" tIns="0" rIns="0" bIns="0" rtlCol="0" anchor="ctr"/>
          <a:lstStyle/>
          <a:p>
            <a:pPr algn="ctr" indent="0" marL="0">
              <a:buNone/>
            </a:pPr>
            <a:r>
              <a:rPr lang="en-US" sz="1100" spc="300" kern="0" dirty="0">
                <a:solidFill>
                  <a:srgbClr val="0C3452"/>
                </a:solidFill>
                <a:latin typeface="Courier New" pitchFamily="34" charset="0"/>
                <a:ea typeface="Courier New" pitchFamily="34" charset="-122"/>
                <a:cs typeface="Courier New" pitchFamily="34" charset="-120"/>
              </a:rPr>
              <a:t>ESTÁS ACÁ</a:t>
            </a:r>
            <a:endParaRPr lang="en-US" sz="1100" dirty="0"/>
          </a:p>
        </p:txBody>
      </p:sp>
      <p:sp>
        <p:nvSpPr>
          <p:cNvPr id="5" name="Shape 3"/>
          <p:cNvSpPr/>
          <p:nvPr/>
        </p:nvSpPr>
        <p:spPr>
          <a:xfrm>
            <a:off x="3010205" y="2247595"/>
            <a:ext cx="584302" cy="584302"/>
          </a:xfrm>
          <a:prstGeom prst="ellipse">
            <a:avLst/>
          </a:prstGeom>
          <a:solidFill>
            <a:srgbClr val="FFFFFF"/>
          </a:solidFill>
          <a:ln w="38100">
            <a:solidFill>
              <a:srgbClr val="C9D2DA"/>
            </a:solidFill>
            <a:prstDash val="solid"/>
          </a:ln>
        </p:spPr>
      </p:sp>
      <p:sp>
        <p:nvSpPr>
          <p:cNvPr id="6" name="Text 4"/>
          <p:cNvSpPr/>
          <p:nvPr/>
        </p:nvSpPr>
        <p:spPr>
          <a:xfrm>
            <a:off x="2793492" y="2870302"/>
            <a:ext cx="1015898" cy="304495"/>
          </a:xfrm>
          <a:prstGeom prst="rect">
            <a:avLst/>
          </a:prstGeom>
          <a:noFill/>
          <a:ln/>
        </p:spPr>
        <p:txBody>
          <a:bodyPr wrap="square" lIns="0" tIns="0" rIns="0" bIns="0" rtlCol="0" anchor="ctr"/>
          <a:lstStyle/>
          <a:p>
            <a:pPr algn="ctr" indent="0" marL="0">
              <a:buNone/>
            </a:pPr>
            <a:r>
              <a:rPr lang="en-US" sz="2600" b="1" dirty="0">
                <a:solidFill>
                  <a:srgbClr val="C9D2DA"/>
                </a:solidFill>
                <a:latin typeface="Montserrat" pitchFamily="34" charset="0"/>
                <a:ea typeface="Montserrat" pitchFamily="34" charset="-122"/>
                <a:cs typeface="Montserrat" pitchFamily="34" charset="-120"/>
              </a:rPr>
              <a:t>01</a:t>
            </a:r>
            <a:endParaRPr lang="en-US" sz="2600" dirty="0"/>
          </a:p>
        </p:txBody>
      </p:sp>
      <p:sp>
        <p:nvSpPr>
          <p:cNvPr id="7" name="Text 5"/>
          <p:cNvSpPr/>
          <p:nvPr/>
        </p:nvSpPr>
        <p:spPr>
          <a:xfrm>
            <a:off x="2158898" y="3161995"/>
            <a:ext cx="2286000" cy="228600"/>
          </a:xfrm>
          <a:prstGeom prst="rect">
            <a:avLst/>
          </a:prstGeom>
          <a:noFill/>
          <a:ln/>
        </p:spPr>
        <p:txBody>
          <a:bodyPr wrap="square" lIns="0" tIns="0" rIns="0" bIns="0" rtlCol="0" anchor="ctr"/>
          <a:lstStyle/>
          <a:p>
            <a:pPr algn="ctr" indent="0" marL="0">
              <a:buNone/>
            </a:pPr>
            <a:r>
              <a:rPr lang="en-US" sz="1500" b="1" spc="100" kern="0" dirty="0">
                <a:solidFill>
                  <a:srgbClr val="C9D2DA"/>
                </a:solidFill>
                <a:latin typeface="Montserrat" pitchFamily="34" charset="0"/>
                <a:ea typeface="Montserrat" pitchFamily="34" charset="-122"/>
                <a:cs typeface="Montserrat" pitchFamily="34" charset="-120"/>
              </a:rPr>
              <a:t>LA APLICACIÓN</a:t>
            </a:r>
            <a:endParaRPr lang="en-US" sz="1500" dirty="0"/>
          </a:p>
        </p:txBody>
      </p:sp>
      <p:sp>
        <p:nvSpPr>
          <p:cNvPr id="8" name="Shape 6"/>
          <p:cNvSpPr/>
          <p:nvPr/>
        </p:nvSpPr>
        <p:spPr>
          <a:xfrm>
            <a:off x="6565392" y="2247595"/>
            <a:ext cx="584302" cy="584302"/>
          </a:xfrm>
          <a:prstGeom prst="ellipse">
            <a:avLst/>
          </a:prstGeom>
          <a:solidFill>
            <a:srgbClr val="FFFFFF"/>
          </a:solidFill>
          <a:ln w="38100">
            <a:solidFill>
              <a:srgbClr val="C9D2DA"/>
            </a:solidFill>
            <a:prstDash val="solid"/>
          </a:ln>
        </p:spPr>
      </p:sp>
      <p:sp>
        <p:nvSpPr>
          <p:cNvPr id="9" name="Text 7"/>
          <p:cNvSpPr/>
          <p:nvPr/>
        </p:nvSpPr>
        <p:spPr>
          <a:xfrm>
            <a:off x="6349594" y="2870302"/>
            <a:ext cx="1015898" cy="304495"/>
          </a:xfrm>
          <a:prstGeom prst="rect">
            <a:avLst/>
          </a:prstGeom>
          <a:noFill/>
          <a:ln/>
        </p:spPr>
        <p:txBody>
          <a:bodyPr wrap="square" lIns="0" tIns="0" rIns="0" bIns="0" rtlCol="0" anchor="ctr"/>
          <a:lstStyle/>
          <a:p>
            <a:pPr algn="ctr" indent="0" marL="0">
              <a:buNone/>
            </a:pPr>
            <a:r>
              <a:rPr lang="en-US" sz="2600" b="1" dirty="0">
                <a:solidFill>
                  <a:srgbClr val="C9D2DA"/>
                </a:solidFill>
                <a:latin typeface="Montserrat" pitchFamily="34" charset="0"/>
                <a:ea typeface="Montserrat" pitchFamily="34" charset="-122"/>
                <a:cs typeface="Montserrat" pitchFamily="34" charset="-120"/>
              </a:rPr>
              <a:t>02</a:t>
            </a:r>
            <a:endParaRPr lang="en-US" sz="2600" dirty="0"/>
          </a:p>
        </p:txBody>
      </p:sp>
      <p:sp>
        <p:nvSpPr>
          <p:cNvPr id="10" name="Text 8"/>
          <p:cNvSpPr/>
          <p:nvPr/>
        </p:nvSpPr>
        <p:spPr>
          <a:xfrm>
            <a:off x="5715000" y="3161995"/>
            <a:ext cx="2286000" cy="228600"/>
          </a:xfrm>
          <a:prstGeom prst="rect">
            <a:avLst/>
          </a:prstGeom>
          <a:noFill/>
          <a:ln/>
        </p:spPr>
        <p:txBody>
          <a:bodyPr wrap="square" lIns="0" tIns="0" rIns="0" bIns="0" rtlCol="0" anchor="ctr"/>
          <a:lstStyle/>
          <a:p>
            <a:pPr algn="ctr" indent="0" marL="0">
              <a:buNone/>
            </a:pPr>
            <a:r>
              <a:rPr lang="en-US" sz="1500" b="1" spc="100" kern="0" dirty="0">
                <a:solidFill>
                  <a:srgbClr val="C9D2DA"/>
                </a:solidFill>
                <a:latin typeface="Montserrat" pitchFamily="34" charset="0"/>
                <a:ea typeface="Montserrat" pitchFamily="34" charset="-122"/>
                <a:cs typeface="Montserrat" pitchFamily="34" charset="-120"/>
              </a:rPr>
              <a:t>LA ENTREVISTA</a:t>
            </a:r>
            <a:endParaRPr lang="en-US" sz="1500" dirty="0"/>
          </a:p>
        </p:txBody>
      </p:sp>
      <p:sp>
        <p:nvSpPr>
          <p:cNvPr id="11" name="Shape 9"/>
          <p:cNvSpPr/>
          <p:nvPr/>
        </p:nvSpPr>
        <p:spPr>
          <a:xfrm>
            <a:off x="10121494" y="2247595"/>
            <a:ext cx="584302" cy="584302"/>
          </a:xfrm>
          <a:prstGeom prst="ellipse">
            <a:avLst/>
          </a:prstGeom>
          <a:solidFill>
            <a:srgbClr val="FFFFFF"/>
          </a:solidFill>
          <a:ln w="38100">
            <a:solidFill>
              <a:srgbClr val="C9D2DA"/>
            </a:solidFill>
            <a:prstDash val="solid"/>
          </a:ln>
        </p:spPr>
      </p:sp>
      <p:sp>
        <p:nvSpPr>
          <p:cNvPr id="12" name="Text 10"/>
          <p:cNvSpPr/>
          <p:nvPr/>
        </p:nvSpPr>
        <p:spPr>
          <a:xfrm>
            <a:off x="9905695" y="2870302"/>
            <a:ext cx="1015898" cy="304495"/>
          </a:xfrm>
          <a:prstGeom prst="rect">
            <a:avLst/>
          </a:prstGeom>
          <a:noFill/>
          <a:ln/>
        </p:spPr>
        <p:txBody>
          <a:bodyPr wrap="square" lIns="0" tIns="0" rIns="0" bIns="0" rtlCol="0" anchor="ctr"/>
          <a:lstStyle/>
          <a:p>
            <a:pPr algn="ctr" indent="0" marL="0">
              <a:buNone/>
            </a:pPr>
            <a:r>
              <a:rPr lang="en-US" sz="2600" b="1" dirty="0">
                <a:solidFill>
                  <a:srgbClr val="C9D2DA"/>
                </a:solidFill>
                <a:latin typeface="Montserrat" pitchFamily="34" charset="0"/>
                <a:ea typeface="Montserrat" pitchFamily="34" charset="-122"/>
                <a:cs typeface="Montserrat" pitchFamily="34" charset="-120"/>
              </a:rPr>
              <a:t>03</a:t>
            </a:r>
            <a:endParaRPr lang="en-US" sz="2600" dirty="0"/>
          </a:p>
        </p:txBody>
      </p:sp>
      <p:sp>
        <p:nvSpPr>
          <p:cNvPr id="13" name="Text 11"/>
          <p:cNvSpPr/>
          <p:nvPr/>
        </p:nvSpPr>
        <p:spPr>
          <a:xfrm>
            <a:off x="9271102" y="3161995"/>
            <a:ext cx="2286000" cy="228600"/>
          </a:xfrm>
          <a:prstGeom prst="rect">
            <a:avLst/>
          </a:prstGeom>
          <a:noFill/>
          <a:ln/>
        </p:spPr>
        <p:txBody>
          <a:bodyPr wrap="square" lIns="0" tIns="0" rIns="0" bIns="0" rtlCol="0" anchor="ctr"/>
          <a:lstStyle/>
          <a:p>
            <a:pPr algn="ctr" indent="0" marL="0">
              <a:buNone/>
            </a:pPr>
            <a:r>
              <a:rPr lang="en-US" sz="1500" b="1" spc="100" kern="0" dirty="0">
                <a:solidFill>
                  <a:srgbClr val="C9D2DA"/>
                </a:solidFill>
                <a:latin typeface="Montserrat" pitchFamily="34" charset="0"/>
                <a:ea typeface="Montserrat" pitchFamily="34" charset="-122"/>
                <a:cs typeface="Montserrat" pitchFamily="34" charset="-120"/>
              </a:rPr>
              <a:t>EL ACCESO</a:t>
            </a:r>
            <a:endParaRPr lang="en-US" sz="1500" dirty="0"/>
          </a:p>
        </p:txBody>
      </p:sp>
      <p:sp>
        <p:nvSpPr>
          <p:cNvPr id="14" name="Text 12"/>
          <p:cNvSpPr/>
          <p:nvPr/>
        </p:nvSpPr>
        <p:spPr>
          <a:xfrm>
            <a:off x="825703" y="3556102"/>
            <a:ext cx="6985102" cy="1904695"/>
          </a:xfrm>
          <a:prstGeom prst="rect">
            <a:avLst/>
          </a:prstGeom>
          <a:noFill/>
          <a:ln/>
        </p:spPr>
        <p:txBody>
          <a:bodyPr wrap="square" lIns="0" tIns="0" rIns="0" bIns="0" rtlCol="0" anchor="ctr"/>
          <a:lstStyle/>
          <a:p>
            <a:pPr indent="0" marL="0">
              <a:lnSpc>
                <a:spcPct val="102000"/>
              </a:lnSpc>
              <a:buNone/>
            </a:pPr>
            <a:r>
              <a:rPr lang="en-US" sz="4200" b="1" spc="-50" kern="0" dirty="0">
                <a:solidFill>
                  <a:srgbClr val="0C3452"/>
                </a:solidFill>
                <a:latin typeface="Montserrat" pitchFamily="34" charset="0"/>
                <a:ea typeface="Montserrat" pitchFamily="34" charset="-122"/>
                <a:cs typeface="Montserrat" pitchFamily="34" charset="-120"/>
              </a:rPr>
              <a:t>Va a ser así.</a:t>
            </a:r>
            <a:endParaRPr lang="en-US" sz="4200" dirty="0"/>
          </a:p>
          <a:p>
            <a:pPr indent="0" marL="0">
              <a:lnSpc>
                <a:spcPct val="102000"/>
              </a:lnSpc>
              <a:buNone/>
            </a:pPr>
            <a:r>
              <a:rPr lang="en-US" sz="4200" b="1" spc="-50" kern="0" dirty="0">
                <a:solidFill>
                  <a:srgbClr val="0C3452"/>
                </a:solidFill>
                <a:latin typeface="Montserrat" pitchFamily="34" charset="0"/>
                <a:ea typeface="Montserrat" pitchFamily="34" charset="-122"/>
                <a:cs typeface="Montserrat" pitchFamily="34" charset="-120"/>
              </a:rPr>
              <a:t>Tres pasos.</a:t>
            </a:r>
            <a:endParaRPr lang="en-US" sz="4200" dirty="0"/>
          </a:p>
          <a:p>
            <a:pPr indent="0" marL="0">
              <a:lnSpc>
                <a:spcPct val="102000"/>
              </a:lnSpc>
              <a:buNone/>
            </a:pPr>
            <a:r>
              <a:rPr lang="en-US" sz="4200" b="1" spc="-50" kern="0" dirty="0">
                <a:solidFill>
                  <a:srgbClr val="0C3452"/>
                </a:solidFill>
                <a:latin typeface="Montserrat" pitchFamily="34" charset="0"/>
                <a:ea typeface="Montserrat" pitchFamily="34" charset="-122"/>
                <a:cs typeface="Montserrat" pitchFamily="34" charset="-120"/>
              </a:rPr>
              <a:t>Y </a:t>
            </a:r>
            <a:endParaRPr lang="en-US" sz="4200" dirty="0"/>
          </a:p>
          <a:p>
            <a:pPr indent="0" marL="0">
              <a:lnSpc>
                <a:spcPct val="102000"/>
              </a:lnSpc>
              <a:buNone/>
            </a:pPr>
            <a:r>
              <a:rPr lang="en-US" sz="4200" b="1" spc="-50" kern="0" dirty="0">
                <a:solidFill>
                  <a:srgbClr val="FF6602"/>
                </a:solidFill>
                <a:latin typeface="Montserrat" pitchFamily="34" charset="0"/>
                <a:ea typeface="Montserrat" pitchFamily="34" charset="-122"/>
                <a:cs typeface="Montserrat" pitchFamily="34" charset="-120"/>
              </a:rPr>
              <a:t>uno solo depende de vos</a:t>
            </a:r>
            <a:pPr indent="0" marL="0">
              <a:lnSpc>
                <a:spcPct val="102000"/>
              </a:lnSpc>
              <a:buNone/>
            </a:pPr>
            <a:r>
              <a:rPr lang="en-US" sz="4200" b="1" spc="-50" kern="0" dirty="0">
                <a:solidFill>
                  <a:srgbClr val="0C3452"/>
                </a:solidFill>
                <a:latin typeface="Montserrat" pitchFamily="34" charset="0"/>
                <a:ea typeface="Montserrat" pitchFamily="34" charset="-122"/>
                <a:cs typeface="Montserrat" pitchFamily="34" charset="-120"/>
              </a:rPr>
              <a:t>.</a:t>
            </a:r>
            <a:endParaRPr lang="en-US" sz="4200" dirty="0"/>
          </a:p>
        </p:txBody>
      </p:sp>
      <p:sp>
        <p:nvSpPr>
          <p:cNvPr id="15" name="Text 13"/>
          <p:cNvSpPr/>
          <p:nvPr/>
        </p:nvSpPr>
        <p:spPr>
          <a:xfrm>
            <a:off x="825703" y="5587898"/>
            <a:ext cx="7619695" cy="381305"/>
          </a:xfrm>
          <a:prstGeom prst="rect">
            <a:avLst/>
          </a:prstGeom>
          <a:noFill/>
          <a:ln/>
        </p:spPr>
        <p:txBody>
          <a:bodyPr wrap="square" lIns="0" tIns="0" rIns="0" bIns="0" rtlCol="0" anchor="ctr"/>
          <a:lstStyle/>
          <a:p>
            <a:pPr indent="0" marL="0">
              <a:buNone/>
            </a:pPr>
            <a:r>
              <a:rPr lang="en-US" sz="1500" dirty="0">
                <a:solidFill>
                  <a:srgbClr val="6B7280"/>
                </a:solidFill>
                <a:latin typeface="Open Sans" pitchFamily="34" charset="0"/>
                <a:ea typeface="Open Sans" pitchFamily="34" charset="-122"/>
                <a:cs typeface="Open Sans" pitchFamily="34" charset="-120"/>
              </a:rPr>
              <a:t>La aplicación, la entrevista, y el acceso a tu sistema. El de hoy te lleva 90 segundos.</a:t>
            </a:r>
            <a:endParaRPr lang="en-US" sz="1500" dirty="0"/>
          </a:p>
        </p:txBody>
      </p:sp>
      <p:sp>
        <p:nvSpPr>
          <p:cNvPr id="16" name="Text 14"/>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C9D2DA"/>
                </a:solidFill>
                <a:latin typeface="Courier New" pitchFamily="34" charset="0"/>
                <a:ea typeface="Courier New" pitchFamily="34" charset="-122"/>
                <a:cs typeface="Courier New" pitchFamily="34" charset="-120"/>
              </a:rPr>
              <a:t>02 / 11</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81405" y="1561795"/>
            <a:ext cx="9232697" cy="0"/>
          </a:xfrm>
          <a:prstGeom prst="line">
            <a:avLst/>
          </a:prstGeom>
          <a:noFill/>
          <a:ln w="38100">
            <a:solidFill>
              <a:srgbClr val="C9D2DA"/>
            </a:solidFill>
            <a:prstDash val="sysDot"/>
          </a:ln>
        </p:spPr>
      </p:sp>
      <p:sp>
        <p:nvSpPr>
          <p:cNvPr id="3" name="Shape 1"/>
          <p:cNvSpPr/>
          <p:nvPr/>
        </p:nvSpPr>
        <p:spPr>
          <a:xfrm>
            <a:off x="1181405" y="1561795"/>
            <a:ext cx="2120494" cy="0"/>
          </a:xfrm>
          <a:prstGeom prst="line">
            <a:avLst/>
          </a:prstGeom>
          <a:noFill/>
          <a:ln w="50800">
            <a:solidFill>
              <a:srgbClr val="FF6602"/>
            </a:solidFill>
            <a:prstDash val="solid"/>
          </a:ln>
        </p:spPr>
      </p:sp>
      <p:sp>
        <p:nvSpPr>
          <p:cNvPr id="4" name="Shape 2"/>
          <p:cNvSpPr/>
          <p:nvPr/>
        </p:nvSpPr>
        <p:spPr>
          <a:xfrm>
            <a:off x="1098194" y="1479499"/>
            <a:ext cx="165506" cy="165506"/>
          </a:xfrm>
          <a:prstGeom prst="ellipse">
            <a:avLst/>
          </a:prstGeom>
          <a:solidFill>
            <a:srgbClr val="0C3452"/>
          </a:solidFill>
          <a:ln/>
        </p:spPr>
      </p:sp>
      <p:sp>
        <p:nvSpPr>
          <p:cNvPr id="5" name="Text 3"/>
          <p:cNvSpPr/>
          <p:nvPr/>
        </p:nvSpPr>
        <p:spPr>
          <a:xfrm>
            <a:off x="418795" y="1727302"/>
            <a:ext cx="1524305" cy="190195"/>
          </a:xfrm>
          <a:prstGeom prst="rect">
            <a:avLst/>
          </a:prstGeom>
          <a:noFill/>
          <a:ln/>
        </p:spPr>
        <p:txBody>
          <a:bodyPr wrap="square" lIns="0" tIns="0" rIns="0" bIns="0" rtlCol="0" anchor="ctr"/>
          <a:lstStyle/>
          <a:p>
            <a:pPr algn="ctr" indent="0" marL="0">
              <a:buNone/>
            </a:pPr>
            <a:r>
              <a:rPr lang="en-US" sz="1100" spc="300" kern="0" dirty="0">
                <a:solidFill>
                  <a:srgbClr val="0C3452"/>
                </a:solidFill>
                <a:latin typeface="Courier New" pitchFamily="34" charset="0"/>
                <a:ea typeface="Courier New" pitchFamily="34" charset="-122"/>
                <a:cs typeface="Courier New" pitchFamily="34" charset="-120"/>
              </a:rPr>
              <a:t>ESTÁS ACÁ</a:t>
            </a:r>
            <a:endParaRPr lang="en-US" sz="1100" dirty="0"/>
          </a:p>
        </p:txBody>
      </p:sp>
      <p:sp>
        <p:nvSpPr>
          <p:cNvPr id="6" name="Shape 4"/>
          <p:cNvSpPr/>
          <p:nvPr/>
        </p:nvSpPr>
        <p:spPr>
          <a:xfrm>
            <a:off x="2933395" y="1194206"/>
            <a:ext cx="737006" cy="737006"/>
          </a:xfrm>
          <a:prstGeom prst="ellipse">
            <a:avLst/>
          </a:prstGeom>
          <a:ln w="38100">
            <a:solidFill>
              <a:srgbClr val="FF6602"/>
            </a:solidFill>
            <a:prstDash val="solid"/>
          </a:ln>
        </p:spPr>
      </p:sp>
      <p:sp>
        <p:nvSpPr>
          <p:cNvPr id="7" name="Shape 5"/>
          <p:cNvSpPr/>
          <p:nvPr/>
        </p:nvSpPr>
        <p:spPr>
          <a:xfrm>
            <a:off x="3010205" y="1270102"/>
            <a:ext cx="584302" cy="584302"/>
          </a:xfrm>
          <a:prstGeom prst="ellipse">
            <a:avLst/>
          </a:prstGeom>
          <a:solidFill>
            <a:srgbClr val="FFFFFF"/>
          </a:solidFill>
          <a:ln w="38100">
            <a:solidFill>
              <a:srgbClr val="0C3452"/>
            </a:solidFill>
            <a:prstDash val="solid"/>
          </a:ln>
        </p:spPr>
      </p:sp>
      <p:sp>
        <p:nvSpPr>
          <p:cNvPr id="8" name="Text 6"/>
          <p:cNvSpPr/>
          <p:nvPr/>
        </p:nvSpPr>
        <p:spPr>
          <a:xfrm>
            <a:off x="2793492" y="1891894"/>
            <a:ext cx="1015898" cy="304495"/>
          </a:xfrm>
          <a:prstGeom prst="rect">
            <a:avLst/>
          </a:prstGeom>
          <a:noFill/>
          <a:ln/>
        </p:spPr>
        <p:txBody>
          <a:bodyPr wrap="square" lIns="0" tIns="0" rIns="0" bIns="0" rtlCol="0" anchor="ctr"/>
          <a:lstStyle/>
          <a:p>
            <a:pPr algn="ctr" indent="0" marL="0">
              <a:buNone/>
            </a:pPr>
            <a:r>
              <a:rPr lang="en-US" sz="2600" b="1" dirty="0">
                <a:solidFill>
                  <a:srgbClr val="FF6602"/>
                </a:solidFill>
                <a:latin typeface="Montserrat" pitchFamily="34" charset="0"/>
                <a:ea typeface="Montserrat" pitchFamily="34" charset="-122"/>
                <a:cs typeface="Montserrat" pitchFamily="34" charset="-120"/>
              </a:rPr>
              <a:t>01</a:t>
            </a:r>
            <a:endParaRPr lang="en-US" sz="2600" dirty="0"/>
          </a:p>
        </p:txBody>
      </p:sp>
      <p:sp>
        <p:nvSpPr>
          <p:cNvPr id="9" name="Text 7"/>
          <p:cNvSpPr/>
          <p:nvPr/>
        </p:nvSpPr>
        <p:spPr>
          <a:xfrm>
            <a:off x="2158898"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APLICACIÓN</a:t>
            </a:r>
            <a:endParaRPr lang="en-US" sz="1500" dirty="0"/>
          </a:p>
        </p:txBody>
      </p:sp>
      <p:sp>
        <p:nvSpPr>
          <p:cNvPr id="10" name="Shape 8"/>
          <p:cNvSpPr/>
          <p:nvPr/>
        </p:nvSpPr>
        <p:spPr>
          <a:xfrm>
            <a:off x="6565392" y="1270102"/>
            <a:ext cx="584302" cy="584302"/>
          </a:xfrm>
          <a:prstGeom prst="ellipse">
            <a:avLst/>
          </a:prstGeom>
          <a:solidFill>
            <a:srgbClr val="FFFFFF"/>
          </a:solidFill>
          <a:ln w="38100">
            <a:solidFill>
              <a:srgbClr val="C9D2DA"/>
            </a:solidFill>
            <a:prstDash val="solid"/>
          </a:ln>
        </p:spPr>
      </p:sp>
      <p:sp>
        <p:nvSpPr>
          <p:cNvPr id="11" name="Text 9"/>
          <p:cNvSpPr/>
          <p:nvPr/>
        </p:nvSpPr>
        <p:spPr>
          <a:xfrm>
            <a:off x="6349594" y="1891894"/>
            <a:ext cx="1015898" cy="304495"/>
          </a:xfrm>
          <a:prstGeom prst="rect">
            <a:avLst/>
          </a:prstGeom>
          <a:noFill/>
          <a:ln/>
        </p:spPr>
        <p:txBody>
          <a:bodyPr wrap="square" lIns="0" tIns="0" rIns="0" bIns="0" rtlCol="0" anchor="ctr"/>
          <a:lstStyle/>
          <a:p>
            <a:pPr algn="ctr" indent="0" marL="0">
              <a:buNone/>
            </a:pPr>
            <a:r>
              <a:rPr lang="en-US" sz="2600" b="1" dirty="0">
                <a:solidFill>
                  <a:srgbClr val="C9D2DA"/>
                </a:solidFill>
                <a:latin typeface="Montserrat" pitchFamily="34" charset="0"/>
                <a:ea typeface="Montserrat" pitchFamily="34" charset="-122"/>
                <a:cs typeface="Montserrat" pitchFamily="34" charset="-120"/>
              </a:rPr>
              <a:t>02</a:t>
            </a:r>
            <a:endParaRPr lang="en-US" sz="2600" dirty="0"/>
          </a:p>
        </p:txBody>
      </p:sp>
      <p:sp>
        <p:nvSpPr>
          <p:cNvPr id="12" name="Text 10"/>
          <p:cNvSpPr/>
          <p:nvPr/>
        </p:nvSpPr>
        <p:spPr>
          <a:xfrm>
            <a:off x="5715000"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C9D2DA"/>
                </a:solidFill>
                <a:latin typeface="Montserrat" pitchFamily="34" charset="0"/>
                <a:ea typeface="Montserrat" pitchFamily="34" charset="-122"/>
                <a:cs typeface="Montserrat" pitchFamily="34" charset="-120"/>
              </a:rPr>
              <a:t>LA ENTREVISTA</a:t>
            </a:r>
            <a:endParaRPr lang="en-US" sz="1500" dirty="0"/>
          </a:p>
        </p:txBody>
      </p:sp>
      <p:sp>
        <p:nvSpPr>
          <p:cNvPr id="13" name="Shape 11"/>
          <p:cNvSpPr/>
          <p:nvPr/>
        </p:nvSpPr>
        <p:spPr>
          <a:xfrm>
            <a:off x="10121494" y="1270102"/>
            <a:ext cx="584302" cy="584302"/>
          </a:xfrm>
          <a:prstGeom prst="ellipse">
            <a:avLst/>
          </a:prstGeom>
          <a:solidFill>
            <a:srgbClr val="FFFFFF"/>
          </a:solidFill>
          <a:ln w="38100">
            <a:solidFill>
              <a:srgbClr val="C9D2DA"/>
            </a:solidFill>
            <a:prstDash val="solid"/>
          </a:ln>
        </p:spPr>
      </p:sp>
      <p:sp>
        <p:nvSpPr>
          <p:cNvPr id="14" name="Text 12"/>
          <p:cNvSpPr/>
          <p:nvPr/>
        </p:nvSpPr>
        <p:spPr>
          <a:xfrm>
            <a:off x="9905695" y="1891894"/>
            <a:ext cx="1015898" cy="304495"/>
          </a:xfrm>
          <a:prstGeom prst="rect">
            <a:avLst/>
          </a:prstGeom>
          <a:noFill/>
          <a:ln/>
        </p:spPr>
        <p:txBody>
          <a:bodyPr wrap="square" lIns="0" tIns="0" rIns="0" bIns="0" rtlCol="0" anchor="ctr"/>
          <a:lstStyle/>
          <a:p>
            <a:pPr algn="ctr" indent="0" marL="0">
              <a:buNone/>
            </a:pPr>
            <a:r>
              <a:rPr lang="en-US" sz="2600" b="1" dirty="0">
                <a:solidFill>
                  <a:srgbClr val="C9D2DA"/>
                </a:solidFill>
                <a:latin typeface="Montserrat" pitchFamily="34" charset="0"/>
                <a:ea typeface="Montserrat" pitchFamily="34" charset="-122"/>
                <a:cs typeface="Montserrat" pitchFamily="34" charset="-120"/>
              </a:rPr>
              <a:t>03</a:t>
            </a:r>
            <a:endParaRPr lang="en-US" sz="2600" dirty="0"/>
          </a:p>
        </p:txBody>
      </p:sp>
      <p:sp>
        <p:nvSpPr>
          <p:cNvPr id="15" name="Text 13"/>
          <p:cNvSpPr/>
          <p:nvPr/>
        </p:nvSpPr>
        <p:spPr>
          <a:xfrm>
            <a:off x="9271102"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C9D2DA"/>
                </a:solidFill>
                <a:latin typeface="Montserrat" pitchFamily="34" charset="0"/>
                <a:ea typeface="Montserrat" pitchFamily="34" charset="-122"/>
                <a:cs typeface="Montserrat" pitchFamily="34" charset="-120"/>
              </a:rPr>
              <a:t>EL ACCESO</a:t>
            </a:r>
            <a:endParaRPr lang="en-US" sz="1500" dirty="0"/>
          </a:p>
        </p:txBody>
      </p:sp>
      <p:pic>
        <p:nvPicPr>
          <p:cNvPr id="16" name="Image 0" descr="/tmp/claude-0/-home-user-detodo/82f5030d-8aaf-57d2-9bf8-611f8273ee0c/scratchpad/pptx-nativo/img/mini-nico-marker.png">    </p:cNvPr>
          <p:cNvPicPr>
            <a:picLocks noChangeAspect="1"/>
          </p:cNvPicPr>
          <p:nvPr/>
        </p:nvPicPr>
        <p:blipFill>
          <a:blip r:embed="rId1"/>
          <a:stretch>
            <a:fillRect/>
          </a:stretch>
        </p:blipFill>
        <p:spPr>
          <a:xfrm>
            <a:off x="2907792" y="114300"/>
            <a:ext cx="787298" cy="1155802"/>
          </a:xfrm>
          <a:prstGeom prst="rect">
            <a:avLst/>
          </a:prstGeom>
        </p:spPr>
      </p:pic>
      <p:sp>
        <p:nvSpPr>
          <p:cNvPr id="17" name="Text 14"/>
          <p:cNvSpPr/>
          <p:nvPr/>
        </p:nvSpPr>
        <p:spPr>
          <a:xfrm>
            <a:off x="825703" y="4381805"/>
            <a:ext cx="5715000" cy="215798"/>
          </a:xfrm>
          <a:prstGeom prst="rect">
            <a:avLst/>
          </a:prstGeom>
          <a:noFill/>
          <a:ln/>
        </p:spPr>
        <p:txBody>
          <a:bodyPr wrap="square" lIns="0" tIns="0" rIns="0" bIns="0" rtlCol="0" anchor="ctr"/>
          <a:lstStyle/>
          <a:p>
            <a:pPr indent="0" marL="0">
              <a:buNone/>
            </a:pPr>
            <a:r>
              <a:rPr lang="en-US" sz="1300" b="1" spc="300" kern="0" dirty="0">
                <a:solidFill>
                  <a:srgbClr val="FF6602"/>
                </a:solidFill>
                <a:latin typeface="Courier New" pitchFamily="34" charset="0"/>
                <a:ea typeface="Courier New" pitchFamily="34" charset="-122"/>
                <a:cs typeface="Courier New" pitchFamily="34" charset="-120"/>
              </a:rPr>
              <a:t>PASO 01 / 03 · LA APLICACIÓN</a:t>
            </a:r>
            <a:endParaRPr lang="en-US" sz="1300" dirty="0"/>
          </a:p>
        </p:txBody>
      </p:sp>
      <p:sp>
        <p:nvSpPr>
          <p:cNvPr id="18" name="Text 15"/>
          <p:cNvSpPr/>
          <p:nvPr/>
        </p:nvSpPr>
        <p:spPr>
          <a:xfrm>
            <a:off x="825703" y="4699102"/>
            <a:ext cx="5206594" cy="571500"/>
          </a:xfrm>
          <a:prstGeom prst="rect">
            <a:avLst/>
          </a:prstGeom>
          <a:noFill/>
          <a:ln/>
        </p:spPr>
        <p:txBody>
          <a:bodyPr wrap="square" lIns="0" tIns="0" rIns="0" bIns="0" rtlCol="0" anchor="ctr"/>
          <a:lstStyle/>
          <a:p>
            <a:pPr indent="0" marL="0">
              <a:buNone/>
            </a:pPr>
            <a:r>
              <a:rPr lang="en-US" sz="3400" b="1" spc="-50" kern="0" dirty="0">
                <a:solidFill>
                  <a:srgbClr val="0C3452"/>
                </a:solidFill>
                <a:latin typeface="Montserrat" pitchFamily="34" charset="0"/>
                <a:ea typeface="Montserrat" pitchFamily="34" charset="-122"/>
                <a:cs typeface="Montserrat" pitchFamily="34" charset="-120"/>
              </a:rPr>
              <a:t>Reservás tu entrevista</a:t>
            </a:r>
            <a:endParaRPr lang="en-US" sz="3400" dirty="0"/>
          </a:p>
        </p:txBody>
      </p:sp>
      <p:sp>
        <p:nvSpPr>
          <p:cNvPr id="19" name="Text 16"/>
          <p:cNvSpPr/>
          <p:nvPr/>
        </p:nvSpPr>
        <p:spPr>
          <a:xfrm>
            <a:off x="825703" y="5384902"/>
            <a:ext cx="5206594" cy="761695"/>
          </a:xfrm>
          <a:prstGeom prst="rect">
            <a:avLst/>
          </a:prstGeom>
          <a:noFill/>
          <a:ln/>
        </p:spPr>
        <p:txBody>
          <a:bodyPr wrap="square" lIns="0" tIns="0" rIns="0" bIns="0" rtlCol="0" anchor="ctr"/>
          <a:lstStyle/>
          <a:p>
            <a:pPr indent="0" marL="0">
              <a:lnSpc>
                <a:spcPct val="140000"/>
              </a:lnSpc>
              <a:buNone/>
            </a:pPr>
            <a:r>
              <a:rPr lang="en-US" sz="1600" dirty="0">
                <a:solidFill>
                  <a:srgbClr val="0C3452"/>
                </a:solidFill>
                <a:latin typeface="Open Sans" pitchFamily="34" charset="0"/>
                <a:ea typeface="Open Sans" pitchFamily="34" charset="-122"/>
                <a:cs typeface="Open Sans" pitchFamily="34" charset="-120"/>
              </a:rPr>
              <a:t>Elegís tu horario y nos contás unos datos, para asignarte el coach que corresponde a tu caso.</a:t>
            </a:r>
            <a:endParaRPr lang="en-US" sz="1600" dirty="0"/>
          </a:p>
        </p:txBody>
      </p:sp>
      <p:sp>
        <p:nvSpPr>
          <p:cNvPr id="20" name="Shape 17"/>
          <p:cNvSpPr/>
          <p:nvPr/>
        </p:nvSpPr>
        <p:spPr>
          <a:xfrm>
            <a:off x="6413602" y="3556102"/>
            <a:ext cx="2349094" cy="2920594"/>
          </a:xfrm>
          <a:prstGeom prst="roundRect">
            <a:avLst>
              <a:gd name="adj" fmla="val 4671"/>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21" name="Text 18"/>
          <p:cNvSpPr/>
          <p:nvPr/>
        </p:nvSpPr>
        <p:spPr>
          <a:xfrm>
            <a:off x="6590995" y="3733495"/>
            <a:ext cx="1968703" cy="254203"/>
          </a:xfrm>
          <a:prstGeom prst="rect">
            <a:avLst/>
          </a:prstGeom>
          <a:noFill/>
          <a:ln/>
        </p:spPr>
        <p:txBody>
          <a:bodyPr wrap="square" lIns="0" tIns="0" rIns="0" bIns="0" rtlCol="0" anchor="ctr"/>
          <a:lstStyle/>
          <a:p>
            <a:pPr indent="0" marL="0">
              <a:buNone/>
            </a:pPr>
            <a:r>
              <a:rPr lang="en-US" sz="1400" b="1" dirty="0">
                <a:solidFill>
                  <a:srgbClr val="0C3452"/>
                </a:solidFill>
                <a:latin typeface="Montserrat" pitchFamily="34" charset="0"/>
                <a:ea typeface="Montserrat" pitchFamily="34" charset="-122"/>
                <a:cs typeface="Montserrat" pitchFamily="34" charset="-120"/>
              </a:rPr>
              <a:t>Reservá tu entrevista</a:t>
            </a:r>
            <a:endParaRPr lang="en-US" sz="1400" dirty="0"/>
          </a:p>
        </p:txBody>
      </p:sp>
      <p:sp>
        <p:nvSpPr>
          <p:cNvPr id="22" name="Shape 19"/>
          <p:cNvSpPr/>
          <p:nvPr/>
        </p:nvSpPr>
        <p:spPr>
          <a:xfrm>
            <a:off x="6590995" y="4089197"/>
            <a:ext cx="1968703" cy="342900"/>
          </a:xfrm>
          <a:prstGeom prst="roundRect">
            <a:avLst>
              <a:gd name="adj" fmla="val 16000"/>
            </a:avLst>
          </a:prstGeom>
          <a:solidFill>
            <a:srgbClr val="F4F7FA"/>
          </a:solidFill>
          <a:ln w="12700">
            <a:solidFill>
              <a:srgbClr val="E2E8F0"/>
            </a:solidFill>
            <a:prstDash val="solid"/>
          </a:ln>
        </p:spPr>
      </p:sp>
      <p:sp>
        <p:nvSpPr>
          <p:cNvPr id="23" name="Text 20"/>
          <p:cNvSpPr/>
          <p:nvPr/>
        </p:nvSpPr>
        <p:spPr>
          <a:xfrm>
            <a:off x="6692494" y="4089197"/>
            <a:ext cx="1841602" cy="342900"/>
          </a:xfrm>
          <a:prstGeom prst="rect">
            <a:avLst/>
          </a:prstGeom>
          <a:noFill/>
          <a:ln/>
        </p:spPr>
        <p:txBody>
          <a:bodyPr wrap="square" lIns="0" tIns="0" rIns="0" bIns="0" rtlCol="0" anchor="ctr"/>
          <a:lstStyle/>
          <a:p>
            <a:pPr indent="0" marL="0">
              <a:buNone/>
            </a:pPr>
            <a:r>
              <a:rPr lang="en-US" sz="1100" dirty="0">
                <a:solidFill>
                  <a:srgbClr val="6B7280"/>
                </a:solidFill>
                <a:latin typeface="Open Sans" pitchFamily="34" charset="0"/>
                <a:ea typeface="Open Sans" pitchFamily="34" charset="-122"/>
                <a:cs typeface="Open Sans" pitchFamily="34" charset="-120"/>
              </a:rPr>
              <a:t>Nombre y apellido</a:t>
            </a:r>
            <a:endParaRPr lang="en-US" sz="1100" dirty="0"/>
          </a:p>
        </p:txBody>
      </p:sp>
      <p:sp>
        <p:nvSpPr>
          <p:cNvPr id="24" name="Shape 21"/>
          <p:cNvSpPr/>
          <p:nvPr/>
        </p:nvSpPr>
        <p:spPr>
          <a:xfrm>
            <a:off x="6590995" y="4559198"/>
            <a:ext cx="1968703" cy="342900"/>
          </a:xfrm>
          <a:prstGeom prst="roundRect">
            <a:avLst>
              <a:gd name="adj" fmla="val 16000"/>
            </a:avLst>
          </a:prstGeom>
          <a:solidFill>
            <a:srgbClr val="F4F7FA"/>
          </a:solidFill>
          <a:ln w="12700">
            <a:solidFill>
              <a:srgbClr val="E2E8F0"/>
            </a:solidFill>
            <a:prstDash val="solid"/>
          </a:ln>
        </p:spPr>
      </p:sp>
      <p:sp>
        <p:nvSpPr>
          <p:cNvPr id="25" name="Text 22"/>
          <p:cNvSpPr/>
          <p:nvPr/>
        </p:nvSpPr>
        <p:spPr>
          <a:xfrm>
            <a:off x="6692494" y="4559198"/>
            <a:ext cx="1841602" cy="342900"/>
          </a:xfrm>
          <a:prstGeom prst="rect">
            <a:avLst/>
          </a:prstGeom>
          <a:noFill/>
          <a:ln/>
        </p:spPr>
        <p:txBody>
          <a:bodyPr wrap="square" lIns="0" tIns="0" rIns="0" bIns="0" rtlCol="0" anchor="ctr"/>
          <a:lstStyle/>
          <a:p>
            <a:pPr indent="0" marL="0">
              <a:buNone/>
            </a:pPr>
            <a:r>
              <a:rPr lang="en-US" sz="1100" dirty="0">
                <a:solidFill>
                  <a:srgbClr val="6B7280"/>
                </a:solidFill>
                <a:latin typeface="Open Sans" pitchFamily="34" charset="0"/>
                <a:ea typeface="Open Sans" pitchFamily="34" charset="-122"/>
                <a:cs typeface="Open Sans" pitchFamily="34" charset="-120"/>
              </a:rPr>
              <a:t>WhatsApp</a:t>
            </a:r>
            <a:endParaRPr lang="en-US" sz="1100" dirty="0"/>
          </a:p>
        </p:txBody>
      </p:sp>
      <p:sp>
        <p:nvSpPr>
          <p:cNvPr id="26" name="Shape 23"/>
          <p:cNvSpPr/>
          <p:nvPr/>
        </p:nvSpPr>
        <p:spPr>
          <a:xfrm>
            <a:off x="6590995" y="5029200"/>
            <a:ext cx="1968703" cy="342900"/>
          </a:xfrm>
          <a:prstGeom prst="roundRect">
            <a:avLst>
              <a:gd name="adj" fmla="val 16000"/>
            </a:avLst>
          </a:prstGeom>
          <a:solidFill>
            <a:srgbClr val="F4F7FA"/>
          </a:solidFill>
          <a:ln w="12700">
            <a:solidFill>
              <a:srgbClr val="E2E8F0"/>
            </a:solidFill>
            <a:prstDash val="solid"/>
          </a:ln>
        </p:spPr>
      </p:sp>
      <p:sp>
        <p:nvSpPr>
          <p:cNvPr id="27" name="Text 24"/>
          <p:cNvSpPr/>
          <p:nvPr/>
        </p:nvSpPr>
        <p:spPr>
          <a:xfrm>
            <a:off x="6692494" y="5029200"/>
            <a:ext cx="1841602" cy="342900"/>
          </a:xfrm>
          <a:prstGeom prst="rect">
            <a:avLst/>
          </a:prstGeom>
          <a:noFill/>
          <a:ln/>
        </p:spPr>
        <p:txBody>
          <a:bodyPr wrap="square" lIns="0" tIns="0" rIns="0" bIns="0" rtlCol="0" anchor="ctr"/>
          <a:lstStyle/>
          <a:p>
            <a:pPr indent="0" marL="0">
              <a:buNone/>
            </a:pPr>
            <a:r>
              <a:rPr lang="en-US" sz="1100" dirty="0">
                <a:solidFill>
                  <a:srgbClr val="6B7280"/>
                </a:solidFill>
                <a:latin typeface="Open Sans" pitchFamily="34" charset="0"/>
                <a:ea typeface="Open Sans" pitchFamily="34" charset="-122"/>
                <a:cs typeface="Open Sans" pitchFamily="34" charset="-120"/>
              </a:rPr>
              <a:t>A qué te dedicás hoy</a:t>
            </a:r>
            <a:endParaRPr lang="en-US" sz="1100" dirty="0"/>
          </a:p>
        </p:txBody>
      </p:sp>
      <p:sp>
        <p:nvSpPr>
          <p:cNvPr id="28" name="Shape 25"/>
          <p:cNvSpPr/>
          <p:nvPr/>
        </p:nvSpPr>
        <p:spPr>
          <a:xfrm>
            <a:off x="6590995" y="5524805"/>
            <a:ext cx="1968703" cy="355702"/>
          </a:xfrm>
          <a:prstGeom prst="roundRect">
            <a:avLst>
              <a:gd name="adj" fmla="val 15424"/>
            </a:avLst>
          </a:prstGeom>
          <a:solidFill>
            <a:srgbClr val="FF6602"/>
          </a:solidFill>
          <a:ln/>
        </p:spPr>
      </p:sp>
      <p:sp>
        <p:nvSpPr>
          <p:cNvPr id="29" name="Text 26"/>
          <p:cNvSpPr/>
          <p:nvPr/>
        </p:nvSpPr>
        <p:spPr>
          <a:xfrm>
            <a:off x="6590995" y="5524805"/>
            <a:ext cx="1968703" cy="35570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Elegir horario  →</a:t>
            </a:r>
            <a:endParaRPr lang="en-US" sz="1300" dirty="0"/>
          </a:p>
        </p:txBody>
      </p:sp>
      <p:sp>
        <p:nvSpPr>
          <p:cNvPr id="30" name="Shape 27"/>
          <p:cNvSpPr/>
          <p:nvPr/>
        </p:nvSpPr>
        <p:spPr>
          <a:xfrm>
            <a:off x="9016898" y="3556102"/>
            <a:ext cx="2349094" cy="2920594"/>
          </a:xfrm>
          <a:prstGeom prst="roundRect">
            <a:avLst>
              <a:gd name="adj" fmla="val 4671"/>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31" name="Text 28"/>
          <p:cNvSpPr/>
          <p:nvPr/>
        </p:nvSpPr>
        <p:spPr>
          <a:xfrm>
            <a:off x="9194292" y="3733495"/>
            <a:ext cx="1968703" cy="254203"/>
          </a:xfrm>
          <a:prstGeom prst="rect">
            <a:avLst/>
          </a:prstGeom>
          <a:noFill/>
          <a:ln/>
        </p:spPr>
        <p:txBody>
          <a:bodyPr wrap="square" lIns="0" tIns="0" rIns="0" bIns="0" rtlCol="0" anchor="ctr"/>
          <a:lstStyle/>
          <a:p>
            <a:pPr indent="0" marL="0">
              <a:buNone/>
            </a:pPr>
            <a:r>
              <a:rPr lang="en-US" sz="1400" b="1" dirty="0">
                <a:solidFill>
                  <a:srgbClr val="0C3452"/>
                </a:solidFill>
                <a:latin typeface="Montserrat" pitchFamily="34" charset="0"/>
                <a:ea typeface="Montserrat" pitchFamily="34" charset="-122"/>
                <a:cs typeface="Montserrat" pitchFamily="34" charset="-120"/>
              </a:rPr>
              <a:t>Elegí tu horario</a:t>
            </a:r>
            <a:endParaRPr lang="en-US" sz="1400" dirty="0"/>
          </a:p>
        </p:txBody>
      </p:sp>
      <p:sp>
        <p:nvSpPr>
          <p:cNvPr id="32" name="Shape 29"/>
          <p:cNvSpPr/>
          <p:nvPr/>
        </p:nvSpPr>
        <p:spPr>
          <a:xfrm>
            <a:off x="9194292" y="4089197"/>
            <a:ext cx="330098" cy="330098"/>
          </a:xfrm>
          <a:prstGeom prst="roundRect">
            <a:avLst>
              <a:gd name="adj" fmla="val 13850"/>
            </a:avLst>
          </a:prstGeom>
          <a:solidFill>
            <a:srgbClr val="F4F7FA"/>
          </a:solidFill>
          <a:ln w="12700">
            <a:solidFill>
              <a:srgbClr val="E2E8F0"/>
            </a:solidFill>
            <a:prstDash val="solid"/>
          </a:ln>
        </p:spPr>
      </p:sp>
      <p:sp>
        <p:nvSpPr>
          <p:cNvPr id="33" name="Shape 30"/>
          <p:cNvSpPr/>
          <p:nvPr/>
        </p:nvSpPr>
        <p:spPr>
          <a:xfrm>
            <a:off x="9588398" y="4089197"/>
            <a:ext cx="330098" cy="330098"/>
          </a:xfrm>
          <a:prstGeom prst="roundRect">
            <a:avLst>
              <a:gd name="adj" fmla="val 13850"/>
            </a:avLst>
          </a:prstGeom>
          <a:solidFill>
            <a:srgbClr val="F4F7FA"/>
          </a:solidFill>
          <a:ln w="12700">
            <a:solidFill>
              <a:srgbClr val="E2E8F0"/>
            </a:solidFill>
            <a:prstDash val="solid"/>
          </a:ln>
        </p:spPr>
      </p:sp>
      <p:sp>
        <p:nvSpPr>
          <p:cNvPr id="34" name="Shape 31"/>
          <p:cNvSpPr/>
          <p:nvPr/>
        </p:nvSpPr>
        <p:spPr>
          <a:xfrm>
            <a:off x="9981590" y="4089197"/>
            <a:ext cx="330098" cy="330098"/>
          </a:xfrm>
          <a:prstGeom prst="roundRect">
            <a:avLst>
              <a:gd name="adj" fmla="val 13850"/>
            </a:avLst>
          </a:prstGeom>
          <a:solidFill>
            <a:srgbClr val="F4F7FA"/>
          </a:solidFill>
          <a:ln w="12700">
            <a:solidFill>
              <a:srgbClr val="E2E8F0"/>
            </a:solidFill>
            <a:prstDash val="solid"/>
          </a:ln>
        </p:spPr>
      </p:sp>
      <p:sp>
        <p:nvSpPr>
          <p:cNvPr id="35" name="Shape 32"/>
          <p:cNvSpPr/>
          <p:nvPr/>
        </p:nvSpPr>
        <p:spPr>
          <a:xfrm>
            <a:off x="10375697" y="4089197"/>
            <a:ext cx="330098" cy="330098"/>
          </a:xfrm>
          <a:prstGeom prst="roundRect">
            <a:avLst>
              <a:gd name="adj" fmla="val 13850"/>
            </a:avLst>
          </a:prstGeom>
          <a:solidFill>
            <a:srgbClr val="F4F7FA"/>
          </a:solidFill>
          <a:ln w="12700">
            <a:solidFill>
              <a:srgbClr val="E2E8F0"/>
            </a:solidFill>
            <a:prstDash val="solid"/>
          </a:ln>
        </p:spPr>
      </p:sp>
      <p:sp>
        <p:nvSpPr>
          <p:cNvPr id="36" name="Shape 33"/>
          <p:cNvSpPr/>
          <p:nvPr/>
        </p:nvSpPr>
        <p:spPr>
          <a:xfrm>
            <a:off x="10768889" y="4089197"/>
            <a:ext cx="330098" cy="330098"/>
          </a:xfrm>
          <a:prstGeom prst="roundRect">
            <a:avLst>
              <a:gd name="adj" fmla="val 13850"/>
            </a:avLst>
          </a:prstGeom>
          <a:solidFill>
            <a:srgbClr val="F4F7FA"/>
          </a:solidFill>
          <a:ln w="12700">
            <a:solidFill>
              <a:srgbClr val="E2E8F0"/>
            </a:solidFill>
            <a:prstDash val="solid"/>
          </a:ln>
        </p:spPr>
      </p:sp>
      <p:sp>
        <p:nvSpPr>
          <p:cNvPr id="37" name="Shape 34"/>
          <p:cNvSpPr/>
          <p:nvPr/>
        </p:nvSpPr>
        <p:spPr>
          <a:xfrm>
            <a:off x="9194292" y="4483303"/>
            <a:ext cx="330098" cy="330098"/>
          </a:xfrm>
          <a:prstGeom prst="roundRect">
            <a:avLst>
              <a:gd name="adj" fmla="val 13850"/>
            </a:avLst>
          </a:prstGeom>
          <a:solidFill>
            <a:srgbClr val="F4F7FA"/>
          </a:solidFill>
          <a:ln w="12700">
            <a:solidFill>
              <a:srgbClr val="E2E8F0"/>
            </a:solidFill>
            <a:prstDash val="solid"/>
          </a:ln>
        </p:spPr>
      </p:sp>
      <p:sp>
        <p:nvSpPr>
          <p:cNvPr id="38" name="Shape 35"/>
          <p:cNvSpPr/>
          <p:nvPr/>
        </p:nvSpPr>
        <p:spPr>
          <a:xfrm>
            <a:off x="9588398" y="4483303"/>
            <a:ext cx="330098" cy="330098"/>
          </a:xfrm>
          <a:prstGeom prst="roundRect">
            <a:avLst>
              <a:gd name="adj" fmla="val 13850"/>
            </a:avLst>
          </a:prstGeom>
          <a:solidFill>
            <a:srgbClr val="F4F7FA"/>
          </a:solidFill>
          <a:ln w="12700">
            <a:solidFill>
              <a:srgbClr val="E2E8F0"/>
            </a:solidFill>
            <a:prstDash val="solid"/>
          </a:ln>
        </p:spPr>
      </p:sp>
      <p:sp>
        <p:nvSpPr>
          <p:cNvPr id="39" name="Shape 36"/>
          <p:cNvSpPr/>
          <p:nvPr/>
        </p:nvSpPr>
        <p:spPr>
          <a:xfrm>
            <a:off x="9981590" y="4483303"/>
            <a:ext cx="330098" cy="330098"/>
          </a:xfrm>
          <a:prstGeom prst="roundRect">
            <a:avLst>
              <a:gd name="adj" fmla="val 13850"/>
            </a:avLst>
          </a:prstGeom>
          <a:solidFill>
            <a:srgbClr val="FF6602"/>
          </a:solidFill>
          <a:ln w="12700">
            <a:solidFill>
              <a:srgbClr val="E2E8F0"/>
            </a:solidFill>
            <a:prstDash val="solid"/>
          </a:ln>
        </p:spPr>
      </p:sp>
      <p:sp>
        <p:nvSpPr>
          <p:cNvPr id="40" name="Shape 37"/>
          <p:cNvSpPr/>
          <p:nvPr/>
        </p:nvSpPr>
        <p:spPr>
          <a:xfrm>
            <a:off x="10375697" y="4483303"/>
            <a:ext cx="330098" cy="330098"/>
          </a:xfrm>
          <a:prstGeom prst="roundRect">
            <a:avLst>
              <a:gd name="adj" fmla="val 13850"/>
            </a:avLst>
          </a:prstGeom>
          <a:solidFill>
            <a:srgbClr val="F4F7FA"/>
          </a:solidFill>
          <a:ln w="12700">
            <a:solidFill>
              <a:srgbClr val="E2E8F0"/>
            </a:solidFill>
            <a:prstDash val="solid"/>
          </a:ln>
        </p:spPr>
      </p:sp>
      <p:sp>
        <p:nvSpPr>
          <p:cNvPr id="41" name="Shape 38"/>
          <p:cNvSpPr/>
          <p:nvPr/>
        </p:nvSpPr>
        <p:spPr>
          <a:xfrm>
            <a:off x="10768889" y="4483303"/>
            <a:ext cx="330098" cy="330098"/>
          </a:xfrm>
          <a:prstGeom prst="roundRect">
            <a:avLst>
              <a:gd name="adj" fmla="val 13850"/>
            </a:avLst>
          </a:prstGeom>
          <a:solidFill>
            <a:srgbClr val="F4F7FA"/>
          </a:solidFill>
          <a:ln w="12700">
            <a:solidFill>
              <a:srgbClr val="E2E8F0"/>
            </a:solidFill>
            <a:prstDash val="solid"/>
          </a:ln>
        </p:spPr>
      </p:sp>
      <p:sp>
        <p:nvSpPr>
          <p:cNvPr id="42" name="Shape 39"/>
          <p:cNvSpPr/>
          <p:nvPr/>
        </p:nvSpPr>
        <p:spPr>
          <a:xfrm>
            <a:off x="9194292" y="4876495"/>
            <a:ext cx="330098" cy="330098"/>
          </a:xfrm>
          <a:prstGeom prst="roundRect">
            <a:avLst>
              <a:gd name="adj" fmla="val 13850"/>
            </a:avLst>
          </a:prstGeom>
          <a:solidFill>
            <a:srgbClr val="F4F7FA"/>
          </a:solidFill>
          <a:ln w="12700">
            <a:solidFill>
              <a:srgbClr val="E2E8F0"/>
            </a:solidFill>
            <a:prstDash val="solid"/>
          </a:ln>
        </p:spPr>
      </p:sp>
      <p:sp>
        <p:nvSpPr>
          <p:cNvPr id="43" name="Shape 40"/>
          <p:cNvSpPr/>
          <p:nvPr/>
        </p:nvSpPr>
        <p:spPr>
          <a:xfrm>
            <a:off x="9588398" y="4876495"/>
            <a:ext cx="330098" cy="330098"/>
          </a:xfrm>
          <a:prstGeom prst="roundRect">
            <a:avLst>
              <a:gd name="adj" fmla="val 13850"/>
            </a:avLst>
          </a:prstGeom>
          <a:solidFill>
            <a:srgbClr val="F4F7FA"/>
          </a:solidFill>
          <a:ln w="12700">
            <a:solidFill>
              <a:srgbClr val="E2E8F0"/>
            </a:solidFill>
            <a:prstDash val="solid"/>
          </a:ln>
        </p:spPr>
      </p:sp>
      <p:sp>
        <p:nvSpPr>
          <p:cNvPr id="44" name="Shape 41"/>
          <p:cNvSpPr/>
          <p:nvPr/>
        </p:nvSpPr>
        <p:spPr>
          <a:xfrm>
            <a:off x="9981590" y="4876495"/>
            <a:ext cx="330098" cy="330098"/>
          </a:xfrm>
          <a:prstGeom prst="roundRect">
            <a:avLst>
              <a:gd name="adj" fmla="val 13850"/>
            </a:avLst>
          </a:prstGeom>
          <a:solidFill>
            <a:srgbClr val="F4F7FA"/>
          </a:solidFill>
          <a:ln w="12700">
            <a:solidFill>
              <a:srgbClr val="E2E8F0"/>
            </a:solidFill>
            <a:prstDash val="solid"/>
          </a:ln>
        </p:spPr>
      </p:sp>
      <p:sp>
        <p:nvSpPr>
          <p:cNvPr id="45" name="Shape 42"/>
          <p:cNvSpPr/>
          <p:nvPr/>
        </p:nvSpPr>
        <p:spPr>
          <a:xfrm>
            <a:off x="10375697" y="4876495"/>
            <a:ext cx="330098" cy="330098"/>
          </a:xfrm>
          <a:prstGeom prst="roundRect">
            <a:avLst>
              <a:gd name="adj" fmla="val 13850"/>
            </a:avLst>
          </a:prstGeom>
          <a:solidFill>
            <a:srgbClr val="F4F7FA"/>
          </a:solidFill>
          <a:ln w="12700">
            <a:solidFill>
              <a:srgbClr val="E2E8F0"/>
            </a:solidFill>
            <a:prstDash val="solid"/>
          </a:ln>
        </p:spPr>
      </p:sp>
      <p:sp>
        <p:nvSpPr>
          <p:cNvPr id="46" name="Shape 43"/>
          <p:cNvSpPr/>
          <p:nvPr/>
        </p:nvSpPr>
        <p:spPr>
          <a:xfrm>
            <a:off x="10768889" y="4876495"/>
            <a:ext cx="330098" cy="330098"/>
          </a:xfrm>
          <a:prstGeom prst="roundRect">
            <a:avLst>
              <a:gd name="adj" fmla="val 13850"/>
            </a:avLst>
          </a:prstGeom>
          <a:solidFill>
            <a:srgbClr val="F4F7FA"/>
          </a:solidFill>
          <a:ln w="12700">
            <a:solidFill>
              <a:srgbClr val="E2E8F0"/>
            </a:solidFill>
            <a:prstDash val="solid"/>
          </a:ln>
        </p:spPr>
      </p:sp>
      <p:sp>
        <p:nvSpPr>
          <p:cNvPr id="47" name="Shape 44"/>
          <p:cNvSpPr/>
          <p:nvPr/>
        </p:nvSpPr>
        <p:spPr>
          <a:xfrm>
            <a:off x="9194292" y="5270602"/>
            <a:ext cx="330098" cy="330098"/>
          </a:xfrm>
          <a:prstGeom prst="roundRect">
            <a:avLst>
              <a:gd name="adj" fmla="val 13850"/>
            </a:avLst>
          </a:prstGeom>
          <a:solidFill>
            <a:srgbClr val="F4F7FA"/>
          </a:solidFill>
          <a:ln w="12700">
            <a:solidFill>
              <a:srgbClr val="E2E8F0"/>
            </a:solidFill>
            <a:prstDash val="solid"/>
          </a:ln>
        </p:spPr>
      </p:sp>
      <p:sp>
        <p:nvSpPr>
          <p:cNvPr id="48" name="Shape 45"/>
          <p:cNvSpPr/>
          <p:nvPr/>
        </p:nvSpPr>
        <p:spPr>
          <a:xfrm>
            <a:off x="9588398" y="5270602"/>
            <a:ext cx="330098" cy="330098"/>
          </a:xfrm>
          <a:prstGeom prst="roundRect">
            <a:avLst>
              <a:gd name="adj" fmla="val 13850"/>
            </a:avLst>
          </a:prstGeom>
          <a:solidFill>
            <a:srgbClr val="F4F7FA"/>
          </a:solidFill>
          <a:ln w="12700">
            <a:solidFill>
              <a:srgbClr val="E2E8F0"/>
            </a:solidFill>
            <a:prstDash val="solid"/>
          </a:ln>
        </p:spPr>
      </p:sp>
      <p:sp>
        <p:nvSpPr>
          <p:cNvPr id="49" name="Shape 46"/>
          <p:cNvSpPr/>
          <p:nvPr/>
        </p:nvSpPr>
        <p:spPr>
          <a:xfrm>
            <a:off x="9981590" y="5270602"/>
            <a:ext cx="330098" cy="330098"/>
          </a:xfrm>
          <a:prstGeom prst="roundRect">
            <a:avLst>
              <a:gd name="adj" fmla="val 13850"/>
            </a:avLst>
          </a:prstGeom>
          <a:solidFill>
            <a:srgbClr val="F4F7FA"/>
          </a:solidFill>
          <a:ln w="12700">
            <a:solidFill>
              <a:srgbClr val="E2E8F0"/>
            </a:solidFill>
            <a:prstDash val="solid"/>
          </a:ln>
        </p:spPr>
      </p:sp>
      <p:sp>
        <p:nvSpPr>
          <p:cNvPr id="50" name="Shape 47"/>
          <p:cNvSpPr/>
          <p:nvPr/>
        </p:nvSpPr>
        <p:spPr>
          <a:xfrm>
            <a:off x="10375697" y="5270602"/>
            <a:ext cx="330098" cy="330098"/>
          </a:xfrm>
          <a:prstGeom prst="roundRect">
            <a:avLst>
              <a:gd name="adj" fmla="val 13850"/>
            </a:avLst>
          </a:prstGeom>
          <a:solidFill>
            <a:srgbClr val="F4F7FA"/>
          </a:solidFill>
          <a:ln w="12700">
            <a:solidFill>
              <a:srgbClr val="E2E8F0"/>
            </a:solidFill>
            <a:prstDash val="solid"/>
          </a:ln>
        </p:spPr>
      </p:sp>
      <p:sp>
        <p:nvSpPr>
          <p:cNvPr id="51" name="Shape 48"/>
          <p:cNvSpPr/>
          <p:nvPr/>
        </p:nvSpPr>
        <p:spPr>
          <a:xfrm>
            <a:off x="10768889" y="5270602"/>
            <a:ext cx="330098" cy="330098"/>
          </a:xfrm>
          <a:prstGeom prst="roundRect">
            <a:avLst>
              <a:gd name="adj" fmla="val 13850"/>
            </a:avLst>
          </a:prstGeom>
          <a:solidFill>
            <a:srgbClr val="F4F7FA"/>
          </a:solidFill>
          <a:ln w="12700">
            <a:solidFill>
              <a:srgbClr val="E2E8F0"/>
            </a:solidFill>
            <a:prstDash val="solid"/>
          </a:ln>
        </p:spPr>
      </p:sp>
      <p:sp>
        <p:nvSpPr>
          <p:cNvPr id="52" name="Text 49"/>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C9D2DA"/>
                </a:solidFill>
                <a:latin typeface="Courier New" pitchFamily="34" charset="0"/>
                <a:ea typeface="Courier New" pitchFamily="34" charset="-122"/>
                <a:cs typeface="Courier New" pitchFamily="34" charset="-120"/>
              </a:rPr>
              <a:t>03 / 11</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81405" y="1561795"/>
            <a:ext cx="9232697" cy="0"/>
          </a:xfrm>
          <a:prstGeom prst="line">
            <a:avLst/>
          </a:prstGeom>
          <a:noFill/>
          <a:ln w="38100">
            <a:solidFill>
              <a:srgbClr val="C9D2DA"/>
            </a:solidFill>
            <a:prstDash val="sysDot"/>
          </a:ln>
        </p:spPr>
      </p:sp>
      <p:sp>
        <p:nvSpPr>
          <p:cNvPr id="3" name="Shape 1"/>
          <p:cNvSpPr/>
          <p:nvPr/>
        </p:nvSpPr>
        <p:spPr>
          <a:xfrm>
            <a:off x="1181405" y="1561795"/>
            <a:ext cx="2120494" cy="0"/>
          </a:xfrm>
          <a:prstGeom prst="line">
            <a:avLst/>
          </a:prstGeom>
          <a:noFill/>
          <a:ln w="50800">
            <a:solidFill>
              <a:srgbClr val="FF6602"/>
            </a:solidFill>
            <a:prstDash val="solid"/>
          </a:ln>
        </p:spPr>
      </p:sp>
      <p:sp>
        <p:nvSpPr>
          <p:cNvPr id="4" name="Shape 2"/>
          <p:cNvSpPr/>
          <p:nvPr/>
        </p:nvSpPr>
        <p:spPr>
          <a:xfrm>
            <a:off x="1098194" y="1479499"/>
            <a:ext cx="165506" cy="165506"/>
          </a:xfrm>
          <a:prstGeom prst="ellipse">
            <a:avLst/>
          </a:prstGeom>
          <a:solidFill>
            <a:srgbClr val="0C3452"/>
          </a:solidFill>
          <a:ln/>
        </p:spPr>
      </p:sp>
      <p:sp>
        <p:nvSpPr>
          <p:cNvPr id="5" name="Text 3"/>
          <p:cNvSpPr/>
          <p:nvPr/>
        </p:nvSpPr>
        <p:spPr>
          <a:xfrm>
            <a:off x="418795" y="1727302"/>
            <a:ext cx="1524305" cy="190195"/>
          </a:xfrm>
          <a:prstGeom prst="rect">
            <a:avLst/>
          </a:prstGeom>
          <a:noFill/>
          <a:ln/>
        </p:spPr>
        <p:txBody>
          <a:bodyPr wrap="square" lIns="0" tIns="0" rIns="0" bIns="0" rtlCol="0" anchor="ctr"/>
          <a:lstStyle/>
          <a:p>
            <a:pPr algn="ctr" indent="0" marL="0">
              <a:buNone/>
            </a:pPr>
            <a:r>
              <a:rPr lang="en-US" sz="1100" spc="300" kern="0" dirty="0">
                <a:solidFill>
                  <a:srgbClr val="0C3452"/>
                </a:solidFill>
                <a:latin typeface="Courier New" pitchFamily="34" charset="0"/>
                <a:ea typeface="Courier New" pitchFamily="34" charset="-122"/>
                <a:cs typeface="Courier New" pitchFamily="34" charset="-120"/>
              </a:rPr>
              <a:t>ESTÁS ACÁ</a:t>
            </a:r>
            <a:endParaRPr lang="en-US" sz="1100" dirty="0"/>
          </a:p>
        </p:txBody>
      </p:sp>
      <p:sp>
        <p:nvSpPr>
          <p:cNvPr id="6" name="Shape 4"/>
          <p:cNvSpPr/>
          <p:nvPr/>
        </p:nvSpPr>
        <p:spPr>
          <a:xfrm>
            <a:off x="2933395" y="1194206"/>
            <a:ext cx="737006" cy="737006"/>
          </a:xfrm>
          <a:prstGeom prst="ellipse">
            <a:avLst/>
          </a:prstGeom>
          <a:ln w="38100">
            <a:solidFill>
              <a:srgbClr val="FF6602"/>
            </a:solidFill>
            <a:prstDash val="solid"/>
          </a:ln>
        </p:spPr>
      </p:sp>
      <p:sp>
        <p:nvSpPr>
          <p:cNvPr id="7" name="Shape 5"/>
          <p:cNvSpPr/>
          <p:nvPr/>
        </p:nvSpPr>
        <p:spPr>
          <a:xfrm>
            <a:off x="3010205" y="1270102"/>
            <a:ext cx="584302" cy="584302"/>
          </a:xfrm>
          <a:prstGeom prst="ellipse">
            <a:avLst/>
          </a:prstGeom>
          <a:solidFill>
            <a:srgbClr val="FFFFFF"/>
          </a:solidFill>
          <a:ln w="38100">
            <a:solidFill>
              <a:srgbClr val="0C3452"/>
            </a:solidFill>
            <a:prstDash val="solid"/>
          </a:ln>
        </p:spPr>
      </p:sp>
      <p:sp>
        <p:nvSpPr>
          <p:cNvPr id="8" name="Text 6"/>
          <p:cNvSpPr/>
          <p:nvPr/>
        </p:nvSpPr>
        <p:spPr>
          <a:xfrm>
            <a:off x="2793492" y="1891894"/>
            <a:ext cx="1015898" cy="304495"/>
          </a:xfrm>
          <a:prstGeom prst="rect">
            <a:avLst/>
          </a:prstGeom>
          <a:noFill/>
          <a:ln/>
        </p:spPr>
        <p:txBody>
          <a:bodyPr wrap="square" lIns="0" tIns="0" rIns="0" bIns="0" rtlCol="0" anchor="ctr"/>
          <a:lstStyle/>
          <a:p>
            <a:pPr algn="ctr" indent="0" marL="0">
              <a:buNone/>
            </a:pPr>
            <a:r>
              <a:rPr lang="en-US" sz="2600" b="1" dirty="0">
                <a:solidFill>
                  <a:srgbClr val="FF6602"/>
                </a:solidFill>
                <a:latin typeface="Montserrat" pitchFamily="34" charset="0"/>
                <a:ea typeface="Montserrat" pitchFamily="34" charset="-122"/>
                <a:cs typeface="Montserrat" pitchFamily="34" charset="-120"/>
              </a:rPr>
              <a:t>01</a:t>
            </a:r>
            <a:endParaRPr lang="en-US" sz="2600" dirty="0"/>
          </a:p>
        </p:txBody>
      </p:sp>
      <p:sp>
        <p:nvSpPr>
          <p:cNvPr id="9" name="Text 7"/>
          <p:cNvSpPr/>
          <p:nvPr/>
        </p:nvSpPr>
        <p:spPr>
          <a:xfrm>
            <a:off x="2158898"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APLICACIÓN</a:t>
            </a:r>
            <a:endParaRPr lang="en-US" sz="1500" dirty="0"/>
          </a:p>
        </p:txBody>
      </p:sp>
      <p:sp>
        <p:nvSpPr>
          <p:cNvPr id="10" name="Shape 8"/>
          <p:cNvSpPr/>
          <p:nvPr/>
        </p:nvSpPr>
        <p:spPr>
          <a:xfrm>
            <a:off x="6565392" y="1270102"/>
            <a:ext cx="584302" cy="584302"/>
          </a:xfrm>
          <a:prstGeom prst="ellipse">
            <a:avLst/>
          </a:prstGeom>
          <a:solidFill>
            <a:srgbClr val="FFFFFF"/>
          </a:solidFill>
          <a:ln w="38100">
            <a:solidFill>
              <a:srgbClr val="C9D2DA"/>
            </a:solidFill>
            <a:prstDash val="solid"/>
          </a:ln>
        </p:spPr>
      </p:sp>
      <p:sp>
        <p:nvSpPr>
          <p:cNvPr id="11" name="Text 9"/>
          <p:cNvSpPr/>
          <p:nvPr/>
        </p:nvSpPr>
        <p:spPr>
          <a:xfrm>
            <a:off x="6349594" y="1891894"/>
            <a:ext cx="1015898" cy="304495"/>
          </a:xfrm>
          <a:prstGeom prst="rect">
            <a:avLst/>
          </a:prstGeom>
          <a:noFill/>
          <a:ln/>
        </p:spPr>
        <p:txBody>
          <a:bodyPr wrap="square" lIns="0" tIns="0" rIns="0" bIns="0" rtlCol="0" anchor="ctr"/>
          <a:lstStyle/>
          <a:p>
            <a:pPr algn="ctr" indent="0" marL="0">
              <a:buNone/>
            </a:pPr>
            <a:r>
              <a:rPr lang="en-US" sz="2600" b="1" dirty="0">
                <a:solidFill>
                  <a:srgbClr val="C9D2DA"/>
                </a:solidFill>
                <a:latin typeface="Montserrat" pitchFamily="34" charset="0"/>
                <a:ea typeface="Montserrat" pitchFamily="34" charset="-122"/>
                <a:cs typeface="Montserrat" pitchFamily="34" charset="-120"/>
              </a:rPr>
              <a:t>02</a:t>
            </a:r>
            <a:endParaRPr lang="en-US" sz="2600" dirty="0"/>
          </a:p>
        </p:txBody>
      </p:sp>
      <p:sp>
        <p:nvSpPr>
          <p:cNvPr id="12" name="Text 10"/>
          <p:cNvSpPr/>
          <p:nvPr/>
        </p:nvSpPr>
        <p:spPr>
          <a:xfrm>
            <a:off x="5715000"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C9D2DA"/>
                </a:solidFill>
                <a:latin typeface="Montserrat" pitchFamily="34" charset="0"/>
                <a:ea typeface="Montserrat" pitchFamily="34" charset="-122"/>
                <a:cs typeface="Montserrat" pitchFamily="34" charset="-120"/>
              </a:rPr>
              <a:t>LA ENTREVISTA</a:t>
            </a:r>
            <a:endParaRPr lang="en-US" sz="1500" dirty="0"/>
          </a:p>
        </p:txBody>
      </p:sp>
      <p:sp>
        <p:nvSpPr>
          <p:cNvPr id="13" name="Shape 11"/>
          <p:cNvSpPr/>
          <p:nvPr/>
        </p:nvSpPr>
        <p:spPr>
          <a:xfrm>
            <a:off x="10121494" y="1270102"/>
            <a:ext cx="584302" cy="584302"/>
          </a:xfrm>
          <a:prstGeom prst="ellipse">
            <a:avLst/>
          </a:prstGeom>
          <a:solidFill>
            <a:srgbClr val="FFFFFF"/>
          </a:solidFill>
          <a:ln w="38100">
            <a:solidFill>
              <a:srgbClr val="C9D2DA"/>
            </a:solidFill>
            <a:prstDash val="solid"/>
          </a:ln>
        </p:spPr>
      </p:sp>
      <p:sp>
        <p:nvSpPr>
          <p:cNvPr id="14" name="Text 12"/>
          <p:cNvSpPr/>
          <p:nvPr/>
        </p:nvSpPr>
        <p:spPr>
          <a:xfrm>
            <a:off x="9905695" y="1891894"/>
            <a:ext cx="1015898" cy="304495"/>
          </a:xfrm>
          <a:prstGeom prst="rect">
            <a:avLst/>
          </a:prstGeom>
          <a:noFill/>
          <a:ln/>
        </p:spPr>
        <p:txBody>
          <a:bodyPr wrap="square" lIns="0" tIns="0" rIns="0" bIns="0" rtlCol="0" anchor="ctr"/>
          <a:lstStyle/>
          <a:p>
            <a:pPr algn="ctr" indent="0" marL="0">
              <a:buNone/>
            </a:pPr>
            <a:r>
              <a:rPr lang="en-US" sz="2600" b="1" dirty="0">
                <a:solidFill>
                  <a:srgbClr val="C9D2DA"/>
                </a:solidFill>
                <a:latin typeface="Montserrat" pitchFamily="34" charset="0"/>
                <a:ea typeface="Montserrat" pitchFamily="34" charset="-122"/>
                <a:cs typeface="Montserrat" pitchFamily="34" charset="-120"/>
              </a:rPr>
              <a:t>03</a:t>
            </a:r>
            <a:endParaRPr lang="en-US" sz="2600" dirty="0"/>
          </a:p>
        </p:txBody>
      </p:sp>
      <p:sp>
        <p:nvSpPr>
          <p:cNvPr id="15" name="Text 13"/>
          <p:cNvSpPr/>
          <p:nvPr/>
        </p:nvSpPr>
        <p:spPr>
          <a:xfrm>
            <a:off x="9271102"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C9D2DA"/>
                </a:solidFill>
                <a:latin typeface="Montserrat" pitchFamily="34" charset="0"/>
                <a:ea typeface="Montserrat" pitchFamily="34" charset="-122"/>
                <a:cs typeface="Montserrat" pitchFamily="34" charset="-120"/>
              </a:rPr>
              <a:t>EL ACCESO</a:t>
            </a:r>
            <a:endParaRPr lang="en-US" sz="1500" dirty="0"/>
          </a:p>
        </p:txBody>
      </p:sp>
      <p:pic>
        <p:nvPicPr>
          <p:cNvPr id="16" name="Image 0" descr="/tmp/claude-0/-home-user-detodo/82f5030d-8aaf-57d2-9bf8-611f8273ee0c/scratchpad/pptx-nativo/img/mini-nico-marker.png">    </p:cNvPr>
          <p:cNvPicPr>
            <a:picLocks noChangeAspect="1"/>
          </p:cNvPicPr>
          <p:nvPr/>
        </p:nvPicPr>
        <p:blipFill>
          <a:blip r:embed="rId1"/>
          <a:stretch>
            <a:fillRect/>
          </a:stretch>
        </p:blipFill>
        <p:spPr>
          <a:xfrm>
            <a:off x="2907792" y="114300"/>
            <a:ext cx="787298" cy="1155802"/>
          </a:xfrm>
          <a:prstGeom prst="rect">
            <a:avLst/>
          </a:prstGeom>
        </p:spPr>
      </p:pic>
      <p:sp>
        <p:nvSpPr>
          <p:cNvPr id="17" name="Text 14"/>
          <p:cNvSpPr/>
          <p:nvPr/>
        </p:nvSpPr>
        <p:spPr>
          <a:xfrm>
            <a:off x="825703" y="4381805"/>
            <a:ext cx="5715000" cy="215798"/>
          </a:xfrm>
          <a:prstGeom prst="rect">
            <a:avLst/>
          </a:prstGeom>
          <a:noFill/>
          <a:ln/>
        </p:spPr>
        <p:txBody>
          <a:bodyPr wrap="square" lIns="0" tIns="0" rIns="0" bIns="0" rtlCol="0" anchor="ctr"/>
          <a:lstStyle/>
          <a:p>
            <a:pPr indent="0" marL="0">
              <a:buNone/>
            </a:pPr>
            <a:r>
              <a:rPr lang="en-US" sz="1300" b="1" spc="300" kern="0" dirty="0">
                <a:solidFill>
                  <a:srgbClr val="FF6602"/>
                </a:solidFill>
                <a:latin typeface="Courier New" pitchFamily="34" charset="0"/>
                <a:ea typeface="Courier New" pitchFamily="34" charset="-122"/>
                <a:cs typeface="Courier New" pitchFamily="34" charset="-120"/>
              </a:rPr>
              <a:t>PASO 01 / 03 · LA APLICACIÓN</a:t>
            </a:r>
            <a:endParaRPr lang="en-US" sz="1300" dirty="0"/>
          </a:p>
        </p:txBody>
      </p:sp>
      <p:sp>
        <p:nvSpPr>
          <p:cNvPr id="18" name="Text 15"/>
          <p:cNvSpPr/>
          <p:nvPr/>
        </p:nvSpPr>
        <p:spPr>
          <a:xfrm>
            <a:off x="825703" y="4699102"/>
            <a:ext cx="5206594" cy="571500"/>
          </a:xfrm>
          <a:prstGeom prst="rect">
            <a:avLst/>
          </a:prstGeom>
          <a:noFill/>
          <a:ln/>
        </p:spPr>
        <p:txBody>
          <a:bodyPr wrap="square" lIns="0" tIns="0" rIns="0" bIns="0" rtlCol="0" anchor="ctr"/>
          <a:lstStyle/>
          <a:p>
            <a:pPr indent="0" marL="0">
              <a:buNone/>
            </a:pPr>
            <a:r>
              <a:rPr lang="en-US" sz="3400" b="1" spc="-50" kern="0" dirty="0">
                <a:solidFill>
                  <a:srgbClr val="0C3452"/>
                </a:solidFill>
                <a:latin typeface="Montserrat" pitchFamily="34" charset="0"/>
                <a:ea typeface="Montserrat" pitchFamily="34" charset="-122"/>
                <a:cs typeface="Montserrat" pitchFamily="34" charset="-120"/>
              </a:rPr>
              <a:t>Tu autodiagnóstico</a:t>
            </a:r>
            <a:endParaRPr lang="en-US" sz="3400" dirty="0"/>
          </a:p>
        </p:txBody>
      </p:sp>
      <p:sp>
        <p:nvSpPr>
          <p:cNvPr id="19" name="Text 16"/>
          <p:cNvSpPr/>
          <p:nvPr/>
        </p:nvSpPr>
        <p:spPr>
          <a:xfrm>
            <a:off x="825703" y="5384902"/>
            <a:ext cx="5206594" cy="761695"/>
          </a:xfrm>
          <a:prstGeom prst="rect">
            <a:avLst/>
          </a:prstGeom>
          <a:noFill/>
          <a:ln/>
        </p:spPr>
        <p:txBody>
          <a:bodyPr wrap="square" lIns="0" tIns="0" rIns="0" bIns="0" rtlCol="0" anchor="ctr"/>
          <a:lstStyle/>
          <a:p>
            <a:pPr indent="0" marL="0">
              <a:lnSpc>
                <a:spcPct val="140000"/>
              </a:lnSpc>
              <a:buNone/>
            </a:pPr>
            <a:r>
              <a:rPr lang="en-US" sz="1600" dirty="0">
                <a:solidFill>
                  <a:srgbClr val="0C3452"/>
                </a:solidFill>
                <a:latin typeface="Open Sans" pitchFamily="34" charset="0"/>
                <a:ea typeface="Open Sans" pitchFamily="34" charset="-122"/>
                <a:cs typeface="Open Sans" pitchFamily="34" charset="-120"/>
              </a:rPr>
              <a:t>Te lo mandamos por WhatsApp. Con eso armamos tu sistema personal.</a:t>
            </a:r>
            <a:endParaRPr lang="en-US" sz="1600" dirty="0"/>
          </a:p>
        </p:txBody>
      </p:sp>
      <p:sp>
        <p:nvSpPr>
          <p:cNvPr id="20" name="Shape 17"/>
          <p:cNvSpPr/>
          <p:nvPr/>
        </p:nvSpPr>
        <p:spPr>
          <a:xfrm>
            <a:off x="6413602" y="3556102"/>
            <a:ext cx="4953305" cy="2920594"/>
          </a:xfrm>
          <a:prstGeom prst="roundRect">
            <a:avLst>
              <a:gd name="adj" fmla="val 3757"/>
            </a:avLst>
          </a:prstGeom>
          <a:solidFill>
            <a:srgbClr val="EDE5DD"/>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21" name="Shape 18"/>
          <p:cNvSpPr/>
          <p:nvPr/>
        </p:nvSpPr>
        <p:spPr>
          <a:xfrm>
            <a:off x="6413602" y="3556102"/>
            <a:ext cx="4953305" cy="470002"/>
          </a:xfrm>
          <a:prstGeom prst="rect">
            <a:avLst/>
          </a:prstGeom>
          <a:solidFill>
            <a:srgbClr val="0C3452"/>
          </a:solidFill>
          <a:ln/>
        </p:spPr>
      </p:sp>
      <p:sp>
        <p:nvSpPr>
          <p:cNvPr id="22" name="Text 19"/>
          <p:cNvSpPr/>
          <p:nvPr/>
        </p:nvSpPr>
        <p:spPr>
          <a:xfrm>
            <a:off x="6908292" y="3644798"/>
            <a:ext cx="3810305" cy="177394"/>
          </a:xfrm>
          <a:prstGeom prst="rect">
            <a:avLst/>
          </a:prstGeom>
          <a:noFill/>
          <a:ln/>
        </p:spPr>
        <p:txBody>
          <a:bodyPr wrap="square" lIns="0" tIns="0" rIns="0" bIns="0" rtlCol="0" anchor="ctr"/>
          <a:lstStyle/>
          <a:p>
            <a:pPr indent="0" marL="0">
              <a:buNone/>
            </a:pPr>
            <a:r>
              <a:rPr lang="en-US" sz="1300" b="1" dirty="0">
                <a:solidFill>
                  <a:srgbClr val="FFFFFF"/>
                </a:solidFill>
                <a:latin typeface="Montserrat" pitchFamily="34" charset="0"/>
                <a:ea typeface="Montserrat" pitchFamily="34" charset="-122"/>
                <a:cs typeface="Montserrat" pitchFamily="34" charset="-120"/>
              </a:rPr>
              <a:t>Asesor · Instituto de Productividad</a:t>
            </a:r>
            <a:endParaRPr lang="en-US" sz="1300" dirty="0"/>
          </a:p>
        </p:txBody>
      </p:sp>
      <p:sp>
        <p:nvSpPr>
          <p:cNvPr id="23" name="Text 20"/>
          <p:cNvSpPr/>
          <p:nvPr/>
        </p:nvSpPr>
        <p:spPr>
          <a:xfrm>
            <a:off x="6908292" y="3822192"/>
            <a:ext cx="2540203" cy="152705"/>
          </a:xfrm>
          <a:prstGeom prst="rect">
            <a:avLst/>
          </a:prstGeom>
          <a:noFill/>
          <a:ln/>
        </p:spPr>
        <p:txBody>
          <a:bodyPr wrap="square" lIns="0" tIns="0" rIns="0" bIns="0" rtlCol="0" anchor="ctr"/>
          <a:lstStyle/>
          <a:p>
            <a:pPr indent="0" marL="0">
              <a:buNone/>
            </a:pPr>
            <a:r>
              <a:rPr lang="en-US" sz="1000" dirty="0">
                <a:solidFill>
                  <a:srgbClr val="C9D2DA"/>
                </a:solidFill>
                <a:latin typeface="Open Sans" pitchFamily="34" charset="0"/>
                <a:ea typeface="Open Sans" pitchFamily="34" charset="-122"/>
                <a:cs typeface="Open Sans" pitchFamily="34" charset="-120"/>
              </a:rPr>
              <a:t>en línea</a:t>
            </a:r>
            <a:endParaRPr lang="en-US" sz="1000" dirty="0"/>
          </a:p>
        </p:txBody>
      </p:sp>
      <p:sp>
        <p:nvSpPr>
          <p:cNvPr id="24" name="Shape 21"/>
          <p:cNvSpPr/>
          <p:nvPr/>
        </p:nvSpPr>
        <p:spPr>
          <a:xfrm>
            <a:off x="6540703" y="3657600"/>
            <a:ext cx="279806" cy="279806"/>
          </a:xfrm>
          <a:prstGeom prst="ellipse">
            <a:avLst/>
          </a:prstGeom>
          <a:solidFill>
            <a:srgbClr val="FF6602"/>
          </a:solidFill>
          <a:ln/>
        </p:spPr>
      </p:sp>
      <p:sp>
        <p:nvSpPr>
          <p:cNvPr id="25" name="Text 22"/>
          <p:cNvSpPr/>
          <p:nvPr/>
        </p:nvSpPr>
        <p:spPr>
          <a:xfrm>
            <a:off x="6540703" y="3657600"/>
            <a:ext cx="279806" cy="279806"/>
          </a:xfrm>
          <a:prstGeom prst="rect">
            <a:avLst/>
          </a:prstGeom>
          <a:noFill/>
          <a:ln/>
        </p:spPr>
        <p:txBody>
          <a:bodyPr wrap="square" lIns="0" tIns="0" rIns="0" bIns="0" rtlCol="0" anchor="ctr"/>
          <a:lstStyle/>
          <a:p>
            <a:pPr algn="ctr" indent="0" marL="0">
              <a:buNone/>
            </a:pPr>
            <a:r>
              <a:rPr lang="en-US" sz="1200" b="1" dirty="0">
                <a:solidFill>
                  <a:srgbClr val="FFFFFF"/>
                </a:solidFill>
                <a:latin typeface="Montserrat" pitchFamily="34" charset="0"/>
                <a:ea typeface="Montserrat" pitchFamily="34" charset="-122"/>
                <a:cs typeface="Montserrat" pitchFamily="34" charset="-120"/>
              </a:rPr>
              <a:t>IP</a:t>
            </a:r>
            <a:endParaRPr lang="en-US" sz="1200" dirty="0"/>
          </a:p>
        </p:txBody>
      </p:sp>
      <p:sp>
        <p:nvSpPr>
          <p:cNvPr id="26" name="Shape 23"/>
          <p:cNvSpPr/>
          <p:nvPr/>
        </p:nvSpPr>
        <p:spPr>
          <a:xfrm>
            <a:off x="6565392" y="4190695"/>
            <a:ext cx="3174797" cy="381305"/>
          </a:xfrm>
          <a:prstGeom prst="roundRect">
            <a:avLst>
              <a:gd name="adj" fmla="val 19185"/>
            </a:avLst>
          </a:prstGeom>
          <a:solidFill>
            <a:srgbClr val="FFFFFF"/>
          </a:solidFill>
          <a:ln w="12700">
            <a:solidFill>
              <a:srgbClr val="E2E8F0"/>
            </a:solidFill>
            <a:prstDash val="solid"/>
          </a:ln>
        </p:spPr>
      </p:sp>
      <p:sp>
        <p:nvSpPr>
          <p:cNvPr id="27" name="Text 24"/>
          <p:cNvSpPr/>
          <p:nvPr/>
        </p:nvSpPr>
        <p:spPr>
          <a:xfrm>
            <a:off x="6679692" y="4190695"/>
            <a:ext cx="2946197" cy="381305"/>
          </a:xfrm>
          <a:prstGeom prst="rect">
            <a:avLst/>
          </a:prstGeom>
          <a:noFill/>
          <a:ln/>
        </p:spPr>
        <p:txBody>
          <a:bodyPr wrap="square" lIns="0" tIns="0" rIns="0" bIns="0" rtlCol="0" anchor="ctr"/>
          <a:lstStyle/>
          <a:p>
            <a:pPr indent="0" marL="0">
              <a:lnSpc>
                <a:spcPct val="130000"/>
              </a:lnSpc>
              <a:buNone/>
            </a:pPr>
            <a:r>
              <a:rPr lang="en-US" sz="1200" dirty="0">
                <a:solidFill>
                  <a:srgbClr val="2D3748"/>
                </a:solidFill>
                <a:latin typeface="Open Sans" pitchFamily="34" charset="0"/>
                <a:ea typeface="Open Sans" pitchFamily="34" charset="-122"/>
                <a:cs typeface="Open Sans" pitchFamily="34" charset="-120"/>
              </a:rPr>
              <a:t>¡Felicitaciones! Recibimos tu solicitud.</a:t>
            </a:r>
            <a:endParaRPr lang="en-US" sz="1200" dirty="0"/>
          </a:p>
        </p:txBody>
      </p:sp>
      <p:sp>
        <p:nvSpPr>
          <p:cNvPr id="28" name="Shape 25"/>
          <p:cNvSpPr/>
          <p:nvPr/>
        </p:nvSpPr>
        <p:spPr>
          <a:xfrm>
            <a:off x="6565392" y="4673498"/>
            <a:ext cx="3174797" cy="609905"/>
          </a:xfrm>
          <a:prstGeom prst="roundRect">
            <a:avLst>
              <a:gd name="adj" fmla="val 11994"/>
            </a:avLst>
          </a:prstGeom>
          <a:solidFill>
            <a:srgbClr val="FFFFFF"/>
          </a:solidFill>
          <a:ln w="12700">
            <a:solidFill>
              <a:srgbClr val="E2E8F0"/>
            </a:solidFill>
            <a:prstDash val="solid"/>
          </a:ln>
        </p:spPr>
      </p:sp>
      <p:sp>
        <p:nvSpPr>
          <p:cNvPr id="29" name="Text 26"/>
          <p:cNvSpPr/>
          <p:nvPr/>
        </p:nvSpPr>
        <p:spPr>
          <a:xfrm>
            <a:off x="6679692" y="4673498"/>
            <a:ext cx="2946197" cy="609905"/>
          </a:xfrm>
          <a:prstGeom prst="rect">
            <a:avLst/>
          </a:prstGeom>
          <a:noFill/>
          <a:ln/>
        </p:spPr>
        <p:txBody>
          <a:bodyPr wrap="square" lIns="0" tIns="0" rIns="0" bIns="0" rtlCol="0" anchor="ctr"/>
          <a:lstStyle/>
          <a:p>
            <a:pPr indent="0" marL="0">
              <a:lnSpc>
                <a:spcPct val="130000"/>
              </a:lnSpc>
              <a:buNone/>
            </a:pPr>
            <a:r>
              <a:rPr lang="en-US" sz="1200" dirty="0">
                <a:solidFill>
                  <a:srgbClr val="2D3748"/>
                </a:solidFill>
                <a:latin typeface="Open Sans" pitchFamily="34" charset="0"/>
                <a:ea typeface="Open Sans" pitchFamily="34" charset="-122"/>
                <a:cs typeface="Open Sans" pitchFamily="34" charset="-120"/>
              </a:rPr>
              <a:t>Tu próximo paso: realizá este autodiagnóstico para desbloquear tus recursos y herramientas.</a:t>
            </a:r>
            <a:endParaRPr lang="en-US" sz="1200" dirty="0"/>
          </a:p>
        </p:txBody>
      </p:sp>
      <p:sp>
        <p:nvSpPr>
          <p:cNvPr id="30" name="Shape 27"/>
          <p:cNvSpPr/>
          <p:nvPr/>
        </p:nvSpPr>
        <p:spPr>
          <a:xfrm>
            <a:off x="6565392" y="5384902"/>
            <a:ext cx="3174797" cy="381305"/>
          </a:xfrm>
          <a:prstGeom prst="roundRect">
            <a:avLst>
              <a:gd name="adj" fmla="val 19185"/>
            </a:avLst>
          </a:prstGeom>
          <a:solidFill>
            <a:srgbClr val="FFFFFF"/>
          </a:solidFill>
          <a:ln w="12700">
            <a:solidFill>
              <a:srgbClr val="E2E8F0"/>
            </a:solidFill>
            <a:prstDash val="solid"/>
          </a:ln>
        </p:spPr>
      </p:sp>
      <p:sp>
        <p:nvSpPr>
          <p:cNvPr id="31" name="Text 28"/>
          <p:cNvSpPr/>
          <p:nvPr/>
        </p:nvSpPr>
        <p:spPr>
          <a:xfrm>
            <a:off x="6679692" y="5384902"/>
            <a:ext cx="2946197" cy="381305"/>
          </a:xfrm>
          <a:prstGeom prst="rect">
            <a:avLst/>
          </a:prstGeom>
          <a:noFill/>
          <a:ln/>
        </p:spPr>
        <p:txBody>
          <a:bodyPr wrap="square" lIns="0" tIns="0" rIns="0" bIns="0" rtlCol="0" anchor="ctr"/>
          <a:lstStyle/>
          <a:p>
            <a:pPr indent="0" marL="0">
              <a:lnSpc>
                <a:spcPct val="130000"/>
              </a:lnSpc>
              <a:buNone/>
            </a:pPr>
            <a:r>
              <a:rPr lang="en-US" sz="1200" dirty="0">
                <a:solidFill>
                  <a:srgbClr val="2D3748"/>
                </a:solidFill>
                <a:latin typeface="Open Sans" pitchFamily="34" charset="0"/>
                <a:ea typeface="Open Sans" pitchFamily="34" charset="-122"/>
                <a:cs typeface="Open Sans" pitchFamily="34" charset="-120"/>
              </a:rPr>
              <a:t>Autodiagnóstico de Alto Rendimiento · 3 minutos</a:t>
            </a:r>
            <a:endParaRPr lang="en-US" sz="1200" dirty="0"/>
          </a:p>
        </p:txBody>
      </p:sp>
      <p:sp>
        <p:nvSpPr>
          <p:cNvPr id="32" name="Text 29"/>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C9D2DA"/>
                </a:solidFill>
                <a:latin typeface="Courier New" pitchFamily="34" charset="0"/>
                <a:ea typeface="Courier New" pitchFamily="34" charset="-122"/>
                <a:cs typeface="Courier New" pitchFamily="34" charset="-120"/>
              </a:rPr>
              <a:t>04 / 11</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81405" y="1561795"/>
            <a:ext cx="9232697" cy="0"/>
          </a:xfrm>
          <a:prstGeom prst="line">
            <a:avLst/>
          </a:prstGeom>
          <a:noFill/>
          <a:ln w="38100">
            <a:solidFill>
              <a:srgbClr val="C9D2DA"/>
            </a:solidFill>
            <a:prstDash val="sysDot"/>
          </a:ln>
        </p:spPr>
      </p:sp>
      <p:sp>
        <p:nvSpPr>
          <p:cNvPr id="3" name="Shape 1"/>
          <p:cNvSpPr/>
          <p:nvPr/>
        </p:nvSpPr>
        <p:spPr>
          <a:xfrm>
            <a:off x="1181405" y="1561795"/>
            <a:ext cx="5676595" cy="0"/>
          </a:xfrm>
          <a:prstGeom prst="line">
            <a:avLst/>
          </a:prstGeom>
          <a:noFill/>
          <a:ln w="50800">
            <a:solidFill>
              <a:srgbClr val="FF6602"/>
            </a:solidFill>
            <a:prstDash val="solid"/>
          </a:ln>
        </p:spPr>
      </p:sp>
      <p:sp>
        <p:nvSpPr>
          <p:cNvPr id="4" name="Shape 2"/>
          <p:cNvSpPr/>
          <p:nvPr/>
        </p:nvSpPr>
        <p:spPr>
          <a:xfrm>
            <a:off x="1098194" y="1479499"/>
            <a:ext cx="165506" cy="165506"/>
          </a:xfrm>
          <a:prstGeom prst="ellipse">
            <a:avLst/>
          </a:prstGeom>
          <a:solidFill>
            <a:srgbClr val="0C3452"/>
          </a:solidFill>
          <a:ln/>
        </p:spPr>
      </p:sp>
      <p:sp>
        <p:nvSpPr>
          <p:cNvPr id="5" name="Text 3"/>
          <p:cNvSpPr/>
          <p:nvPr/>
        </p:nvSpPr>
        <p:spPr>
          <a:xfrm>
            <a:off x="418795" y="1727302"/>
            <a:ext cx="1524305" cy="190195"/>
          </a:xfrm>
          <a:prstGeom prst="rect">
            <a:avLst/>
          </a:prstGeom>
          <a:noFill/>
          <a:ln/>
        </p:spPr>
        <p:txBody>
          <a:bodyPr wrap="square" lIns="0" tIns="0" rIns="0" bIns="0" rtlCol="0" anchor="ctr"/>
          <a:lstStyle/>
          <a:p>
            <a:pPr algn="ctr" indent="0" marL="0">
              <a:buNone/>
            </a:pPr>
            <a:r>
              <a:rPr lang="en-US" sz="1100" spc="300" kern="0" dirty="0">
                <a:solidFill>
                  <a:srgbClr val="0C3452"/>
                </a:solidFill>
                <a:latin typeface="Courier New" pitchFamily="34" charset="0"/>
                <a:ea typeface="Courier New" pitchFamily="34" charset="-122"/>
                <a:cs typeface="Courier New" pitchFamily="34" charset="-120"/>
              </a:rPr>
              <a:t>ESTÁS ACÁ</a:t>
            </a:r>
            <a:endParaRPr lang="en-US" sz="1100" dirty="0"/>
          </a:p>
        </p:txBody>
      </p:sp>
      <p:sp>
        <p:nvSpPr>
          <p:cNvPr id="6" name="Shape 4"/>
          <p:cNvSpPr/>
          <p:nvPr/>
        </p:nvSpPr>
        <p:spPr>
          <a:xfrm>
            <a:off x="3010205" y="1270102"/>
            <a:ext cx="584302" cy="584302"/>
          </a:xfrm>
          <a:prstGeom prst="ellipse">
            <a:avLst/>
          </a:prstGeom>
          <a:solidFill>
            <a:srgbClr val="FFFFFF"/>
          </a:solidFill>
          <a:ln w="38100">
            <a:solidFill>
              <a:srgbClr val="0C3452"/>
            </a:solidFill>
            <a:prstDash val="solid"/>
          </a:ln>
        </p:spPr>
      </p:sp>
      <p:sp>
        <p:nvSpPr>
          <p:cNvPr id="7" name="Shape 5"/>
          <p:cNvSpPr/>
          <p:nvPr/>
        </p:nvSpPr>
        <p:spPr>
          <a:xfrm>
            <a:off x="3467405" y="1244498"/>
            <a:ext cx="190195" cy="190195"/>
          </a:xfrm>
          <a:prstGeom prst="ellipse">
            <a:avLst/>
          </a:prstGeom>
          <a:solidFill>
            <a:srgbClr val="25D366"/>
          </a:solidFill>
          <a:ln/>
        </p:spPr>
      </p:sp>
      <p:sp>
        <p:nvSpPr>
          <p:cNvPr id="8" name="Text 6"/>
          <p:cNvSpPr/>
          <p:nvPr/>
        </p:nvSpPr>
        <p:spPr>
          <a:xfrm>
            <a:off x="3467405" y="1244498"/>
            <a:ext cx="190195" cy="190195"/>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9" name="Text 7"/>
          <p:cNvSpPr/>
          <p:nvPr/>
        </p:nvSpPr>
        <p:spPr>
          <a:xfrm>
            <a:off x="2793492" y="1891894"/>
            <a:ext cx="1015898" cy="304495"/>
          </a:xfrm>
          <a:prstGeom prst="rect">
            <a:avLst/>
          </a:prstGeom>
          <a:noFill/>
          <a:ln/>
        </p:spPr>
        <p:txBody>
          <a:bodyPr wrap="square" lIns="0" tIns="0" rIns="0" bIns="0" rtlCol="0" anchor="ctr"/>
          <a:lstStyle/>
          <a:p>
            <a:pPr algn="ctr" indent="0" marL="0">
              <a:buNone/>
            </a:pPr>
            <a:r>
              <a:rPr lang="en-US" sz="2600" b="1" dirty="0">
                <a:solidFill>
                  <a:srgbClr val="0C3452"/>
                </a:solidFill>
                <a:latin typeface="Montserrat" pitchFamily="34" charset="0"/>
                <a:ea typeface="Montserrat" pitchFamily="34" charset="-122"/>
                <a:cs typeface="Montserrat" pitchFamily="34" charset="-120"/>
              </a:rPr>
              <a:t>01</a:t>
            </a:r>
            <a:endParaRPr lang="en-US" sz="2600" dirty="0"/>
          </a:p>
        </p:txBody>
      </p:sp>
      <p:sp>
        <p:nvSpPr>
          <p:cNvPr id="10" name="Text 8"/>
          <p:cNvSpPr/>
          <p:nvPr/>
        </p:nvSpPr>
        <p:spPr>
          <a:xfrm>
            <a:off x="2158898"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APLICACIÓN</a:t>
            </a:r>
            <a:endParaRPr lang="en-US" sz="1500" dirty="0"/>
          </a:p>
        </p:txBody>
      </p:sp>
      <p:sp>
        <p:nvSpPr>
          <p:cNvPr id="11" name="Shape 9"/>
          <p:cNvSpPr/>
          <p:nvPr/>
        </p:nvSpPr>
        <p:spPr>
          <a:xfrm>
            <a:off x="6489497" y="1194206"/>
            <a:ext cx="737006" cy="737006"/>
          </a:xfrm>
          <a:prstGeom prst="ellipse">
            <a:avLst/>
          </a:prstGeom>
          <a:ln w="38100">
            <a:solidFill>
              <a:srgbClr val="FF6602"/>
            </a:solidFill>
            <a:prstDash val="solid"/>
          </a:ln>
        </p:spPr>
      </p:sp>
      <p:sp>
        <p:nvSpPr>
          <p:cNvPr id="12" name="Shape 10"/>
          <p:cNvSpPr/>
          <p:nvPr/>
        </p:nvSpPr>
        <p:spPr>
          <a:xfrm>
            <a:off x="6565392" y="1270102"/>
            <a:ext cx="584302" cy="584302"/>
          </a:xfrm>
          <a:prstGeom prst="ellipse">
            <a:avLst/>
          </a:prstGeom>
          <a:solidFill>
            <a:srgbClr val="FFFFFF"/>
          </a:solidFill>
          <a:ln w="38100">
            <a:solidFill>
              <a:srgbClr val="0C3452"/>
            </a:solidFill>
            <a:prstDash val="solid"/>
          </a:ln>
        </p:spPr>
      </p:sp>
      <p:sp>
        <p:nvSpPr>
          <p:cNvPr id="13" name="Text 11"/>
          <p:cNvSpPr/>
          <p:nvPr/>
        </p:nvSpPr>
        <p:spPr>
          <a:xfrm>
            <a:off x="6349594" y="1891894"/>
            <a:ext cx="1015898" cy="304495"/>
          </a:xfrm>
          <a:prstGeom prst="rect">
            <a:avLst/>
          </a:prstGeom>
          <a:noFill/>
          <a:ln/>
        </p:spPr>
        <p:txBody>
          <a:bodyPr wrap="square" lIns="0" tIns="0" rIns="0" bIns="0" rtlCol="0" anchor="ctr"/>
          <a:lstStyle/>
          <a:p>
            <a:pPr algn="ctr" indent="0" marL="0">
              <a:buNone/>
            </a:pPr>
            <a:r>
              <a:rPr lang="en-US" sz="2600" b="1" dirty="0">
                <a:solidFill>
                  <a:srgbClr val="FF6602"/>
                </a:solidFill>
                <a:latin typeface="Montserrat" pitchFamily="34" charset="0"/>
                <a:ea typeface="Montserrat" pitchFamily="34" charset="-122"/>
                <a:cs typeface="Montserrat" pitchFamily="34" charset="-120"/>
              </a:rPr>
              <a:t>02</a:t>
            </a:r>
            <a:endParaRPr lang="en-US" sz="2600" dirty="0"/>
          </a:p>
        </p:txBody>
      </p:sp>
      <p:sp>
        <p:nvSpPr>
          <p:cNvPr id="14" name="Text 12"/>
          <p:cNvSpPr/>
          <p:nvPr/>
        </p:nvSpPr>
        <p:spPr>
          <a:xfrm>
            <a:off x="5715000"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ENTREVISTA</a:t>
            </a:r>
            <a:endParaRPr lang="en-US" sz="1500" dirty="0"/>
          </a:p>
        </p:txBody>
      </p:sp>
      <p:sp>
        <p:nvSpPr>
          <p:cNvPr id="15" name="Shape 13"/>
          <p:cNvSpPr/>
          <p:nvPr/>
        </p:nvSpPr>
        <p:spPr>
          <a:xfrm>
            <a:off x="10121494" y="1270102"/>
            <a:ext cx="584302" cy="584302"/>
          </a:xfrm>
          <a:prstGeom prst="ellipse">
            <a:avLst/>
          </a:prstGeom>
          <a:solidFill>
            <a:srgbClr val="FFFFFF"/>
          </a:solidFill>
          <a:ln w="38100">
            <a:solidFill>
              <a:srgbClr val="C9D2DA"/>
            </a:solidFill>
            <a:prstDash val="solid"/>
          </a:ln>
        </p:spPr>
      </p:sp>
      <p:sp>
        <p:nvSpPr>
          <p:cNvPr id="16" name="Text 14"/>
          <p:cNvSpPr/>
          <p:nvPr/>
        </p:nvSpPr>
        <p:spPr>
          <a:xfrm>
            <a:off x="9905695" y="1891894"/>
            <a:ext cx="1015898" cy="304495"/>
          </a:xfrm>
          <a:prstGeom prst="rect">
            <a:avLst/>
          </a:prstGeom>
          <a:noFill/>
          <a:ln/>
        </p:spPr>
        <p:txBody>
          <a:bodyPr wrap="square" lIns="0" tIns="0" rIns="0" bIns="0" rtlCol="0" anchor="ctr"/>
          <a:lstStyle/>
          <a:p>
            <a:pPr algn="ctr" indent="0" marL="0">
              <a:buNone/>
            </a:pPr>
            <a:r>
              <a:rPr lang="en-US" sz="2600" b="1" dirty="0">
                <a:solidFill>
                  <a:srgbClr val="C9D2DA"/>
                </a:solidFill>
                <a:latin typeface="Montserrat" pitchFamily="34" charset="0"/>
                <a:ea typeface="Montserrat" pitchFamily="34" charset="-122"/>
                <a:cs typeface="Montserrat" pitchFamily="34" charset="-120"/>
              </a:rPr>
              <a:t>03</a:t>
            </a:r>
            <a:endParaRPr lang="en-US" sz="2600" dirty="0"/>
          </a:p>
        </p:txBody>
      </p:sp>
      <p:sp>
        <p:nvSpPr>
          <p:cNvPr id="17" name="Text 15"/>
          <p:cNvSpPr/>
          <p:nvPr/>
        </p:nvSpPr>
        <p:spPr>
          <a:xfrm>
            <a:off x="9271102"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C9D2DA"/>
                </a:solidFill>
                <a:latin typeface="Montserrat" pitchFamily="34" charset="0"/>
                <a:ea typeface="Montserrat" pitchFamily="34" charset="-122"/>
                <a:cs typeface="Montserrat" pitchFamily="34" charset="-120"/>
              </a:rPr>
              <a:t>EL ACCESO</a:t>
            </a:r>
            <a:endParaRPr lang="en-US" sz="1500" dirty="0"/>
          </a:p>
        </p:txBody>
      </p:sp>
      <p:pic>
        <p:nvPicPr>
          <p:cNvPr id="18" name="Image 0" descr="/tmp/claude-0/-home-user-detodo/82f5030d-8aaf-57d2-9bf8-611f8273ee0c/scratchpad/pptx-nativo/img/mini-nico-marker.png">    </p:cNvPr>
          <p:cNvPicPr>
            <a:picLocks noChangeAspect="1"/>
          </p:cNvPicPr>
          <p:nvPr/>
        </p:nvPicPr>
        <p:blipFill>
          <a:blip r:embed="rId1"/>
          <a:stretch>
            <a:fillRect/>
          </a:stretch>
        </p:blipFill>
        <p:spPr>
          <a:xfrm>
            <a:off x="6463894" y="114300"/>
            <a:ext cx="787298" cy="1155802"/>
          </a:xfrm>
          <a:prstGeom prst="rect">
            <a:avLst/>
          </a:prstGeom>
        </p:spPr>
      </p:pic>
      <p:sp>
        <p:nvSpPr>
          <p:cNvPr id="19" name="Text 16"/>
          <p:cNvSpPr/>
          <p:nvPr/>
        </p:nvSpPr>
        <p:spPr>
          <a:xfrm>
            <a:off x="825703" y="4381805"/>
            <a:ext cx="5715000" cy="215798"/>
          </a:xfrm>
          <a:prstGeom prst="rect">
            <a:avLst/>
          </a:prstGeom>
          <a:noFill/>
          <a:ln/>
        </p:spPr>
        <p:txBody>
          <a:bodyPr wrap="square" lIns="0" tIns="0" rIns="0" bIns="0" rtlCol="0" anchor="ctr"/>
          <a:lstStyle/>
          <a:p>
            <a:pPr indent="0" marL="0">
              <a:buNone/>
            </a:pPr>
            <a:r>
              <a:rPr lang="en-US" sz="1300" b="1" spc="300" kern="0" dirty="0">
                <a:solidFill>
                  <a:srgbClr val="FF6602"/>
                </a:solidFill>
                <a:latin typeface="Courier New" pitchFamily="34" charset="0"/>
                <a:ea typeface="Courier New" pitchFamily="34" charset="-122"/>
                <a:cs typeface="Courier New" pitchFamily="34" charset="-120"/>
              </a:rPr>
              <a:t>PASO 02 / 03 · LA ENTREVISTA</a:t>
            </a:r>
            <a:endParaRPr lang="en-US" sz="1300" dirty="0"/>
          </a:p>
        </p:txBody>
      </p:sp>
      <p:sp>
        <p:nvSpPr>
          <p:cNvPr id="20" name="Text 17"/>
          <p:cNvSpPr/>
          <p:nvPr/>
        </p:nvSpPr>
        <p:spPr>
          <a:xfrm>
            <a:off x="825703" y="4699102"/>
            <a:ext cx="5206594" cy="571500"/>
          </a:xfrm>
          <a:prstGeom prst="rect">
            <a:avLst/>
          </a:prstGeom>
          <a:noFill/>
          <a:ln/>
        </p:spPr>
        <p:txBody>
          <a:bodyPr wrap="square" lIns="0" tIns="0" rIns="0" bIns="0" rtlCol="0" anchor="ctr"/>
          <a:lstStyle/>
          <a:p>
            <a:pPr indent="0" marL="0">
              <a:buNone/>
            </a:pPr>
            <a:r>
              <a:rPr lang="en-US" sz="3400" b="1" spc="-50" kern="0" dirty="0">
                <a:solidFill>
                  <a:srgbClr val="0C3452"/>
                </a:solidFill>
                <a:latin typeface="Montserrat" pitchFamily="34" charset="0"/>
                <a:ea typeface="Montserrat" pitchFamily="34" charset="-122"/>
                <a:cs typeface="Montserrat" pitchFamily="34" charset="-120"/>
              </a:rPr>
              <a:t>Con tu coach asignado</a:t>
            </a:r>
            <a:endParaRPr lang="en-US" sz="3400" dirty="0"/>
          </a:p>
        </p:txBody>
      </p:sp>
      <p:sp>
        <p:nvSpPr>
          <p:cNvPr id="21" name="Text 18"/>
          <p:cNvSpPr/>
          <p:nvPr/>
        </p:nvSpPr>
        <p:spPr>
          <a:xfrm>
            <a:off x="825703" y="5384902"/>
            <a:ext cx="5206594" cy="761695"/>
          </a:xfrm>
          <a:prstGeom prst="rect">
            <a:avLst/>
          </a:prstGeom>
          <a:noFill/>
          <a:ln/>
        </p:spPr>
        <p:txBody>
          <a:bodyPr wrap="square" lIns="0" tIns="0" rIns="0" bIns="0" rtlCol="0" anchor="ctr"/>
          <a:lstStyle/>
          <a:p>
            <a:pPr indent="0" marL="0">
              <a:lnSpc>
                <a:spcPct val="140000"/>
              </a:lnSpc>
              <a:buNone/>
            </a:pPr>
            <a:r>
              <a:rPr lang="en-US" sz="1600" dirty="0">
                <a:solidFill>
                  <a:srgbClr val="0C3452"/>
                </a:solidFill>
                <a:latin typeface="Open Sans" pitchFamily="34" charset="0"/>
                <a:ea typeface="Open Sans" pitchFamily="34" charset="-122"/>
                <a:cs typeface="Open Sans" pitchFamily="34" charset="-120"/>
              </a:rPr>
              <a:t>Vemos tu caso en profundidad y si realmente podemos ayudarte. Puede que no.</a:t>
            </a:r>
            <a:endParaRPr lang="en-US" sz="1600" dirty="0"/>
          </a:p>
        </p:txBody>
      </p:sp>
      <p:sp>
        <p:nvSpPr>
          <p:cNvPr id="22" name="Shape 19"/>
          <p:cNvSpPr/>
          <p:nvPr/>
        </p:nvSpPr>
        <p:spPr>
          <a:xfrm>
            <a:off x="6413602" y="3556102"/>
            <a:ext cx="4953305" cy="2920594"/>
          </a:xfrm>
          <a:prstGeom prst="roundRect">
            <a:avLst>
              <a:gd name="adj" fmla="val 3757"/>
            </a:avLst>
          </a:prstGeom>
          <a:solidFill>
            <a:srgbClr val="FFFFFF"/>
          </a:solidFill>
          <a:ln w="12700">
            <a:solidFill>
              <a:srgbClr val="FFFFFF"/>
            </a:solidFill>
            <a:prstDash val="solid"/>
          </a:ln>
        </p:spPr>
      </p:sp>
      <p:pic>
        <p:nvPicPr>
          <p:cNvPr id="23" name="Image 1" descr="/tmp/claude-0/-home-user-detodo/82f5030d-8aaf-57d2-9bf8-611f8273ee0c/scratchpad/pptx-nativo/img/mini-nico-videollamada.jpg">    </p:cNvPr>
          <p:cNvPicPr>
            <a:picLocks noChangeAspect="1"/>
          </p:cNvPicPr>
          <p:nvPr/>
        </p:nvPicPr>
        <p:blipFill>
          <a:blip r:embed="rId2"/>
          <a:stretch>
            <a:fillRect/>
          </a:stretch>
        </p:blipFill>
        <p:spPr>
          <a:xfrm>
            <a:off x="6413602" y="3556102"/>
            <a:ext cx="4953305" cy="2920594"/>
          </a:xfrm>
          <a:prstGeom prst="rect">
            <a:avLst/>
          </a:prstGeom>
        </p:spPr>
      </p:pic>
      <p:sp>
        <p:nvSpPr>
          <p:cNvPr id="24" name="Text 20"/>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C9D2DA"/>
                </a:solidFill>
                <a:latin typeface="Courier New" pitchFamily="34" charset="0"/>
                <a:ea typeface="Courier New" pitchFamily="34" charset="-122"/>
                <a:cs typeface="Courier New" pitchFamily="34" charset="-120"/>
              </a:rPr>
              <a:t>05 / 11</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81405" y="1561795"/>
            <a:ext cx="9232697" cy="0"/>
          </a:xfrm>
          <a:prstGeom prst="line">
            <a:avLst/>
          </a:prstGeom>
          <a:noFill/>
          <a:ln w="38100">
            <a:solidFill>
              <a:srgbClr val="C9D2DA"/>
            </a:solidFill>
            <a:prstDash val="sysDot"/>
          </a:ln>
        </p:spPr>
      </p:sp>
      <p:sp>
        <p:nvSpPr>
          <p:cNvPr id="3" name="Shape 1"/>
          <p:cNvSpPr/>
          <p:nvPr/>
        </p:nvSpPr>
        <p:spPr>
          <a:xfrm>
            <a:off x="1181405" y="1561795"/>
            <a:ext cx="5676595" cy="0"/>
          </a:xfrm>
          <a:prstGeom prst="line">
            <a:avLst/>
          </a:prstGeom>
          <a:noFill/>
          <a:ln w="50800">
            <a:solidFill>
              <a:srgbClr val="FF6602"/>
            </a:solidFill>
            <a:prstDash val="solid"/>
          </a:ln>
        </p:spPr>
      </p:sp>
      <p:sp>
        <p:nvSpPr>
          <p:cNvPr id="4" name="Shape 2"/>
          <p:cNvSpPr/>
          <p:nvPr/>
        </p:nvSpPr>
        <p:spPr>
          <a:xfrm>
            <a:off x="1098194" y="1479499"/>
            <a:ext cx="165506" cy="165506"/>
          </a:xfrm>
          <a:prstGeom prst="ellipse">
            <a:avLst/>
          </a:prstGeom>
          <a:solidFill>
            <a:srgbClr val="0C3452"/>
          </a:solidFill>
          <a:ln/>
        </p:spPr>
      </p:sp>
      <p:sp>
        <p:nvSpPr>
          <p:cNvPr id="5" name="Text 3"/>
          <p:cNvSpPr/>
          <p:nvPr/>
        </p:nvSpPr>
        <p:spPr>
          <a:xfrm>
            <a:off x="418795" y="1727302"/>
            <a:ext cx="1524305" cy="190195"/>
          </a:xfrm>
          <a:prstGeom prst="rect">
            <a:avLst/>
          </a:prstGeom>
          <a:noFill/>
          <a:ln/>
        </p:spPr>
        <p:txBody>
          <a:bodyPr wrap="square" lIns="0" tIns="0" rIns="0" bIns="0" rtlCol="0" anchor="ctr"/>
          <a:lstStyle/>
          <a:p>
            <a:pPr algn="ctr" indent="0" marL="0">
              <a:buNone/>
            </a:pPr>
            <a:r>
              <a:rPr lang="en-US" sz="1100" spc="300" kern="0" dirty="0">
                <a:solidFill>
                  <a:srgbClr val="0C3452"/>
                </a:solidFill>
                <a:latin typeface="Courier New" pitchFamily="34" charset="0"/>
                <a:ea typeface="Courier New" pitchFamily="34" charset="-122"/>
                <a:cs typeface="Courier New" pitchFamily="34" charset="-120"/>
              </a:rPr>
              <a:t>ESTÁS ACÁ</a:t>
            </a:r>
            <a:endParaRPr lang="en-US" sz="1100" dirty="0"/>
          </a:p>
        </p:txBody>
      </p:sp>
      <p:sp>
        <p:nvSpPr>
          <p:cNvPr id="6" name="Shape 4"/>
          <p:cNvSpPr/>
          <p:nvPr/>
        </p:nvSpPr>
        <p:spPr>
          <a:xfrm>
            <a:off x="3010205" y="1270102"/>
            <a:ext cx="584302" cy="584302"/>
          </a:xfrm>
          <a:prstGeom prst="ellipse">
            <a:avLst/>
          </a:prstGeom>
          <a:solidFill>
            <a:srgbClr val="FFFFFF"/>
          </a:solidFill>
          <a:ln w="38100">
            <a:solidFill>
              <a:srgbClr val="0C3452"/>
            </a:solidFill>
            <a:prstDash val="solid"/>
          </a:ln>
        </p:spPr>
      </p:sp>
      <p:sp>
        <p:nvSpPr>
          <p:cNvPr id="7" name="Shape 5"/>
          <p:cNvSpPr/>
          <p:nvPr/>
        </p:nvSpPr>
        <p:spPr>
          <a:xfrm>
            <a:off x="3467405" y="1244498"/>
            <a:ext cx="190195" cy="190195"/>
          </a:xfrm>
          <a:prstGeom prst="ellipse">
            <a:avLst/>
          </a:prstGeom>
          <a:solidFill>
            <a:srgbClr val="25D366"/>
          </a:solidFill>
          <a:ln/>
        </p:spPr>
      </p:sp>
      <p:sp>
        <p:nvSpPr>
          <p:cNvPr id="8" name="Text 6"/>
          <p:cNvSpPr/>
          <p:nvPr/>
        </p:nvSpPr>
        <p:spPr>
          <a:xfrm>
            <a:off x="3467405" y="1244498"/>
            <a:ext cx="190195" cy="190195"/>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9" name="Text 7"/>
          <p:cNvSpPr/>
          <p:nvPr/>
        </p:nvSpPr>
        <p:spPr>
          <a:xfrm>
            <a:off x="2793492" y="1891894"/>
            <a:ext cx="1015898" cy="304495"/>
          </a:xfrm>
          <a:prstGeom prst="rect">
            <a:avLst/>
          </a:prstGeom>
          <a:noFill/>
          <a:ln/>
        </p:spPr>
        <p:txBody>
          <a:bodyPr wrap="square" lIns="0" tIns="0" rIns="0" bIns="0" rtlCol="0" anchor="ctr"/>
          <a:lstStyle/>
          <a:p>
            <a:pPr algn="ctr" indent="0" marL="0">
              <a:buNone/>
            </a:pPr>
            <a:r>
              <a:rPr lang="en-US" sz="2600" b="1" dirty="0">
                <a:solidFill>
                  <a:srgbClr val="0C3452"/>
                </a:solidFill>
                <a:latin typeface="Montserrat" pitchFamily="34" charset="0"/>
                <a:ea typeface="Montserrat" pitchFamily="34" charset="-122"/>
                <a:cs typeface="Montserrat" pitchFamily="34" charset="-120"/>
              </a:rPr>
              <a:t>01</a:t>
            </a:r>
            <a:endParaRPr lang="en-US" sz="2600" dirty="0"/>
          </a:p>
        </p:txBody>
      </p:sp>
      <p:sp>
        <p:nvSpPr>
          <p:cNvPr id="10" name="Text 8"/>
          <p:cNvSpPr/>
          <p:nvPr/>
        </p:nvSpPr>
        <p:spPr>
          <a:xfrm>
            <a:off x="2158898"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APLICACIÓN</a:t>
            </a:r>
            <a:endParaRPr lang="en-US" sz="1500" dirty="0"/>
          </a:p>
        </p:txBody>
      </p:sp>
      <p:sp>
        <p:nvSpPr>
          <p:cNvPr id="11" name="Shape 9"/>
          <p:cNvSpPr/>
          <p:nvPr/>
        </p:nvSpPr>
        <p:spPr>
          <a:xfrm>
            <a:off x="6489497" y="1194206"/>
            <a:ext cx="737006" cy="737006"/>
          </a:xfrm>
          <a:prstGeom prst="ellipse">
            <a:avLst/>
          </a:prstGeom>
          <a:ln w="38100">
            <a:solidFill>
              <a:srgbClr val="FF6602"/>
            </a:solidFill>
            <a:prstDash val="solid"/>
          </a:ln>
        </p:spPr>
      </p:sp>
      <p:sp>
        <p:nvSpPr>
          <p:cNvPr id="12" name="Shape 10"/>
          <p:cNvSpPr/>
          <p:nvPr/>
        </p:nvSpPr>
        <p:spPr>
          <a:xfrm>
            <a:off x="6565392" y="1270102"/>
            <a:ext cx="584302" cy="584302"/>
          </a:xfrm>
          <a:prstGeom prst="ellipse">
            <a:avLst/>
          </a:prstGeom>
          <a:solidFill>
            <a:srgbClr val="FFFFFF"/>
          </a:solidFill>
          <a:ln w="38100">
            <a:solidFill>
              <a:srgbClr val="0C3452"/>
            </a:solidFill>
            <a:prstDash val="solid"/>
          </a:ln>
        </p:spPr>
      </p:sp>
      <p:sp>
        <p:nvSpPr>
          <p:cNvPr id="13" name="Text 11"/>
          <p:cNvSpPr/>
          <p:nvPr/>
        </p:nvSpPr>
        <p:spPr>
          <a:xfrm>
            <a:off x="6349594" y="1891894"/>
            <a:ext cx="1015898" cy="304495"/>
          </a:xfrm>
          <a:prstGeom prst="rect">
            <a:avLst/>
          </a:prstGeom>
          <a:noFill/>
          <a:ln/>
        </p:spPr>
        <p:txBody>
          <a:bodyPr wrap="square" lIns="0" tIns="0" rIns="0" bIns="0" rtlCol="0" anchor="ctr"/>
          <a:lstStyle/>
          <a:p>
            <a:pPr algn="ctr" indent="0" marL="0">
              <a:buNone/>
            </a:pPr>
            <a:r>
              <a:rPr lang="en-US" sz="2600" b="1" dirty="0">
                <a:solidFill>
                  <a:srgbClr val="FF6602"/>
                </a:solidFill>
                <a:latin typeface="Montserrat" pitchFamily="34" charset="0"/>
                <a:ea typeface="Montserrat" pitchFamily="34" charset="-122"/>
                <a:cs typeface="Montserrat" pitchFamily="34" charset="-120"/>
              </a:rPr>
              <a:t>02</a:t>
            </a:r>
            <a:endParaRPr lang="en-US" sz="2600" dirty="0"/>
          </a:p>
        </p:txBody>
      </p:sp>
      <p:sp>
        <p:nvSpPr>
          <p:cNvPr id="14" name="Text 12"/>
          <p:cNvSpPr/>
          <p:nvPr/>
        </p:nvSpPr>
        <p:spPr>
          <a:xfrm>
            <a:off x="5715000"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ENTREVISTA</a:t>
            </a:r>
            <a:endParaRPr lang="en-US" sz="1500" dirty="0"/>
          </a:p>
        </p:txBody>
      </p:sp>
      <p:sp>
        <p:nvSpPr>
          <p:cNvPr id="15" name="Shape 13"/>
          <p:cNvSpPr/>
          <p:nvPr/>
        </p:nvSpPr>
        <p:spPr>
          <a:xfrm>
            <a:off x="10121494" y="1270102"/>
            <a:ext cx="584302" cy="584302"/>
          </a:xfrm>
          <a:prstGeom prst="ellipse">
            <a:avLst/>
          </a:prstGeom>
          <a:solidFill>
            <a:srgbClr val="FFFFFF"/>
          </a:solidFill>
          <a:ln w="38100">
            <a:solidFill>
              <a:srgbClr val="C9D2DA"/>
            </a:solidFill>
            <a:prstDash val="solid"/>
          </a:ln>
        </p:spPr>
      </p:sp>
      <p:sp>
        <p:nvSpPr>
          <p:cNvPr id="16" name="Text 14"/>
          <p:cNvSpPr/>
          <p:nvPr/>
        </p:nvSpPr>
        <p:spPr>
          <a:xfrm>
            <a:off x="9905695" y="1891894"/>
            <a:ext cx="1015898" cy="304495"/>
          </a:xfrm>
          <a:prstGeom prst="rect">
            <a:avLst/>
          </a:prstGeom>
          <a:noFill/>
          <a:ln/>
        </p:spPr>
        <p:txBody>
          <a:bodyPr wrap="square" lIns="0" tIns="0" rIns="0" bIns="0" rtlCol="0" anchor="ctr"/>
          <a:lstStyle/>
          <a:p>
            <a:pPr algn="ctr" indent="0" marL="0">
              <a:buNone/>
            </a:pPr>
            <a:r>
              <a:rPr lang="en-US" sz="2600" b="1" dirty="0">
                <a:solidFill>
                  <a:srgbClr val="C9D2DA"/>
                </a:solidFill>
                <a:latin typeface="Montserrat" pitchFamily="34" charset="0"/>
                <a:ea typeface="Montserrat" pitchFamily="34" charset="-122"/>
                <a:cs typeface="Montserrat" pitchFamily="34" charset="-120"/>
              </a:rPr>
              <a:t>03</a:t>
            </a:r>
            <a:endParaRPr lang="en-US" sz="2600" dirty="0"/>
          </a:p>
        </p:txBody>
      </p:sp>
      <p:sp>
        <p:nvSpPr>
          <p:cNvPr id="17" name="Text 15"/>
          <p:cNvSpPr/>
          <p:nvPr/>
        </p:nvSpPr>
        <p:spPr>
          <a:xfrm>
            <a:off x="9271102"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C9D2DA"/>
                </a:solidFill>
                <a:latin typeface="Montserrat" pitchFamily="34" charset="0"/>
                <a:ea typeface="Montserrat" pitchFamily="34" charset="-122"/>
                <a:cs typeface="Montserrat" pitchFamily="34" charset="-120"/>
              </a:rPr>
              <a:t>EL ACCESO</a:t>
            </a:r>
            <a:endParaRPr lang="en-US" sz="1500" dirty="0"/>
          </a:p>
        </p:txBody>
      </p:sp>
      <p:pic>
        <p:nvPicPr>
          <p:cNvPr id="18" name="Image 0" descr="/tmp/claude-0/-home-user-detodo/82f5030d-8aaf-57d2-9bf8-611f8273ee0c/scratchpad/pptx-nativo/img/mini-nico-marker.png">    </p:cNvPr>
          <p:cNvPicPr>
            <a:picLocks noChangeAspect="1"/>
          </p:cNvPicPr>
          <p:nvPr/>
        </p:nvPicPr>
        <p:blipFill>
          <a:blip r:embed="rId1"/>
          <a:stretch>
            <a:fillRect/>
          </a:stretch>
        </p:blipFill>
        <p:spPr>
          <a:xfrm>
            <a:off x="6463894" y="114300"/>
            <a:ext cx="787298" cy="1155802"/>
          </a:xfrm>
          <a:prstGeom prst="rect">
            <a:avLst/>
          </a:prstGeom>
        </p:spPr>
      </p:pic>
      <p:sp>
        <p:nvSpPr>
          <p:cNvPr id="19" name="Text 16"/>
          <p:cNvSpPr/>
          <p:nvPr/>
        </p:nvSpPr>
        <p:spPr>
          <a:xfrm>
            <a:off x="825703" y="4381805"/>
            <a:ext cx="5715000" cy="215798"/>
          </a:xfrm>
          <a:prstGeom prst="rect">
            <a:avLst/>
          </a:prstGeom>
          <a:noFill/>
          <a:ln/>
        </p:spPr>
        <p:txBody>
          <a:bodyPr wrap="square" lIns="0" tIns="0" rIns="0" bIns="0" rtlCol="0" anchor="ctr"/>
          <a:lstStyle/>
          <a:p>
            <a:pPr indent="0" marL="0">
              <a:buNone/>
            </a:pPr>
            <a:r>
              <a:rPr lang="en-US" sz="1300" b="1" spc="300" kern="0" dirty="0">
                <a:solidFill>
                  <a:srgbClr val="FF6602"/>
                </a:solidFill>
                <a:latin typeface="Courier New" pitchFamily="34" charset="0"/>
                <a:ea typeface="Courier New" pitchFamily="34" charset="-122"/>
                <a:cs typeface="Courier New" pitchFamily="34" charset="-120"/>
              </a:rPr>
              <a:t>PASO 02 / 03 · LA ENTREVISTA</a:t>
            </a:r>
            <a:endParaRPr lang="en-US" sz="1300" dirty="0"/>
          </a:p>
        </p:txBody>
      </p:sp>
      <p:sp>
        <p:nvSpPr>
          <p:cNvPr id="20" name="Text 17"/>
          <p:cNvSpPr/>
          <p:nvPr/>
        </p:nvSpPr>
        <p:spPr>
          <a:xfrm>
            <a:off x="825703" y="4699102"/>
            <a:ext cx="5206594" cy="571500"/>
          </a:xfrm>
          <a:prstGeom prst="rect">
            <a:avLst/>
          </a:prstGeom>
          <a:noFill/>
          <a:ln/>
        </p:spPr>
        <p:txBody>
          <a:bodyPr wrap="square" lIns="0" tIns="0" rIns="0" bIns="0" rtlCol="0" anchor="ctr"/>
          <a:lstStyle/>
          <a:p>
            <a:pPr indent="0" marL="0">
              <a:buNone/>
            </a:pPr>
            <a:r>
              <a:rPr lang="en-US" sz="3400" b="1" spc="-50" kern="0" dirty="0">
                <a:solidFill>
                  <a:srgbClr val="0C3452"/>
                </a:solidFill>
                <a:latin typeface="Montserrat" pitchFamily="34" charset="0"/>
                <a:ea typeface="Montserrat" pitchFamily="34" charset="-122"/>
                <a:cs typeface="Montserrat" pitchFamily="34" charset="-120"/>
              </a:rPr>
              <a:t>Lo único que te pedimos</a:t>
            </a:r>
            <a:endParaRPr lang="en-US" sz="3400" dirty="0"/>
          </a:p>
        </p:txBody>
      </p:sp>
      <p:sp>
        <p:nvSpPr>
          <p:cNvPr id="21" name="Text 18"/>
          <p:cNvSpPr/>
          <p:nvPr/>
        </p:nvSpPr>
        <p:spPr>
          <a:xfrm>
            <a:off x="825703" y="5384902"/>
            <a:ext cx="5206594" cy="761695"/>
          </a:xfrm>
          <a:prstGeom prst="rect">
            <a:avLst/>
          </a:prstGeom>
          <a:noFill/>
          <a:ln/>
        </p:spPr>
        <p:txBody>
          <a:bodyPr wrap="square" lIns="0" tIns="0" rIns="0" bIns="0" rtlCol="0" anchor="ctr"/>
          <a:lstStyle/>
          <a:p>
            <a:pPr indent="0" marL="0">
              <a:lnSpc>
                <a:spcPct val="140000"/>
              </a:lnSpc>
              <a:buNone/>
            </a:pPr>
            <a:r>
              <a:rPr lang="en-US" sz="1600" dirty="0">
                <a:solidFill>
                  <a:srgbClr val="0C3452"/>
                </a:solidFill>
                <a:latin typeface="Open Sans" pitchFamily="34" charset="0"/>
                <a:ea typeface="Open Sans" pitchFamily="34" charset="-122"/>
                <a:cs typeface="Open Sans" pitchFamily="34" charset="-120"/>
              </a:rPr>
              <a:t>Que confirmes por WhatsApp y que cumplas el horario que elegiste.</a:t>
            </a:r>
            <a:endParaRPr lang="en-US" sz="1600" dirty="0"/>
          </a:p>
        </p:txBody>
      </p:sp>
      <p:sp>
        <p:nvSpPr>
          <p:cNvPr id="22" name="Shape 19"/>
          <p:cNvSpPr/>
          <p:nvPr/>
        </p:nvSpPr>
        <p:spPr>
          <a:xfrm>
            <a:off x="6413602" y="3556102"/>
            <a:ext cx="4953305" cy="1333195"/>
          </a:xfrm>
          <a:prstGeom prst="roundRect">
            <a:avLst>
              <a:gd name="adj" fmla="val 8230"/>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23" name="Text 20"/>
          <p:cNvSpPr/>
          <p:nvPr/>
        </p:nvSpPr>
        <p:spPr>
          <a:xfrm>
            <a:off x="6616598" y="3720694"/>
            <a:ext cx="2540203" cy="190195"/>
          </a:xfrm>
          <a:prstGeom prst="rect">
            <a:avLst/>
          </a:prstGeom>
          <a:noFill/>
          <a:ln/>
        </p:spPr>
        <p:txBody>
          <a:bodyPr wrap="square" lIns="0" tIns="0" rIns="0" bIns="0" rtlCol="0" anchor="ctr"/>
          <a:lstStyle/>
          <a:p>
            <a:pPr indent="0" marL="0">
              <a:buNone/>
            </a:pPr>
            <a:r>
              <a:rPr lang="en-US" sz="1200" b="1" spc="300" kern="0" dirty="0">
                <a:solidFill>
                  <a:srgbClr val="FF6602"/>
                </a:solidFill>
                <a:latin typeface="Courier New" pitchFamily="34" charset="0"/>
                <a:ea typeface="Courier New" pitchFamily="34" charset="-122"/>
                <a:cs typeface="Courier New" pitchFamily="34" charset="-120"/>
              </a:rPr>
              <a:t>CONFIRMÁS</a:t>
            </a:r>
            <a:endParaRPr lang="en-US" sz="1200" dirty="0"/>
          </a:p>
        </p:txBody>
      </p:sp>
      <p:sp>
        <p:nvSpPr>
          <p:cNvPr id="24" name="Text 21"/>
          <p:cNvSpPr/>
          <p:nvPr/>
        </p:nvSpPr>
        <p:spPr>
          <a:xfrm>
            <a:off x="6616598" y="3949294"/>
            <a:ext cx="4444898" cy="291694"/>
          </a:xfrm>
          <a:prstGeom prst="rect">
            <a:avLst/>
          </a:prstGeom>
          <a:noFill/>
          <a:ln/>
        </p:spPr>
        <p:txBody>
          <a:bodyPr wrap="square" lIns="0" tIns="0" rIns="0" bIns="0" rtlCol="0" anchor="ctr"/>
          <a:lstStyle/>
          <a:p>
            <a:pPr indent="0" marL="0">
              <a:buNone/>
            </a:pPr>
            <a:r>
              <a:rPr lang="en-US" sz="1900" b="1" dirty="0">
                <a:solidFill>
                  <a:srgbClr val="0C3452"/>
                </a:solidFill>
                <a:latin typeface="Montserrat" pitchFamily="34" charset="0"/>
                <a:ea typeface="Montserrat" pitchFamily="34" charset="-122"/>
                <a:cs typeface="Montserrat" pitchFamily="34" charset="-120"/>
              </a:rPr>
              <a:t>Nos contestás por WhatsApp</a:t>
            </a:r>
            <a:endParaRPr lang="en-US" sz="1900" dirty="0"/>
          </a:p>
        </p:txBody>
      </p:sp>
      <p:sp>
        <p:nvSpPr>
          <p:cNvPr id="25" name="Text 22"/>
          <p:cNvSpPr/>
          <p:nvPr/>
        </p:nvSpPr>
        <p:spPr>
          <a:xfrm>
            <a:off x="6616598" y="4292194"/>
            <a:ext cx="4444898" cy="444398"/>
          </a:xfrm>
          <a:prstGeom prst="rect">
            <a:avLst/>
          </a:prstGeom>
          <a:noFill/>
          <a:ln/>
        </p:spPr>
        <p:txBody>
          <a:bodyPr wrap="square" lIns="0" tIns="0" rIns="0" bIns="0" rtlCol="0" anchor="ctr"/>
          <a:lstStyle/>
          <a:p>
            <a:pPr indent="0" marL="0">
              <a:lnSpc>
                <a:spcPct val="135000"/>
              </a:lnSpc>
              <a:buNone/>
            </a:pPr>
            <a:r>
              <a:rPr lang="en-US" sz="1300" dirty="0">
                <a:solidFill>
                  <a:srgbClr val="6B7280"/>
                </a:solidFill>
                <a:latin typeface="Open Sans" pitchFamily="34" charset="0"/>
                <a:ea typeface="Open Sans" pitchFamily="34" charset="-122"/>
                <a:cs typeface="Open Sans" pitchFamily="34" charset="-120"/>
              </a:rPr>
              <a:t>Con eso queda tomado tu lugar y sabemos que vas.</a:t>
            </a:r>
            <a:endParaRPr lang="en-US" sz="1300" dirty="0"/>
          </a:p>
        </p:txBody>
      </p:sp>
      <p:sp>
        <p:nvSpPr>
          <p:cNvPr id="26" name="Shape 23"/>
          <p:cNvSpPr/>
          <p:nvPr/>
        </p:nvSpPr>
        <p:spPr>
          <a:xfrm>
            <a:off x="6413602" y="5054803"/>
            <a:ext cx="4953305" cy="1333195"/>
          </a:xfrm>
          <a:prstGeom prst="roundRect">
            <a:avLst>
              <a:gd name="adj" fmla="val 8230"/>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27" name="Text 24"/>
          <p:cNvSpPr/>
          <p:nvPr/>
        </p:nvSpPr>
        <p:spPr>
          <a:xfrm>
            <a:off x="6616598" y="5219395"/>
            <a:ext cx="2540203" cy="190195"/>
          </a:xfrm>
          <a:prstGeom prst="rect">
            <a:avLst/>
          </a:prstGeom>
          <a:noFill/>
          <a:ln/>
        </p:spPr>
        <p:txBody>
          <a:bodyPr wrap="square" lIns="0" tIns="0" rIns="0" bIns="0" rtlCol="0" anchor="ctr"/>
          <a:lstStyle/>
          <a:p>
            <a:pPr indent="0" marL="0">
              <a:buNone/>
            </a:pPr>
            <a:r>
              <a:rPr lang="en-US" sz="1200" b="1" spc="300" kern="0" dirty="0">
                <a:solidFill>
                  <a:srgbClr val="FF6602"/>
                </a:solidFill>
                <a:latin typeface="Courier New" pitchFamily="34" charset="0"/>
                <a:ea typeface="Courier New" pitchFamily="34" charset="-122"/>
                <a:cs typeface="Courier New" pitchFamily="34" charset="-120"/>
              </a:rPr>
              <a:t>ASISTÍS</a:t>
            </a:r>
            <a:endParaRPr lang="en-US" sz="1200" dirty="0"/>
          </a:p>
        </p:txBody>
      </p:sp>
      <p:sp>
        <p:nvSpPr>
          <p:cNvPr id="28" name="Text 25"/>
          <p:cNvSpPr/>
          <p:nvPr/>
        </p:nvSpPr>
        <p:spPr>
          <a:xfrm>
            <a:off x="6616598" y="5447995"/>
            <a:ext cx="4444898" cy="291694"/>
          </a:xfrm>
          <a:prstGeom prst="rect">
            <a:avLst/>
          </a:prstGeom>
          <a:noFill/>
          <a:ln/>
        </p:spPr>
        <p:txBody>
          <a:bodyPr wrap="square" lIns="0" tIns="0" rIns="0" bIns="0" rtlCol="0" anchor="ctr"/>
          <a:lstStyle/>
          <a:p>
            <a:pPr indent="0" marL="0">
              <a:buNone/>
            </a:pPr>
            <a:r>
              <a:rPr lang="en-US" sz="1900" b="1" dirty="0">
                <a:solidFill>
                  <a:srgbClr val="0C3452"/>
                </a:solidFill>
                <a:latin typeface="Montserrat" pitchFamily="34" charset="0"/>
                <a:ea typeface="Montserrat" pitchFamily="34" charset="-122"/>
                <a:cs typeface="Montserrat" pitchFamily="34" charset="-120"/>
              </a:rPr>
              <a:t>Cumplís el horario que elegiste</a:t>
            </a:r>
            <a:endParaRPr lang="en-US" sz="1900" dirty="0"/>
          </a:p>
        </p:txBody>
      </p:sp>
      <p:sp>
        <p:nvSpPr>
          <p:cNvPr id="29" name="Text 26"/>
          <p:cNvSpPr/>
          <p:nvPr/>
        </p:nvSpPr>
        <p:spPr>
          <a:xfrm>
            <a:off x="6616598" y="5790895"/>
            <a:ext cx="4444898" cy="444398"/>
          </a:xfrm>
          <a:prstGeom prst="rect">
            <a:avLst/>
          </a:prstGeom>
          <a:noFill/>
          <a:ln/>
        </p:spPr>
        <p:txBody>
          <a:bodyPr wrap="square" lIns="0" tIns="0" rIns="0" bIns="0" rtlCol="0" anchor="ctr"/>
          <a:lstStyle/>
          <a:p>
            <a:pPr indent="0" marL="0">
              <a:lnSpc>
                <a:spcPct val="135000"/>
              </a:lnSpc>
              <a:buNone/>
            </a:pPr>
            <a:r>
              <a:rPr lang="en-US" sz="1300" dirty="0">
                <a:solidFill>
                  <a:srgbClr val="6B7280"/>
                </a:solidFill>
                <a:latin typeface="Open Sans" pitchFamily="34" charset="0"/>
                <a:ea typeface="Open Sans" pitchFamily="34" charset="-122"/>
                <a:cs typeface="Open Sans" pitchFamily="34" charset="-120"/>
              </a:rPr>
              <a:t>Del otro lado hay profesionales preparando tu caso antes de la llamada.</a:t>
            </a:r>
            <a:endParaRPr lang="en-US" sz="1300" dirty="0"/>
          </a:p>
        </p:txBody>
      </p:sp>
      <p:sp>
        <p:nvSpPr>
          <p:cNvPr id="30" name="Text 27"/>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C9D2DA"/>
                </a:solidFill>
                <a:latin typeface="Courier New" pitchFamily="34" charset="0"/>
                <a:ea typeface="Courier New" pitchFamily="34" charset="-122"/>
                <a:cs typeface="Courier New" pitchFamily="34" charset="-120"/>
              </a:rPr>
              <a:t>06 / 11</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81405" y="1561795"/>
            <a:ext cx="9232697" cy="0"/>
          </a:xfrm>
          <a:prstGeom prst="line">
            <a:avLst/>
          </a:prstGeom>
          <a:noFill/>
          <a:ln w="38100">
            <a:solidFill>
              <a:srgbClr val="C9D2DA"/>
            </a:solidFill>
            <a:prstDash val="sysDot"/>
          </a:ln>
        </p:spPr>
      </p:sp>
      <p:sp>
        <p:nvSpPr>
          <p:cNvPr id="3" name="Shape 1"/>
          <p:cNvSpPr/>
          <p:nvPr/>
        </p:nvSpPr>
        <p:spPr>
          <a:xfrm>
            <a:off x="1181405" y="1561795"/>
            <a:ext cx="9232697" cy="0"/>
          </a:xfrm>
          <a:prstGeom prst="line">
            <a:avLst/>
          </a:prstGeom>
          <a:noFill/>
          <a:ln w="50800">
            <a:solidFill>
              <a:srgbClr val="FF6602"/>
            </a:solidFill>
            <a:prstDash val="solid"/>
          </a:ln>
        </p:spPr>
      </p:sp>
      <p:sp>
        <p:nvSpPr>
          <p:cNvPr id="4" name="Shape 2"/>
          <p:cNvSpPr/>
          <p:nvPr/>
        </p:nvSpPr>
        <p:spPr>
          <a:xfrm>
            <a:off x="1098194" y="1479499"/>
            <a:ext cx="165506" cy="165506"/>
          </a:xfrm>
          <a:prstGeom prst="ellipse">
            <a:avLst/>
          </a:prstGeom>
          <a:solidFill>
            <a:srgbClr val="0C3452"/>
          </a:solidFill>
          <a:ln/>
        </p:spPr>
      </p:sp>
      <p:sp>
        <p:nvSpPr>
          <p:cNvPr id="5" name="Text 3"/>
          <p:cNvSpPr/>
          <p:nvPr/>
        </p:nvSpPr>
        <p:spPr>
          <a:xfrm>
            <a:off x="418795" y="1727302"/>
            <a:ext cx="1524305" cy="190195"/>
          </a:xfrm>
          <a:prstGeom prst="rect">
            <a:avLst/>
          </a:prstGeom>
          <a:noFill/>
          <a:ln/>
        </p:spPr>
        <p:txBody>
          <a:bodyPr wrap="square" lIns="0" tIns="0" rIns="0" bIns="0" rtlCol="0" anchor="ctr"/>
          <a:lstStyle/>
          <a:p>
            <a:pPr algn="ctr" indent="0" marL="0">
              <a:buNone/>
            </a:pPr>
            <a:r>
              <a:rPr lang="en-US" sz="1100" spc="300" kern="0" dirty="0">
                <a:solidFill>
                  <a:srgbClr val="0C3452"/>
                </a:solidFill>
                <a:latin typeface="Courier New" pitchFamily="34" charset="0"/>
                <a:ea typeface="Courier New" pitchFamily="34" charset="-122"/>
                <a:cs typeface="Courier New" pitchFamily="34" charset="-120"/>
              </a:rPr>
              <a:t>ESTÁS ACÁ</a:t>
            </a:r>
            <a:endParaRPr lang="en-US" sz="1100" dirty="0"/>
          </a:p>
        </p:txBody>
      </p:sp>
      <p:sp>
        <p:nvSpPr>
          <p:cNvPr id="6" name="Shape 4"/>
          <p:cNvSpPr/>
          <p:nvPr/>
        </p:nvSpPr>
        <p:spPr>
          <a:xfrm>
            <a:off x="3010205" y="1270102"/>
            <a:ext cx="584302" cy="584302"/>
          </a:xfrm>
          <a:prstGeom prst="ellipse">
            <a:avLst/>
          </a:prstGeom>
          <a:solidFill>
            <a:srgbClr val="FFFFFF"/>
          </a:solidFill>
          <a:ln w="38100">
            <a:solidFill>
              <a:srgbClr val="0C3452"/>
            </a:solidFill>
            <a:prstDash val="solid"/>
          </a:ln>
        </p:spPr>
      </p:sp>
      <p:sp>
        <p:nvSpPr>
          <p:cNvPr id="7" name="Shape 5"/>
          <p:cNvSpPr/>
          <p:nvPr/>
        </p:nvSpPr>
        <p:spPr>
          <a:xfrm>
            <a:off x="3467405" y="1244498"/>
            <a:ext cx="190195" cy="190195"/>
          </a:xfrm>
          <a:prstGeom prst="ellipse">
            <a:avLst/>
          </a:prstGeom>
          <a:solidFill>
            <a:srgbClr val="25D366"/>
          </a:solidFill>
          <a:ln/>
        </p:spPr>
      </p:sp>
      <p:sp>
        <p:nvSpPr>
          <p:cNvPr id="8" name="Text 6"/>
          <p:cNvSpPr/>
          <p:nvPr/>
        </p:nvSpPr>
        <p:spPr>
          <a:xfrm>
            <a:off x="3467405" y="1244498"/>
            <a:ext cx="190195" cy="190195"/>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9" name="Text 7"/>
          <p:cNvSpPr/>
          <p:nvPr/>
        </p:nvSpPr>
        <p:spPr>
          <a:xfrm>
            <a:off x="2793492" y="1891894"/>
            <a:ext cx="1015898" cy="304495"/>
          </a:xfrm>
          <a:prstGeom prst="rect">
            <a:avLst/>
          </a:prstGeom>
          <a:noFill/>
          <a:ln/>
        </p:spPr>
        <p:txBody>
          <a:bodyPr wrap="square" lIns="0" tIns="0" rIns="0" bIns="0" rtlCol="0" anchor="ctr"/>
          <a:lstStyle/>
          <a:p>
            <a:pPr algn="ctr" indent="0" marL="0">
              <a:buNone/>
            </a:pPr>
            <a:r>
              <a:rPr lang="en-US" sz="2600" b="1" dirty="0">
                <a:solidFill>
                  <a:srgbClr val="0C3452"/>
                </a:solidFill>
                <a:latin typeface="Montserrat" pitchFamily="34" charset="0"/>
                <a:ea typeface="Montserrat" pitchFamily="34" charset="-122"/>
                <a:cs typeface="Montserrat" pitchFamily="34" charset="-120"/>
              </a:rPr>
              <a:t>01</a:t>
            </a:r>
            <a:endParaRPr lang="en-US" sz="2600" dirty="0"/>
          </a:p>
        </p:txBody>
      </p:sp>
      <p:sp>
        <p:nvSpPr>
          <p:cNvPr id="10" name="Text 8"/>
          <p:cNvSpPr/>
          <p:nvPr/>
        </p:nvSpPr>
        <p:spPr>
          <a:xfrm>
            <a:off x="2158898"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APLICACIÓN</a:t>
            </a:r>
            <a:endParaRPr lang="en-US" sz="1500" dirty="0"/>
          </a:p>
        </p:txBody>
      </p:sp>
      <p:sp>
        <p:nvSpPr>
          <p:cNvPr id="11" name="Shape 9"/>
          <p:cNvSpPr/>
          <p:nvPr/>
        </p:nvSpPr>
        <p:spPr>
          <a:xfrm>
            <a:off x="6565392" y="1270102"/>
            <a:ext cx="584302" cy="584302"/>
          </a:xfrm>
          <a:prstGeom prst="ellipse">
            <a:avLst/>
          </a:prstGeom>
          <a:solidFill>
            <a:srgbClr val="FFFFFF"/>
          </a:solidFill>
          <a:ln w="38100">
            <a:solidFill>
              <a:srgbClr val="0C3452"/>
            </a:solidFill>
            <a:prstDash val="solid"/>
          </a:ln>
        </p:spPr>
      </p:sp>
      <p:sp>
        <p:nvSpPr>
          <p:cNvPr id="12" name="Shape 10"/>
          <p:cNvSpPr/>
          <p:nvPr/>
        </p:nvSpPr>
        <p:spPr>
          <a:xfrm>
            <a:off x="7022592" y="1244498"/>
            <a:ext cx="190195" cy="190195"/>
          </a:xfrm>
          <a:prstGeom prst="ellipse">
            <a:avLst/>
          </a:prstGeom>
          <a:solidFill>
            <a:srgbClr val="25D366"/>
          </a:solidFill>
          <a:ln/>
        </p:spPr>
      </p:sp>
      <p:sp>
        <p:nvSpPr>
          <p:cNvPr id="13" name="Text 11"/>
          <p:cNvSpPr/>
          <p:nvPr/>
        </p:nvSpPr>
        <p:spPr>
          <a:xfrm>
            <a:off x="7022592" y="1244498"/>
            <a:ext cx="190195" cy="190195"/>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4" name="Text 12"/>
          <p:cNvSpPr/>
          <p:nvPr/>
        </p:nvSpPr>
        <p:spPr>
          <a:xfrm>
            <a:off x="6349594" y="1891894"/>
            <a:ext cx="1015898" cy="304495"/>
          </a:xfrm>
          <a:prstGeom prst="rect">
            <a:avLst/>
          </a:prstGeom>
          <a:noFill/>
          <a:ln/>
        </p:spPr>
        <p:txBody>
          <a:bodyPr wrap="square" lIns="0" tIns="0" rIns="0" bIns="0" rtlCol="0" anchor="ctr"/>
          <a:lstStyle/>
          <a:p>
            <a:pPr algn="ctr" indent="0" marL="0">
              <a:buNone/>
            </a:pPr>
            <a:r>
              <a:rPr lang="en-US" sz="2600" b="1" dirty="0">
                <a:solidFill>
                  <a:srgbClr val="0C3452"/>
                </a:solidFill>
                <a:latin typeface="Montserrat" pitchFamily="34" charset="0"/>
                <a:ea typeface="Montserrat" pitchFamily="34" charset="-122"/>
                <a:cs typeface="Montserrat" pitchFamily="34" charset="-120"/>
              </a:rPr>
              <a:t>02</a:t>
            </a:r>
            <a:endParaRPr lang="en-US" sz="2600" dirty="0"/>
          </a:p>
        </p:txBody>
      </p:sp>
      <p:sp>
        <p:nvSpPr>
          <p:cNvPr id="15" name="Text 13"/>
          <p:cNvSpPr/>
          <p:nvPr/>
        </p:nvSpPr>
        <p:spPr>
          <a:xfrm>
            <a:off x="5715000"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ENTREVISTA</a:t>
            </a:r>
            <a:endParaRPr lang="en-US" sz="1500" dirty="0"/>
          </a:p>
        </p:txBody>
      </p:sp>
      <p:sp>
        <p:nvSpPr>
          <p:cNvPr id="16" name="Shape 14"/>
          <p:cNvSpPr/>
          <p:nvPr/>
        </p:nvSpPr>
        <p:spPr>
          <a:xfrm>
            <a:off x="10045598" y="1194206"/>
            <a:ext cx="737006" cy="737006"/>
          </a:xfrm>
          <a:prstGeom prst="ellipse">
            <a:avLst/>
          </a:prstGeom>
          <a:ln w="38100">
            <a:solidFill>
              <a:srgbClr val="FF6602"/>
            </a:solidFill>
            <a:prstDash val="solid"/>
          </a:ln>
        </p:spPr>
      </p:sp>
      <p:sp>
        <p:nvSpPr>
          <p:cNvPr id="17" name="Shape 15"/>
          <p:cNvSpPr/>
          <p:nvPr/>
        </p:nvSpPr>
        <p:spPr>
          <a:xfrm>
            <a:off x="10121494" y="1270102"/>
            <a:ext cx="584302" cy="584302"/>
          </a:xfrm>
          <a:prstGeom prst="ellipse">
            <a:avLst/>
          </a:prstGeom>
          <a:solidFill>
            <a:srgbClr val="FFFFFF"/>
          </a:solidFill>
          <a:ln w="38100">
            <a:solidFill>
              <a:srgbClr val="0C3452"/>
            </a:solidFill>
            <a:prstDash val="solid"/>
          </a:ln>
        </p:spPr>
      </p:sp>
      <p:sp>
        <p:nvSpPr>
          <p:cNvPr id="18" name="Text 16"/>
          <p:cNvSpPr/>
          <p:nvPr/>
        </p:nvSpPr>
        <p:spPr>
          <a:xfrm>
            <a:off x="9905695" y="1891894"/>
            <a:ext cx="1015898" cy="304495"/>
          </a:xfrm>
          <a:prstGeom prst="rect">
            <a:avLst/>
          </a:prstGeom>
          <a:noFill/>
          <a:ln/>
        </p:spPr>
        <p:txBody>
          <a:bodyPr wrap="square" lIns="0" tIns="0" rIns="0" bIns="0" rtlCol="0" anchor="ctr"/>
          <a:lstStyle/>
          <a:p>
            <a:pPr algn="ctr" indent="0" marL="0">
              <a:buNone/>
            </a:pPr>
            <a:r>
              <a:rPr lang="en-US" sz="2600" b="1" dirty="0">
                <a:solidFill>
                  <a:srgbClr val="FF6602"/>
                </a:solidFill>
                <a:latin typeface="Montserrat" pitchFamily="34" charset="0"/>
                <a:ea typeface="Montserrat" pitchFamily="34" charset="-122"/>
                <a:cs typeface="Montserrat" pitchFamily="34" charset="-120"/>
              </a:rPr>
              <a:t>03</a:t>
            </a:r>
            <a:endParaRPr lang="en-US" sz="2600" dirty="0"/>
          </a:p>
        </p:txBody>
      </p:sp>
      <p:sp>
        <p:nvSpPr>
          <p:cNvPr id="19" name="Text 17"/>
          <p:cNvSpPr/>
          <p:nvPr/>
        </p:nvSpPr>
        <p:spPr>
          <a:xfrm>
            <a:off x="9271102"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EL ACCESO</a:t>
            </a:r>
            <a:endParaRPr lang="en-US" sz="1500" dirty="0"/>
          </a:p>
        </p:txBody>
      </p:sp>
      <p:pic>
        <p:nvPicPr>
          <p:cNvPr id="20" name="Image 0" descr="/tmp/claude-0/-home-user-detodo/82f5030d-8aaf-57d2-9bf8-611f8273ee0c/scratchpad/pptx-nativo/img/mini-nico-marker.png">    </p:cNvPr>
          <p:cNvPicPr>
            <a:picLocks noChangeAspect="1"/>
          </p:cNvPicPr>
          <p:nvPr/>
        </p:nvPicPr>
        <p:blipFill>
          <a:blip r:embed="rId1"/>
          <a:stretch>
            <a:fillRect/>
          </a:stretch>
        </p:blipFill>
        <p:spPr>
          <a:xfrm>
            <a:off x="10019995" y="114300"/>
            <a:ext cx="787298" cy="1155802"/>
          </a:xfrm>
          <a:prstGeom prst="rect">
            <a:avLst/>
          </a:prstGeom>
        </p:spPr>
      </p:pic>
      <p:sp>
        <p:nvSpPr>
          <p:cNvPr id="21" name="Text 18"/>
          <p:cNvSpPr/>
          <p:nvPr/>
        </p:nvSpPr>
        <p:spPr>
          <a:xfrm>
            <a:off x="825703" y="4381805"/>
            <a:ext cx="5715000" cy="215798"/>
          </a:xfrm>
          <a:prstGeom prst="rect">
            <a:avLst/>
          </a:prstGeom>
          <a:noFill/>
          <a:ln/>
        </p:spPr>
        <p:txBody>
          <a:bodyPr wrap="square" lIns="0" tIns="0" rIns="0" bIns="0" rtlCol="0" anchor="ctr"/>
          <a:lstStyle/>
          <a:p>
            <a:pPr indent="0" marL="0">
              <a:buNone/>
            </a:pPr>
            <a:r>
              <a:rPr lang="en-US" sz="1300" b="1" spc="300" kern="0" dirty="0">
                <a:solidFill>
                  <a:srgbClr val="FF6602"/>
                </a:solidFill>
                <a:latin typeface="Courier New" pitchFamily="34" charset="0"/>
                <a:ea typeface="Courier New" pitchFamily="34" charset="-122"/>
                <a:cs typeface="Courier New" pitchFamily="34" charset="-120"/>
              </a:rPr>
              <a:t>PASO 03 / 03 · EL ACCESO</a:t>
            </a:r>
            <a:endParaRPr lang="en-US" sz="1300" dirty="0"/>
          </a:p>
        </p:txBody>
      </p:sp>
      <p:sp>
        <p:nvSpPr>
          <p:cNvPr id="22" name="Text 19"/>
          <p:cNvSpPr/>
          <p:nvPr/>
        </p:nvSpPr>
        <p:spPr>
          <a:xfrm>
            <a:off x="825703" y="4699102"/>
            <a:ext cx="5206594" cy="571500"/>
          </a:xfrm>
          <a:prstGeom prst="rect">
            <a:avLst/>
          </a:prstGeom>
          <a:noFill/>
          <a:ln/>
        </p:spPr>
        <p:txBody>
          <a:bodyPr wrap="square" lIns="0" tIns="0" rIns="0" bIns="0" rtlCol="0" anchor="ctr"/>
          <a:lstStyle/>
          <a:p>
            <a:pPr indent="0" marL="0">
              <a:buNone/>
            </a:pPr>
            <a:r>
              <a:rPr lang="en-US" sz="3400" b="1" spc="-50" kern="0" dirty="0">
                <a:solidFill>
                  <a:srgbClr val="0C3452"/>
                </a:solidFill>
                <a:latin typeface="Montserrat" pitchFamily="34" charset="0"/>
                <a:ea typeface="Montserrat" pitchFamily="34" charset="-122"/>
                <a:cs typeface="Montserrat" pitchFamily="34" charset="-120"/>
              </a:rPr>
              <a:t>Accedés a tu sistema</a:t>
            </a:r>
            <a:endParaRPr lang="en-US" sz="3400" dirty="0"/>
          </a:p>
        </p:txBody>
      </p:sp>
      <p:sp>
        <p:nvSpPr>
          <p:cNvPr id="23" name="Text 20"/>
          <p:cNvSpPr/>
          <p:nvPr/>
        </p:nvSpPr>
        <p:spPr>
          <a:xfrm>
            <a:off x="825703" y="5384902"/>
            <a:ext cx="5206594" cy="761695"/>
          </a:xfrm>
          <a:prstGeom prst="rect">
            <a:avLst/>
          </a:prstGeom>
          <a:noFill/>
          <a:ln/>
        </p:spPr>
        <p:txBody>
          <a:bodyPr wrap="square" lIns="0" tIns="0" rIns="0" bIns="0" rtlCol="0" anchor="ctr"/>
          <a:lstStyle/>
          <a:p>
            <a:pPr indent="0" marL="0">
              <a:lnSpc>
                <a:spcPct val="140000"/>
              </a:lnSpc>
              <a:buNone/>
            </a:pPr>
            <a:r>
              <a:rPr lang="en-US" sz="1600" dirty="0">
                <a:solidFill>
                  <a:srgbClr val="0C3452"/>
                </a:solidFill>
                <a:latin typeface="Open Sans" pitchFamily="34" charset="0"/>
                <a:ea typeface="Open Sans" pitchFamily="34" charset="-122"/>
                <a:cs typeface="Open Sans" pitchFamily="34" charset="-120"/>
              </a:rPr>
              <a:t>Si hacemos match, entrás a todo. Y no me tenés solo a mí: tenés al equipo entero atrás.</a:t>
            </a:r>
            <a:endParaRPr lang="en-US" sz="1600" dirty="0"/>
          </a:p>
        </p:txBody>
      </p:sp>
      <p:sp>
        <p:nvSpPr>
          <p:cNvPr id="24" name="Shape 21"/>
          <p:cNvSpPr/>
          <p:nvPr/>
        </p:nvSpPr>
        <p:spPr>
          <a:xfrm>
            <a:off x="6413602" y="3556102"/>
            <a:ext cx="2361895" cy="838505"/>
          </a:xfrm>
          <a:prstGeom prst="roundRect">
            <a:avLst>
              <a:gd name="adj" fmla="val 13086"/>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25" name="Text 22"/>
          <p:cNvSpPr/>
          <p:nvPr/>
        </p:nvSpPr>
        <p:spPr>
          <a:xfrm>
            <a:off x="6565392" y="3707892"/>
            <a:ext cx="381305" cy="228600"/>
          </a:xfrm>
          <a:prstGeom prst="rect">
            <a:avLst/>
          </a:prstGeom>
          <a:noFill/>
          <a:ln/>
        </p:spPr>
        <p:txBody>
          <a:bodyPr wrap="square" lIns="0" tIns="0" rIns="0" bIns="0" rtlCol="0" anchor="ctr"/>
          <a:lstStyle/>
          <a:p>
            <a:pPr indent="0" marL="0">
              <a:buNone/>
            </a:pPr>
            <a:r>
              <a:rPr lang="en-US" sz="1600" b="1" dirty="0">
                <a:solidFill>
                  <a:srgbClr val="FF6602"/>
                </a:solidFill>
                <a:latin typeface="Montserrat" pitchFamily="34" charset="0"/>
                <a:ea typeface="Montserrat" pitchFamily="34" charset="-122"/>
                <a:cs typeface="Montserrat" pitchFamily="34" charset="-120"/>
              </a:rPr>
              <a:t>01</a:t>
            </a:r>
            <a:endParaRPr lang="en-US" sz="1600" dirty="0"/>
          </a:p>
        </p:txBody>
      </p:sp>
      <p:sp>
        <p:nvSpPr>
          <p:cNvPr id="26" name="Text 23"/>
          <p:cNvSpPr/>
          <p:nvPr/>
        </p:nvSpPr>
        <p:spPr>
          <a:xfrm>
            <a:off x="6565392" y="3949294"/>
            <a:ext cx="2057400" cy="381305"/>
          </a:xfrm>
          <a:prstGeom prst="rect">
            <a:avLst/>
          </a:prstGeom>
          <a:noFill/>
          <a:ln/>
        </p:spPr>
        <p:txBody>
          <a:bodyPr wrap="square" lIns="0" tIns="0" rIns="0" bIns="0" rtlCol="0" anchor="ctr"/>
          <a:lstStyle/>
          <a:p>
            <a:pPr indent="0" marL="0">
              <a:lnSpc>
                <a:spcPct val="125000"/>
              </a:lnSpc>
              <a:buNone/>
            </a:pPr>
            <a:r>
              <a:rPr lang="en-US" sz="1400" b="1" dirty="0">
                <a:solidFill>
                  <a:srgbClr val="0C3452"/>
                </a:solidFill>
                <a:latin typeface="Montserrat" pitchFamily="34" charset="0"/>
                <a:ea typeface="Montserrat" pitchFamily="34" charset="-122"/>
                <a:cs typeface="Montserrat" pitchFamily="34" charset="-120"/>
              </a:rPr>
              <a:t>Tu coach dedicada, 1 a 1</a:t>
            </a:r>
            <a:endParaRPr lang="en-US" sz="1400" dirty="0"/>
          </a:p>
        </p:txBody>
      </p:sp>
      <p:sp>
        <p:nvSpPr>
          <p:cNvPr id="27" name="Shape 24"/>
          <p:cNvSpPr/>
          <p:nvPr/>
        </p:nvSpPr>
        <p:spPr>
          <a:xfrm>
            <a:off x="8952890" y="3556102"/>
            <a:ext cx="2361895" cy="838505"/>
          </a:xfrm>
          <a:prstGeom prst="roundRect">
            <a:avLst>
              <a:gd name="adj" fmla="val 13086"/>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28" name="Text 25"/>
          <p:cNvSpPr/>
          <p:nvPr/>
        </p:nvSpPr>
        <p:spPr>
          <a:xfrm>
            <a:off x="9105595" y="3707892"/>
            <a:ext cx="381305" cy="228600"/>
          </a:xfrm>
          <a:prstGeom prst="rect">
            <a:avLst/>
          </a:prstGeom>
          <a:noFill/>
          <a:ln/>
        </p:spPr>
        <p:txBody>
          <a:bodyPr wrap="square" lIns="0" tIns="0" rIns="0" bIns="0" rtlCol="0" anchor="ctr"/>
          <a:lstStyle/>
          <a:p>
            <a:pPr indent="0" marL="0">
              <a:buNone/>
            </a:pPr>
            <a:r>
              <a:rPr lang="en-US" sz="1600" b="1" dirty="0">
                <a:solidFill>
                  <a:srgbClr val="FF6602"/>
                </a:solidFill>
                <a:latin typeface="Montserrat" pitchFamily="34" charset="0"/>
                <a:ea typeface="Montserrat" pitchFamily="34" charset="-122"/>
                <a:cs typeface="Montserrat" pitchFamily="34" charset="-120"/>
              </a:rPr>
              <a:t>02</a:t>
            </a:r>
            <a:endParaRPr lang="en-US" sz="1600" dirty="0"/>
          </a:p>
        </p:txBody>
      </p:sp>
      <p:sp>
        <p:nvSpPr>
          <p:cNvPr id="29" name="Text 26"/>
          <p:cNvSpPr/>
          <p:nvPr/>
        </p:nvSpPr>
        <p:spPr>
          <a:xfrm>
            <a:off x="9105595" y="3949294"/>
            <a:ext cx="2057400" cy="381305"/>
          </a:xfrm>
          <a:prstGeom prst="rect">
            <a:avLst/>
          </a:prstGeom>
          <a:noFill/>
          <a:ln/>
        </p:spPr>
        <p:txBody>
          <a:bodyPr wrap="square" lIns="0" tIns="0" rIns="0" bIns="0" rtlCol="0" anchor="ctr"/>
          <a:lstStyle/>
          <a:p>
            <a:pPr indent="0" marL="0">
              <a:lnSpc>
                <a:spcPct val="125000"/>
              </a:lnSpc>
              <a:buNone/>
            </a:pPr>
            <a:r>
              <a:rPr lang="en-US" sz="1400" b="1" dirty="0">
                <a:solidFill>
                  <a:srgbClr val="0C3452"/>
                </a:solidFill>
                <a:latin typeface="Montserrat" pitchFamily="34" charset="0"/>
                <a:ea typeface="Montserrat" pitchFamily="34" charset="-122"/>
                <a:cs typeface="Montserrat" pitchFamily="34" charset="-120"/>
              </a:rPr>
              <a:t>Biblioteca de +20 módulos</a:t>
            </a:r>
            <a:endParaRPr lang="en-US" sz="1400" dirty="0"/>
          </a:p>
        </p:txBody>
      </p:sp>
      <p:sp>
        <p:nvSpPr>
          <p:cNvPr id="30" name="Shape 27"/>
          <p:cNvSpPr/>
          <p:nvPr/>
        </p:nvSpPr>
        <p:spPr>
          <a:xfrm>
            <a:off x="6413602" y="4546397"/>
            <a:ext cx="2361895" cy="838505"/>
          </a:xfrm>
          <a:prstGeom prst="roundRect">
            <a:avLst>
              <a:gd name="adj" fmla="val 13086"/>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31" name="Text 28"/>
          <p:cNvSpPr/>
          <p:nvPr/>
        </p:nvSpPr>
        <p:spPr>
          <a:xfrm>
            <a:off x="6565392" y="4699102"/>
            <a:ext cx="381305" cy="228600"/>
          </a:xfrm>
          <a:prstGeom prst="rect">
            <a:avLst/>
          </a:prstGeom>
          <a:noFill/>
          <a:ln/>
        </p:spPr>
        <p:txBody>
          <a:bodyPr wrap="square" lIns="0" tIns="0" rIns="0" bIns="0" rtlCol="0" anchor="ctr"/>
          <a:lstStyle/>
          <a:p>
            <a:pPr indent="0" marL="0">
              <a:buNone/>
            </a:pPr>
            <a:r>
              <a:rPr lang="en-US" sz="1600" b="1" dirty="0">
                <a:solidFill>
                  <a:srgbClr val="FF6602"/>
                </a:solidFill>
                <a:latin typeface="Montserrat" pitchFamily="34" charset="0"/>
                <a:ea typeface="Montserrat" pitchFamily="34" charset="-122"/>
                <a:cs typeface="Montserrat" pitchFamily="34" charset="-120"/>
              </a:rPr>
              <a:t>03</a:t>
            </a:r>
            <a:endParaRPr lang="en-US" sz="1600" dirty="0"/>
          </a:p>
        </p:txBody>
      </p:sp>
      <p:sp>
        <p:nvSpPr>
          <p:cNvPr id="32" name="Text 29"/>
          <p:cNvSpPr/>
          <p:nvPr/>
        </p:nvSpPr>
        <p:spPr>
          <a:xfrm>
            <a:off x="6565392" y="4940503"/>
            <a:ext cx="2057400" cy="381305"/>
          </a:xfrm>
          <a:prstGeom prst="rect">
            <a:avLst/>
          </a:prstGeom>
          <a:noFill/>
          <a:ln/>
        </p:spPr>
        <p:txBody>
          <a:bodyPr wrap="square" lIns="0" tIns="0" rIns="0" bIns="0" rtlCol="0" anchor="ctr"/>
          <a:lstStyle/>
          <a:p>
            <a:pPr indent="0" marL="0">
              <a:lnSpc>
                <a:spcPct val="125000"/>
              </a:lnSpc>
              <a:buNone/>
            </a:pPr>
            <a:r>
              <a:rPr lang="en-US" sz="1400" b="1" dirty="0">
                <a:solidFill>
                  <a:srgbClr val="0C3452"/>
                </a:solidFill>
                <a:latin typeface="Montserrat" pitchFamily="34" charset="0"/>
                <a:ea typeface="Montserrat" pitchFamily="34" charset="-122"/>
                <a:cs typeface="Montserrat" pitchFamily="34" charset="-120"/>
              </a:rPr>
              <a:t>Llamadas grupales en vivo</a:t>
            </a:r>
            <a:endParaRPr lang="en-US" sz="1400" dirty="0"/>
          </a:p>
        </p:txBody>
      </p:sp>
      <p:sp>
        <p:nvSpPr>
          <p:cNvPr id="33" name="Shape 30"/>
          <p:cNvSpPr/>
          <p:nvPr/>
        </p:nvSpPr>
        <p:spPr>
          <a:xfrm>
            <a:off x="8952890" y="4546397"/>
            <a:ext cx="2361895" cy="838505"/>
          </a:xfrm>
          <a:prstGeom prst="roundRect">
            <a:avLst>
              <a:gd name="adj" fmla="val 13086"/>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34" name="Text 31"/>
          <p:cNvSpPr/>
          <p:nvPr/>
        </p:nvSpPr>
        <p:spPr>
          <a:xfrm>
            <a:off x="9105595" y="4699102"/>
            <a:ext cx="381305" cy="228600"/>
          </a:xfrm>
          <a:prstGeom prst="rect">
            <a:avLst/>
          </a:prstGeom>
          <a:noFill/>
          <a:ln/>
        </p:spPr>
        <p:txBody>
          <a:bodyPr wrap="square" lIns="0" tIns="0" rIns="0" bIns="0" rtlCol="0" anchor="ctr"/>
          <a:lstStyle/>
          <a:p>
            <a:pPr indent="0" marL="0">
              <a:buNone/>
            </a:pPr>
            <a:r>
              <a:rPr lang="en-US" sz="1600" b="1" dirty="0">
                <a:solidFill>
                  <a:srgbClr val="FF6602"/>
                </a:solidFill>
                <a:latin typeface="Montserrat" pitchFamily="34" charset="0"/>
                <a:ea typeface="Montserrat" pitchFamily="34" charset="-122"/>
                <a:cs typeface="Montserrat" pitchFamily="34" charset="-120"/>
              </a:rPr>
              <a:t>04</a:t>
            </a:r>
            <a:endParaRPr lang="en-US" sz="1600" dirty="0"/>
          </a:p>
        </p:txBody>
      </p:sp>
      <p:sp>
        <p:nvSpPr>
          <p:cNvPr id="35" name="Text 32"/>
          <p:cNvSpPr/>
          <p:nvPr/>
        </p:nvSpPr>
        <p:spPr>
          <a:xfrm>
            <a:off x="9105595" y="4940503"/>
            <a:ext cx="2057400" cy="381305"/>
          </a:xfrm>
          <a:prstGeom prst="rect">
            <a:avLst/>
          </a:prstGeom>
          <a:noFill/>
          <a:ln/>
        </p:spPr>
        <p:txBody>
          <a:bodyPr wrap="square" lIns="0" tIns="0" rIns="0" bIns="0" rtlCol="0" anchor="ctr"/>
          <a:lstStyle/>
          <a:p>
            <a:pPr indent="0" marL="0">
              <a:lnSpc>
                <a:spcPct val="125000"/>
              </a:lnSpc>
              <a:buNone/>
            </a:pPr>
            <a:r>
              <a:rPr lang="en-US" sz="1400" b="1" dirty="0">
                <a:solidFill>
                  <a:srgbClr val="0C3452"/>
                </a:solidFill>
                <a:latin typeface="Montserrat" pitchFamily="34" charset="0"/>
                <a:ea typeface="Montserrat" pitchFamily="34" charset="-122"/>
                <a:cs typeface="Montserrat" pitchFamily="34" charset="-120"/>
              </a:rPr>
              <a:t>Comunidad + mastermind presencial</a:t>
            </a:r>
            <a:endParaRPr lang="en-US" sz="1400" dirty="0"/>
          </a:p>
        </p:txBody>
      </p:sp>
      <p:sp>
        <p:nvSpPr>
          <p:cNvPr id="36" name="Shape 33"/>
          <p:cNvSpPr/>
          <p:nvPr/>
        </p:nvSpPr>
        <p:spPr>
          <a:xfrm>
            <a:off x="6413602" y="5536692"/>
            <a:ext cx="2361895" cy="838505"/>
          </a:xfrm>
          <a:prstGeom prst="roundRect">
            <a:avLst>
              <a:gd name="adj" fmla="val 13086"/>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37" name="Text 34"/>
          <p:cNvSpPr/>
          <p:nvPr/>
        </p:nvSpPr>
        <p:spPr>
          <a:xfrm>
            <a:off x="6565392" y="5689397"/>
            <a:ext cx="381305" cy="228600"/>
          </a:xfrm>
          <a:prstGeom prst="rect">
            <a:avLst/>
          </a:prstGeom>
          <a:noFill/>
          <a:ln/>
        </p:spPr>
        <p:txBody>
          <a:bodyPr wrap="square" lIns="0" tIns="0" rIns="0" bIns="0" rtlCol="0" anchor="ctr"/>
          <a:lstStyle/>
          <a:p>
            <a:pPr indent="0" marL="0">
              <a:buNone/>
            </a:pPr>
            <a:r>
              <a:rPr lang="en-US" sz="1600" b="1" dirty="0">
                <a:solidFill>
                  <a:srgbClr val="FF6602"/>
                </a:solidFill>
                <a:latin typeface="Montserrat" pitchFamily="34" charset="0"/>
                <a:ea typeface="Montserrat" pitchFamily="34" charset="-122"/>
                <a:cs typeface="Montserrat" pitchFamily="34" charset="-120"/>
              </a:rPr>
              <a:t>05</a:t>
            </a:r>
            <a:endParaRPr lang="en-US" sz="1600" dirty="0"/>
          </a:p>
        </p:txBody>
      </p:sp>
      <p:sp>
        <p:nvSpPr>
          <p:cNvPr id="38" name="Text 35"/>
          <p:cNvSpPr/>
          <p:nvPr/>
        </p:nvSpPr>
        <p:spPr>
          <a:xfrm>
            <a:off x="6565392" y="5930798"/>
            <a:ext cx="2057400" cy="381305"/>
          </a:xfrm>
          <a:prstGeom prst="rect">
            <a:avLst/>
          </a:prstGeom>
          <a:noFill/>
          <a:ln/>
        </p:spPr>
        <p:txBody>
          <a:bodyPr wrap="square" lIns="0" tIns="0" rIns="0" bIns="0" rtlCol="0" anchor="ctr"/>
          <a:lstStyle/>
          <a:p>
            <a:pPr indent="0" marL="0">
              <a:lnSpc>
                <a:spcPct val="125000"/>
              </a:lnSpc>
              <a:buNone/>
            </a:pPr>
            <a:r>
              <a:rPr lang="en-US" sz="1400" b="1" dirty="0">
                <a:solidFill>
                  <a:srgbClr val="0C3452"/>
                </a:solidFill>
                <a:latin typeface="Montserrat" pitchFamily="34" charset="0"/>
                <a:ea typeface="Montserrat" pitchFamily="34" charset="-122"/>
                <a:cs typeface="Montserrat" pitchFamily="34" charset="-120"/>
              </a:rPr>
              <a:t>Equipo multidisciplinario</a:t>
            </a:r>
            <a:endParaRPr lang="en-US" sz="1400" dirty="0"/>
          </a:p>
        </p:txBody>
      </p:sp>
      <p:sp>
        <p:nvSpPr>
          <p:cNvPr id="39" name="Shape 36"/>
          <p:cNvSpPr/>
          <p:nvPr/>
        </p:nvSpPr>
        <p:spPr>
          <a:xfrm>
            <a:off x="8952890" y="5536692"/>
            <a:ext cx="2361895" cy="838505"/>
          </a:xfrm>
          <a:prstGeom prst="roundRect">
            <a:avLst>
              <a:gd name="adj" fmla="val 13086"/>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40" name="Text 37"/>
          <p:cNvSpPr/>
          <p:nvPr/>
        </p:nvSpPr>
        <p:spPr>
          <a:xfrm>
            <a:off x="9105595" y="5689397"/>
            <a:ext cx="381305" cy="228600"/>
          </a:xfrm>
          <a:prstGeom prst="rect">
            <a:avLst/>
          </a:prstGeom>
          <a:noFill/>
          <a:ln/>
        </p:spPr>
        <p:txBody>
          <a:bodyPr wrap="square" lIns="0" tIns="0" rIns="0" bIns="0" rtlCol="0" anchor="ctr"/>
          <a:lstStyle/>
          <a:p>
            <a:pPr indent="0" marL="0">
              <a:buNone/>
            </a:pPr>
            <a:r>
              <a:rPr lang="en-US" sz="1600" b="1" dirty="0">
                <a:solidFill>
                  <a:srgbClr val="FF6602"/>
                </a:solidFill>
                <a:latin typeface="Montserrat" pitchFamily="34" charset="0"/>
                <a:ea typeface="Montserrat" pitchFamily="34" charset="-122"/>
                <a:cs typeface="Montserrat" pitchFamily="34" charset="-120"/>
              </a:rPr>
              <a:t>06</a:t>
            </a:r>
            <a:endParaRPr lang="en-US" sz="1600" dirty="0"/>
          </a:p>
        </p:txBody>
      </p:sp>
      <p:sp>
        <p:nvSpPr>
          <p:cNvPr id="41" name="Text 38"/>
          <p:cNvSpPr/>
          <p:nvPr/>
        </p:nvSpPr>
        <p:spPr>
          <a:xfrm>
            <a:off x="9105595" y="5930798"/>
            <a:ext cx="2057400" cy="381305"/>
          </a:xfrm>
          <a:prstGeom prst="rect">
            <a:avLst/>
          </a:prstGeom>
          <a:noFill/>
          <a:ln/>
        </p:spPr>
        <p:txBody>
          <a:bodyPr wrap="square" lIns="0" tIns="0" rIns="0" bIns="0" rtlCol="0" anchor="ctr"/>
          <a:lstStyle/>
          <a:p>
            <a:pPr indent="0" marL="0">
              <a:lnSpc>
                <a:spcPct val="125000"/>
              </a:lnSpc>
              <a:buNone/>
            </a:pPr>
            <a:r>
              <a:rPr lang="en-US" sz="1400" b="1" dirty="0">
                <a:solidFill>
                  <a:srgbClr val="0C3452"/>
                </a:solidFill>
                <a:latin typeface="Montserrat" pitchFamily="34" charset="0"/>
                <a:ea typeface="Montserrat" pitchFamily="34" charset="-122"/>
                <a:cs typeface="Montserrat" pitchFamily="34" charset="-120"/>
              </a:rPr>
              <a:t>Método y sistemas listos</a:t>
            </a:r>
            <a:endParaRPr lang="en-US" sz="1400" dirty="0"/>
          </a:p>
        </p:txBody>
      </p:sp>
      <p:sp>
        <p:nvSpPr>
          <p:cNvPr id="42" name="Text 39"/>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C9D2DA"/>
                </a:solidFill>
                <a:latin typeface="Courier New" pitchFamily="34" charset="0"/>
                <a:ea typeface="Courier New" pitchFamily="34" charset="-122"/>
                <a:cs typeface="Courier New" pitchFamily="34" charset="-120"/>
              </a:rPr>
              <a:t>07 / 11</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81405" y="1561795"/>
            <a:ext cx="9232697" cy="0"/>
          </a:xfrm>
          <a:prstGeom prst="line">
            <a:avLst/>
          </a:prstGeom>
          <a:noFill/>
          <a:ln w="38100">
            <a:solidFill>
              <a:srgbClr val="C9D2DA"/>
            </a:solidFill>
            <a:prstDash val="sysDot"/>
          </a:ln>
        </p:spPr>
      </p:sp>
      <p:sp>
        <p:nvSpPr>
          <p:cNvPr id="3" name="Shape 1"/>
          <p:cNvSpPr/>
          <p:nvPr/>
        </p:nvSpPr>
        <p:spPr>
          <a:xfrm>
            <a:off x="1181405" y="1561795"/>
            <a:ext cx="9232697" cy="0"/>
          </a:xfrm>
          <a:prstGeom prst="line">
            <a:avLst/>
          </a:prstGeom>
          <a:noFill/>
          <a:ln w="50800">
            <a:solidFill>
              <a:srgbClr val="FF6602"/>
            </a:solidFill>
            <a:prstDash val="solid"/>
          </a:ln>
        </p:spPr>
      </p:sp>
      <p:sp>
        <p:nvSpPr>
          <p:cNvPr id="4" name="Shape 2"/>
          <p:cNvSpPr/>
          <p:nvPr/>
        </p:nvSpPr>
        <p:spPr>
          <a:xfrm>
            <a:off x="1098194" y="1479499"/>
            <a:ext cx="165506" cy="165506"/>
          </a:xfrm>
          <a:prstGeom prst="ellipse">
            <a:avLst/>
          </a:prstGeom>
          <a:solidFill>
            <a:srgbClr val="0C3452"/>
          </a:solidFill>
          <a:ln/>
        </p:spPr>
      </p:sp>
      <p:sp>
        <p:nvSpPr>
          <p:cNvPr id="5" name="Text 3"/>
          <p:cNvSpPr/>
          <p:nvPr/>
        </p:nvSpPr>
        <p:spPr>
          <a:xfrm>
            <a:off x="418795" y="1727302"/>
            <a:ext cx="1524305" cy="190195"/>
          </a:xfrm>
          <a:prstGeom prst="rect">
            <a:avLst/>
          </a:prstGeom>
          <a:noFill/>
          <a:ln/>
        </p:spPr>
        <p:txBody>
          <a:bodyPr wrap="square" lIns="0" tIns="0" rIns="0" bIns="0" rtlCol="0" anchor="ctr"/>
          <a:lstStyle/>
          <a:p>
            <a:pPr algn="ctr" indent="0" marL="0">
              <a:buNone/>
            </a:pPr>
            <a:r>
              <a:rPr lang="en-US" sz="1100" spc="300" kern="0" dirty="0">
                <a:solidFill>
                  <a:srgbClr val="0C3452"/>
                </a:solidFill>
                <a:latin typeface="Courier New" pitchFamily="34" charset="0"/>
                <a:ea typeface="Courier New" pitchFamily="34" charset="-122"/>
                <a:cs typeface="Courier New" pitchFamily="34" charset="-120"/>
              </a:rPr>
              <a:t>ESTÁS ACÁ</a:t>
            </a:r>
            <a:endParaRPr lang="en-US" sz="1100" dirty="0"/>
          </a:p>
        </p:txBody>
      </p:sp>
      <p:sp>
        <p:nvSpPr>
          <p:cNvPr id="6" name="Shape 4"/>
          <p:cNvSpPr/>
          <p:nvPr/>
        </p:nvSpPr>
        <p:spPr>
          <a:xfrm>
            <a:off x="3010205" y="1270102"/>
            <a:ext cx="584302" cy="584302"/>
          </a:xfrm>
          <a:prstGeom prst="ellipse">
            <a:avLst/>
          </a:prstGeom>
          <a:solidFill>
            <a:srgbClr val="FFFFFF"/>
          </a:solidFill>
          <a:ln w="38100">
            <a:solidFill>
              <a:srgbClr val="0C3452"/>
            </a:solidFill>
            <a:prstDash val="solid"/>
          </a:ln>
        </p:spPr>
      </p:sp>
      <p:sp>
        <p:nvSpPr>
          <p:cNvPr id="7" name="Shape 5"/>
          <p:cNvSpPr/>
          <p:nvPr/>
        </p:nvSpPr>
        <p:spPr>
          <a:xfrm>
            <a:off x="3467405" y="1244498"/>
            <a:ext cx="190195" cy="190195"/>
          </a:xfrm>
          <a:prstGeom prst="ellipse">
            <a:avLst/>
          </a:prstGeom>
          <a:solidFill>
            <a:srgbClr val="25D366"/>
          </a:solidFill>
          <a:ln/>
        </p:spPr>
      </p:sp>
      <p:sp>
        <p:nvSpPr>
          <p:cNvPr id="8" name="Text 6"/>
          <p:cNvSpPr/>
          <p:nvPr/>
        </p:nvSpPr>
        <p:spPr>
          <a:xfrm>
            <a:off x="3467405" y="1244498"/>
            <a:ext cx="190195" cy="190195"/>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9" name="Text 7"/>
          <p:cNvSpPr/>
          <p:nvPr/>
        </p:nvSpPr>
        <p:spPr>
          <a:xfrm>
            <a:off x="2793492" y="1891894"/>
            <a:ext cx="1015898" cy="304495"/>
          </a:xfrm>
          <a:prstGeom prst="rect">
            <a:avLst/>
          </a:prstGeom>
          <a:noFill/>
          <a:ln/>
        </p:spPr>
        <p:txBody>
          <a:bodyPr wrap="square" lIns="0" tIns="0" rIns="0" bIns="0" rtlCol="0" anchor="ctr"/>
          <a:lstStyle/>
          <a:p>
            <a:pPr algn="ctr" indent="0" marL="0">
              <a:buNone/>
            </a:pPr>
            <a:r>
              <a:rPr lang="en-US" sz="2600" b="1" dirty="0">
                <a:solidFill>
                  <a:srgbClr val="0C3452"/>
                </a:solidFill>
                <a:latin typeface="Montserrat" pitchFamily="34" charset="0"/>
                <a:ea typeface="Montserrat" pitchFamily="34" charset="-122"/>
                <a:cs typeface="Montserrat" pitchFamily="34" charset="-120"/>
              </a:rPr>
              <a:t>01</a:t>
            </a:r>
            <a:endParaRPr lang="en-US" sz="2600" dirty="0"/>
          </a:p>
        </p:txBody>
      </p:sp>
      <p:sp>
        <p:nvSpPr>
          <p:cNvPr id="10" name="Text 8"/>
          <p:cNvSpPr/>
          <p:nvPr/>
        </p:nvSpPr>
        <p:spPr>
          <a:xfrm>
            <a:off x="2158898"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APLICACIÓN</a:t>
            </a:r>
            <a:endParaRPr lang="en-US" sz="1500" dirty="0"/>
          </a:p>
        </p:txBody>
      </p:sp>
      <p:sp>
        <p:nvSpPr>
          <p:cNvPr id="11" name="Shape 9"/>
          <p:cNvSpPr/>
          <p:nvPr/>
        </p:nvSpPr>
        <p:spPr>
          <a:xfrm>
            <a:off x="6565392" y="1270102"/>
            <a:ext cx="584302" cy="584302"/>
          </a:xfrm>
          <a:prstGeom prst="ellipse">
            <a:avLst/>
          </a:prstGeom>
          <a:solidFill>
            <a:srgbClr val="FFFFFF"/>
          </a:solidFill>
          <a:ln w="38100">
            <a:solidFill>
              <a:srgbClr val="0C3452"/>
            </a:solidFill>
            <a:prstDash val="solid"/>
          </a:ln>
        </p:spPr>
      </p:sp>
      <p:sp>
        <p:nvSpPr>
          <p:cNvPr id="12" name="Shape 10"/>
          <p:cNvSpPr/>
          <p:nvPr/>
        </p:nvSpPr>
        <p:spPr>
          <a:xfrm>
            <a:off x="7022592" y="1244498"/>
            <a:ext cx="190195" cy="190195"/>
          </a:xfrm>
          <a:prstGeom prst="ellipse">
            <a:avLst/>
          </a:prstGeom>
          <a:solidFill>
            <a:srgbClr val="25D366"/>
          </a:solidFill>
          <a:ln/>
        </p:spPr>
      </p:sp>
      <p:sp>
        <p:nvSpPr>
          <p:cNvPr id="13" name="Text 11"/>
          <p:cNvSpPr/>
          <p:nvPr/>
        </p:nvSpPr>
        <p:spPr>
          <a:xfrm>
            <a:off x="7022592" y="1244498"/>
            <a:ext cx="190195" cy="190195"/>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4" name="Text 12"/>
          <p:cNvSpPr/>
          <p:nvPr/>
        </p:nvSpPr>
        <p:spPr>
          <a:xfrm>
            <a:off x="6349594" y="1891894"/>
            <a:ext cx="1015898" cy="304495"/>
          </a:xfrm>
          <a:prstGeom prst="rect">
            <a:avLst/>
          </a:prstGeom>
          <a:noFill/>
          <a:ln/>
        </p:spPr>
        <p:txBody>
          <a:bodyPr wrap="square" lIns="0" tIns="0" rIns="0" bIns="0" rtlCol="0" anchor="ctr"/>
          <a:lstStyle/>
          <a:p>
            <a:pPr algn="ctr" indent="0" marL="0">
              <a:buNone/>
            </a:pPr>
            <a:r>
              <a:rPr lang="en-US" sz="2600" b="1" dirty="0">
                <a:solidFill>
                  <a:srgbClr val="0C3452"/>
                </a:solidFill>
                <a:latin typeface="Montserrat" pitchFamily="34" charset="0"/>
                <a:ea typeface="Montserrat" pitchFamily="34" charset="-122"/>
                <a:cs typeface="Montserrat" pitchFamily="34" charset="-120"/>
              </a:rPr>
              <a:t>02</a:t>
            </a:r>
            <a:endParaRPr lang="en-US" sz="2600" dirty="0"/>
          </a:p>
        </p:txBody>
      </p:sp>
      <p:sp>
        <p:nvSpPr>
          <p:cNvPr id="15" name="Text 13"/>
          <p:cNvSpPr/>
          <p:nvPr/>
        </p:nvSpPr>
        <p:spPr>
          <a:xfrm>
            <a:off x="5715000"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ENTREVISTA</a:t>
            </a:r>
            <a:endParaRPr lang="en-US" sz="1500" dirty="0"/>
          </a:p>
        </p:txBody>
      </p:sp>
      <p:sp>
        <p:nvSpPr>
          <p:cNvPr id="16" name="Shape 14"/>
          <p:cNvSpPr/>
          <p:nvPr/>
        </p:nvSpPr>
        <p:spPr>
          <a:xfrm>
            <a:off x="10045598" y="1194206"/>
            <a:ext cx="737006" cy="737006"/>
          </a:xfrm>
          <a:prstGeom prst="ellipse">
            <a:avLst/>
          </a:prstGeom>
          <a:ln w="38100">
            <a:solidFill>
              <a:srgbClr val="FF6602"/>
            </a:solidFill>
            <a:prstDash val="solid"/>
          </a:ln>
        </p:spPr>
      </p:sp>
      <p:sp>
        <p:nvSpPr>
          <p:cNvPr id="17" name="Shape 15"/>
          <p:cNvSpPr/>
          <p:nvPr/>
        </p:nvSpPr>
        <p:spPr>
          <a:xfrm>
            <a:off x="10121494" y="1270102"/>
            <a:ext cx="584302" cy="584302"/>
          </a:xfrm>
          <a:prstGeom prst="ellipse">
            <a:avLst/>
          </a:prstGeom>
          <a:solidFill>
            <a:srgbClr val="FFFFFF"/>
          </a:solidFill>
          <a:ln w="38100">
            <a:solidFill>
              <a:srgbClr val="0C3452"/>
            </a:solidFill>
            <a:prstDash val="solid"/>
          </a:ln>
        </p:spPr>
      </p:sp>
      <p:sp>
        <p:nvSpPr>
          <p:cNvPr id="18" name="Text 16"/>
          <p:cNvSpPr/>
          <p:nvPr/>
        </p:nvSpPr>
        <p:spPr>
          <a:xfrm>
            <a:off x="9905695" y="1891894"/>
            <a:ext cx="1015898" cy="304495"/>
          </a:xfrm>
          <a:prstGeom prst="rect">
            <a:avLst/>
          </a:prstGeom>
          <a:noFill/>
          <a:ln/>
        </p:spPr>
        <p:txBody>
          <a:bodyPr wrap="square" lIns="0" tIns="0" rIns="0" bIns="0" rtlCol="0" anchor="ctr"/>
          <a:lstStyle/>
          <a:p>
            <a:pPr algn="ctr" indent="0" marL="0">
              <a:buNone/>
            </a:pPr>
            <a:r>
              <a:rPr lang="en-US" sz="2600" b="1" dirty="0">
                <a:solidFill>
                  <a:srgbClr val="FF6602"/>
                </a:solidFill>
                <a:latin typeface="Montserrat" pitchFamily="34" charset="0"/>
                <a:ea typeface="Montserrat" pitchFamily="34" charset="-122"/>
                <a:cs typeface="Montserrat" pitchFamily="34" charset="-120"/>
              </a:rPr>
              <a:t>03</a:t>
            </a:r>
            <a:endParaRPr lang="en-US" sz="2600" dirty="0"/>
          </a:p>
        </p:txBody>
      </p:sp>
      <p:sp>
        <p:nvSpPr>
          <p:cNvPr id="19" name="Text 17"/>
          <p:cNvSpPr/>
          <p:nvPr/>
        </p:nvSpPr>
        <p:spPr>
          <a:xfrm>
            <a:off x="9271102" y="2184502"/>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EL ACCESO</a:t>
            </a:r>
            <a:endParaRPr lang="en-US" sz="1500" dirty="0"/>
          </a:p>
        </p:txBody>
      </p:sp>
      <p:pic>
        <p:nvPicPr>
          <p:cNvPr id="20" name="Image 0" descr="/tmp/claude-0/-home-user-detodo/82f5030d-8aaf-57d2-9bf8-611f8273ee0c/scratchpad/pptx-nativo/img/mini-nico-marker.png">    </p:cNvPr>
          <p:cNvPicPr>
            <a:picLocks noChangeAspect="1"/>
          </p:cNvPicPr>
          <p:nvPr/>
        </p:nvPicPr>
        <p:blipFill>
          <a:blip r:embed="rId1"/>
          <a:stretch>
            <a:fillRect/>
          </a:stretch>
        </p:blipFill>
        <p:spPr>
          <a:xfrm>
            <a:off x="10019995" y="114300"/>
            <a:ext cx="787298" cy="1155802"/>
          </a:xfrm>
          <a:prstGeom prst="rect">
            <a:avLst/>
          </a:prstGeom>
        </p:spPr>
      </p:pic>
      <p:sp>
        <p:nvSpPr>
          <p:cNvPr id="21" name="Text 18"/>
          <p:cNvSpPr/>
          <p:nvPr/>
        </p:nvSpPr>
        <p:spPr>
          <a:xfrm>
            <a:off x="825703" y="4381805"/>
            <a:ext cx="5715000" cy="215798"/>
          </a:xfrm>
          <a:prstGeom prst="rect">
            <a:avLst/>
          </a:prstGeom>
          <a:noFill/>
          <a:ln/>
        </p:spPr>
        <p:txBody>
          <a:bodyPr wrap="square" lIns="0" tIns="0" rIns="0" bIns="0" rtlCol="0" anchor="ctr"/>
          <a:lstStyle/>
          <a:p>
            <a:pPr indent="0" marL="0">
              <a:buNone/>
            </a:pPr>
            <a:r>
              <a:rPr lang="en-US" sz="1300" b="1" spc="300" kern="0" dirty="0">
                <a:solidFill>
                  <a:srgbClr val="FF6602"/>
                </a:solidFill>
                <a:latin typeface="Courier New" pitchFamily="34" charset="0"/>
                <a:ea typeface="Courier New" pitchFamily="34" charset="-122"/>
                <a:cs typeface="Courier New" pitchFamily="34" charset="-120"/>
              </a:rPr>
              <a:t>PASO 03 / 03 · EL ACCESO</a:t>
            </a:r>
            <a:endParaRPr lang="en-US" sz="1300" dirty="0"/>
          </a:p>
        </p:txBody>
      </p:sp>
      <p:sp>
        <p:nvSpPr>
          <p:cNvPr id="22" name="Text 19"/>
          <p:cNvSpPr/>
          <p:nvPr/>
        </p:nvSpPr>
        <p:spPr>
          <a:xfrm>
            <a:off x="825703" y="4699102"/>
            <a:ext cx="5206594" cy="571500"/>
          </a:xfrm>
          <a:prstGeom prst="rect">
            <a:avLst/>
          </a:prstGeom>
          <a:noFill/>
          <a:ln/>
        </p:spPr>
        <p:txBody>
          <a:bodyPr wrap="square" lIns="0" tIns="0" rIns="0" bIns="0" rtlCol="0" anchor="ctr"/>
          <a:lstStyle/>
          <a:p>
            <a:pPr indent="0" marL="0">
              <a:buNone/>
            </a:pPr>
            <a:r>
              <a:rPr lang="en-US" sz="3400" b="1" spc="-50" kern="0" dirty="0">
                <a:solidFill>
                  <a:srgbClr val="0C3452"/>
                </a:solidFill>
                <a:latin typeface="Montserrat" pitchFamily="34" charset="0"/>
                <a:ea typeface="Montserrat" pitchFamily="34" charset="-122"/>
                <a:cs typeface="Montserrat" pitchFamily="34" charset="-120"/>
              </a:rPr>
              <a:t>Y si no hacemos match</a:t>
            </a:r>
            <a:endParaRPr lang="en-US" sz="3400" dirty="0"/>
          </a:p>
        </p:txBody>
      </p:sp>
      <p:sp>
        <p:nvSpPr>
          <p:cNvPr id="23" name="Text 20"/>
          <p:cNvSpPr/>
          <p:nvPr/>
        </p:nvSpPr>
        <p:spPr>
          <a:xfrm>
            <a:off x="825703" y="5384902"/>
            <a:ext cx="5206594" cy="761695"/>
          </a:xfrm>
          <a:prstGeom prst="rect">
            <a:avLst/>
          </a:prstGeom>
          <a:noFill/>
          <a:ln/>
        </p:spPr>
        <p:txBody>
          <a:bodyPr wrap="square" lIns="0" tIns="0" rIns="0" bIns="0" rtlCol="0" anchor="ctr"/>
          <a:lstStyle/>
          <a:p>
            <a:pPr indent="0" marL="0">
              <a:lnSpc>
                <a:spcPct val="140000"/>
              </a:lnSpc>
              <a:buNone/>
            </a:pPr>
            <a:r>
              <a:rPr lang="en-US" sz="1600" dirty="0">
                <a:solidFill>
                  <a:srgbClr val="0C3452"/>
                </a:solidFill>
                <a:latin typeface="Open Sans" pitchFamily="34" charset="0"/>
                <a:ea typeface="Open Sans" pitchFamily="34" charset="-122"/>
                <a:cs typeface="Open Sans" pitchFamily="34" charset="-120"/>
              </a:rPr>
              <a:t>Te llevás igual tu entregable, preparado con el autodiagnóstico que hiciste en el paso uno.</a:t>
            </a:r>
            <a:endParaRPr lang="en-US" sz="1600" dirty="0"/>
          </a:p>
        </p:txBody>
      </p:sp>
      <p:sp>
        <p:nvSpPr>
          <p:cNvPr id="24" name="Shape 21"/>
          <p:cNvSpPr/>
          <p:nvPr/>
        </p:nvSpPr>
        <p:spPr>
          <a:xfrm>
            <a:off x="6413602" y="3556102"/>
            <a:ext cx="2349094" cy="2920594"/>
          </a:xfrm>
          <a:prstGeom prst="roundRect">
            <a:avLst>
              <a:gd name="adj" fmla="val 4671"/>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25" name="Text 22"/>
          <p:cNvSpPr/>
          <p:nvPr/>
        </p:nvSpPr>
        <p:spPr>
          <a:xfrm>
            <a:off x="6590995" y="3733495"/>
            <a:ext cx="1968703" cy="228600"/>
          </a:xfrm>
          <a:prstGeom prst="rect">
            <a:avLst/>
          </a:prstGeom>
          <a:noFill/>
          <a:ln/>
        </p:spPr>
        <p:txBody>
          <a:bodyPr wrap="square" lIns="0" tIns="0" rIns="0" bIns="0" rtlCol="0" anchor="ctr"/>
          <a:lstStyle/>
          <a:p>
            <a:pPr indent="0" marL="0">
              <a:buNone/>
            </a:pPr>
            <a:r>
              <a:rPr lang="en-US" sz="1400" b="1" dirty="0">
                <a:solidFill>
                  <a:srgbClr val="0C3452"/>
                </a:solidFill>
                <a:latin typeface="Montserrat" pitchFamily="34" charset="0"/>
                <a:ea typeface="Montserrat" pitchFamily="34" charset="-122"/>
                <a:cs typeface="Montserrat" pitchFamily="34" charset="-120"/>
              </a:rPr>
              <a:t>Habit Tracker</a:t>
            </a:r>
            <a:endParaRPr lang="en-US" sz="1400" dirty="0"/>
          </a:p>
        </p:txBody>
      </p:sp>
      <p:sp>
        <p:nvSpPr>
          <p:cNvPr id="26" name="Shape 23"/>
          <p:cNvSpPr/>
          <p:nvPr/>
        </p:nvSpPr>
        <p:spPr>
          <a:xfrm>
            <a:off x="6590995" y="4063594"/>
            <a:ext cx="215798" cy="215798"/>
          </a:xfrm>
          <a:prstGeom prst="roundRect">
            <a:avLst>
              <a:gd name="adj" fmla="val 16949"/>
            </a:avLst>
          </a:prstGeom>
          <a:solidFill>
            <a:srgbClr val="FF6602"/>
          </a:solidFill>
          <a:ln w="12700">
            <a:solidFill>
              <a:srgbClr val="E2E8F0"/>
            </a:solidFill>
            <a:prstDash val="solid"/>
          </a:ln>
        </p:spPr>
      </p:sp>
      <p:sp>
        <p:nvSpPr>
          <p:cNvPr id="27" name="Shape 24"/>
          <p:cNvSpPr/>
          <p:nvPr/>
        </p:nvSpPr>
        <p:spPr>
          <a:xfrm>
            <a:off x="6870802" y="4063594"/>
            <a:ext cx="215798" cy="215798"/>
          </a:xfrm>
          <a:prstGeom prst="roundRect">
            <a:avLst>
              <a:gd name="adj" fmla="val 16949"/>
            </a:avLst>
          </a:prstGeom>
          <a:solidFill>
            <a:srgbClr val="F4F7FA"/>
          </a:solidFill>
          <a:ln w="12700">
            <a:solidFill>
              <a:srgbClr val="E2E8F0"/>
            </a:solidFill>
            <a:prstDash val="solid"/>
          </a:ln>
        </p:spPr>
      </p:sp>
      <p:sp>
        <p:nvSpPr>
          <p:cNvPr id="28" name="Shape 25"/>
          <p:cNvSpPr/>
          <p:nvPr/>
        </p:nvSpPr>
        <p:spPr>
          <a:xfrm>
            <a:off x="7149694" y="4063594"/>
            <a:ext cx="215798" cy="215798"/>
          </a:xfrm>
          <a:prstGeom prst="roundRect">
            <a:avLst>
              <a:gd name="adj" fmla="val 16949"/>
            </a:avLst>
          </a:prstGeom>
          <a:solidFill>
            <a:srgbClr val="F4F7FA"/>
          </a:solidFill>
          <a:ln w="12700">
            <a:solidFill>
              <a:srgbClr val="E2E8F0"/>
            </a:solidFill>
            <a:prstDash val="solid"/>
          </a:ln>
        </p:spPr>
      </p:sp>
      <p:sp>
        <p:nvSpPr>
          <p:cNvPr id="29" name="Shape 26"/>
          <p:cNvSpPr/>
          <p:nvPr/>
        </p:nvSpPr>
        <p:spPr>
          <a:xfrm>
            <a:off x="7429500" y="4063594"/>
            <a:ext cx="215798" cy="215798"/>
          </a:xfrm>
          <a:prstGeom prst="roundRect">
            <a:avLst>
              <a:gd name="adj" fmla="val 16949"/>
            </a:avLst>
          </a:prstGeom>
          <a:solidFill>
            <a:srgbClr val="FF6602"/>
          </a:solidFill>
          <a:ln w="12700">
            <a:solidFill>
              <a:srgbClr val="E2E8F0"/>
            </a:solidFill>
            <a:prstDash val="solid"/>
          </a:ln>
        </p:spPr>
      </p:sp>
      <p:sp>
        <p:nvSpPr>
          <p:cNvPr id="30" name="Shape 27"/>
          <p:cNvSpPr/>
          <p:nvPr/>
        </p:nvSpPr>
        <p:spPr>
          <a:xfrm>
            <a:off x="7708392" y="4063594"/>
            <a:ext cx="215798" cy="215798"/>
          </a:xfrm>
          <a:prstGeom prst="roundRect">
            <a:avLst>
              <a:gd name="adj" fmla="val 16949"/>
            </a:avLst>
          </a:prstGeom>
          <a:solidFill>
            <a:srgbClr val="F4F7FA"/>
          </a:solidFill>
          <a:ln w="12700">
            <a:solidFill>
              <a:srgbClr val="E2E8F0"/>
            </a:solidFill>
            <a:prstDash val="solid"/>
          </a:ln>
        </p:spPr>
      </p:sp>
      <p:sp>
        <p:nvSpPr>
          <p:cNvPr id="31" name="Shape 28"/>
          <p:cNvSpPr/>
          <p:nvPr/>
        </p:nvSpPr>
        <p:spPr>
          <a:xfrm>
            <a:off x="7988198" y="4063594"/>
            <a:ext cx="215798" cy="215798"/>
          </a:xfrm>
          <a:prstGeom prst="roundRect">
            <a:avLst>
              <a:gd name="adj" fmla="val 16949"/>
            </a:avLst>
          </a:prstGeom>
          <a:solidFill>
            <a:srgbClr val="F4F7FA"/>
          </a:solidFill>
          <a:ln w="12700">
            <a:solidFill>
              <a:srgbClr val="E2E8F0"/>
            </a:solidFill>
            <a:prstDash val="solid"/>
          </a:ln>
        </p:spPr>
      </p:sp>
      <p:sp>
        <p:nvSpPr>
          <p:cNvPr id="32" name="Shape 29"/>
          <p:cNvSpPr/>
          <p:nvPr/>
        </p:nvSpPr>
        <p:spPr>
          <a:xfrm>
            <a:off x="8267090" y="4063594"/>
            <a:ext cx="215798" cy="215798"/>
          </a:xfrm>
          <a:prstGeom prst="roundRect">
            <a:avLst>
              <a:gd name="adj" fmla="val 16949"/>
            </a:avLst>
          </a:prstGeom>
          <a:solidFill>
            <a:srgbClr val="FF6602"/>
          </a:solidFill>
          <a:ln w="12700">
            <a:solidFill>
              <a:srgbClr val="E2E8F0"/>
            </a:solidFill>
            <a:prstDash val="solid"/>
          </a:ln>
        </p:spPr>
      </p:sp>
      <p:sp>
        <p:nvSpPr>
          <p:cNvPr id="33" name="Shape 30"/>
          <p:cNvSpPr/>
          <p:nvPr/>
        </p:nvSpPr>
        <p:spPr>
          <a:xfrm>
            <a:off x="6590995" y="4343400"/>
            <a:ext cx="215798" cy="215798"/>
          </a:xfrm>
          <a:prstGeom prst="roundRect">
            <a:avLst>
              <a:gd name="adj" fmla="val 16949"/>
            </a:avLst>
          </a:prstGeom>
          <a:solidFill>
            <a:srgbClr val="F4F7FA"/>
          </a:solidFill>
          <a:ln w="12700">
            <a:solidFill>
              <a:srgbClr val="E2E8F0"/>
            </a:solidFill>
            <a:prstDash val="solid"/>
          </a:ln>
        </p:spPr>
      </p:sp>
      <p:sp>
        <p:nvSpPr>
          <p:cNvPr id="34" name="Shape 31"/>
          <p:cNvSpPr/>
          <p:nvPr/>
        </p:nvSpPr>
        <p:spPr>
          <a:xfrm>
            <a:off x="6870802" y="4343400"/>
            <a:ext cx="215798" cy="215798"/>
          </a:xfrm>
          <a:prstGeom prst="roundRect">
            <a:avLst>
              <a:gd name="adj" fmla="val 16949"/>
            </a:avLst>
          </a:prstGeom>
          <a:solidFill>
            <a:srgbClr val="F4F7FA"/>
          </a:solidFill>
          <a:ln w="12700">
            <a:solidFill>
              <a:srgbClr val="E2E8F0"/>
            </a:solidFill>
            <a:prstDash val="solid"/>
          </a:ln>
        </p:spPr>
      </p:sp>
      <p:sp>
        <p:nvSpPr>
          <p:cNvPr id="35" name="Shape 32"/>
          <p:cNvSpPr/>
          <p:nvPr/>
        </p:nvSpPr>
        <p:spPr>
          <a:xfrm>
            <a:off x="7149694" y="4343400"/>
            <a:ext cx="215798" cy="215798"/>
          </a:xfrm>
          <a:prstGeom prst="roundRect">
            <a:avLst>
              <a:gd name="adj" fmla="val 16949"/>
            </a:avLst>
          </a:prstGeom>
          <a:solidFill>
            <a:srgbClr val="FF6602"/>
          </a:solidFill>
          <a:ln w="12700">
            <a:solidFill>
              <a:srgbClr val="E2E8F0"/>
            </a:solidFill>
            <a:prstDash val="solid"/>
          </a:ln>
        </p:spPr>
      </p:sp>
      <p:sp>
        <p:nvSpPr>
          <p:cNvPr id="36" name="Shape 33"/>
          <p:cNvSpPr/>
          <p:nvPr/>
        </p:nvSpPr>
        <p:spPr>
          <a:xfrm>
            <a:off x="7429500" y="4343400"/>
            <a:ext cx="215798" cy="215798"/>
          </a:xfrm>
          <a:prstGeom prst="roundRect">
            <a:avLst>
              <a:gd name="adj" fmla="val 16949"/>
            </a:avLst>
          </a:prstGeom>
          <a:solidFill>
            <a:srgbClr val="F4F7FA"/>
          </a:solidFill>
          <a:ln w="12700">
            <a:solidFill>
              <a:srgbClr val="E2E8F0"/>
            </a:solidFill>
            <a:prstDash val="solid"/>
          </a:ln>
        </p:spPr>
      </p:sp>
      <p:sp>
        <p:nvSpPr>
          <p:cNvPr id="37" name="Shape 34"/>
          <p:cNvSpPr/>
          <p:nvPr/>
        </p:nvSpPr>
        <p:spPr>
          <a:xfrm>
            <a:off x="7708392" y="4343400"/>
            <a:ext cx="215798" cy="215798"/>
          </a:xfrm>
          <a:prstGeom prst="roundRect">
            <a:avLst>
              <a:gd name="adj" fmla="val 16949"/>
            </a:avLst>
          </a:prstGeom>
          <a:solidFill>
            <a:srgbClr val="F4F7FA"/>
          </a:solidFill>
          <a:ln w="12700">
            <a:solidFill>
              <a:srgbClr val="E2E8F0"/>
            </a:solidFill>
            <a:prstDash val="solid"/>
          </a:ln>
        </p:spPr>
      </p:sp>
      <p:sp>
        <p:nvSpPr>
          <p:cNvPr id="38" name="Shape 35"/>
          <p:cNvSpPr/>
          <p:nvPr/>
        </p:nvSpPr>
        <p:spPr>
          <a:xfrm>
            <a:off x="7988198" y="4343400"/>
            <a:ext cx="215798" cy="215798"/>
          </a:xfrm>
          <a:prstGeom prst="roundRect">
            <a:avLst>
              <a:gd name="adj" fmla="val 16949"/>
            </a:avLst>
          </a:prstGeom>
          <a:solidFill>
            <a:srgbClr val="FF6602"/>
          </a:solidFill>
          <a:ln w="12700">
            <a:solidFill>
              <a:srgbClr val="E2E8F0"/>
            </a:solidFill>
            <a:prstDash val="solid"/>
          </a:ln>
        </p:spPr>
      </p:sp>
      <p:sp>
        <p:nvSpPr>
          <p:cNvPr id="39" name="Shape 36"/>
          <p:cNvSpPr/>
          <p:nvPr/>
        </p:nvSpPr>
        <p:spPr>
          <a:xfrm>
            <a:off x="8267090" y="4343400"/>
            <a:ext cx="215798" cy="215798"/>
          </a:xfrm>
          <a:prstGeom prst="roundRect">
            <a:avLst>
              <a:gd name="adj" fmla="val 16949"/>
            </a:avLst>
          </a:prstGeom>
          <a:solidFill>
            <a:srgbClr val="F4F7FA"/>
          </a:solidFill>
          <a:ln w="12700">
            <a:solidFill>
              <a:srgbClr val="E2E8F0"/>
            </a:solidFill>
            <a:prstDash val="solid"/>
          </a:ln>
        </p:spPr>
      </p:sp>
      <p:sp>
        <p:nvSpPr>
          <p:cNvPr id="40" name="Shape 37"/>
          <p:cNvSpPr/>
          <p:nvPr/>
        </p:nvSpPr>
        <p:spPr>
          <a:xfrm>
            <a:off x="6590995" y="4622292"/>
            <a:ext cx="215798" cy="215798"/>
          </a:xfrm>
          <a:prstGeom prst="roundRect">
            <a:avLst>
              <a:gd name="adj" fmla="val 16949"/>
            </a:avLst>
          </a:prstGeom>
          <a:solidFill>
            <a:srgbClr val="F4F7FA"/>
          </a:solidFill>
          <a:ln w="12700">
            <a:solidFill>
              <a:srgbClr val="E2E8F0"/>
            </a:solidFill>
            <a:prstDash val="solid"/>
          </a:ln>
        </p:spPr>
      </p:sp>
      <p:sp>
        <p:nvSpPr>
          <p:cNvPr id="41" name="Shape 38"/>
          <p:cNvSpPr/>
          <p:nvPr/>
        </p:nvSpPr>
        <p:spPr>
          <a:xfrm>
            <a:off x="6870802" y="4622292"/>
            <a:ext cx="215798" cy="215798"/>
          </a:xfrm>
          <a:prstGeom prst="roundRect">
            <a:avLst>
              <a:gd name="adj" fmla="val 16949"/>
            </a:avLst>
          </a:prstGeom>
          <a:solidFill>
            <a:srgbClr val="FF6602"/>
          </a:solidFill>
          <a:ln w="12700">
            <a:solidFill>
              <a:srgbClr val="E2E8F0"/>
            </a:solidFill>
            <a:prstDash val="solid"/>
          </a:ln>
        </p:spPr>
      </p:sp>
      <p:sp>
        <p:nvSpPr>
          <p:cNvPr id="42" name="Shape 39"/>
          <p:cNvSpPr/>
          <p:nvPr/>
        </p:nvSpPr>
        <p:spPr>
          <a:xfrm>
            <a:off x="7149694" y="4622292"/>
            <a:ext cx="215798" cy="215798"/>
          </a:xfrm>
          <a:prstGeom prst="roundRect">
            <a:avLst>
              <a:gd name="adj" fmla="val 16949"/>
            </a:avLst>
          </a:prstGeom>
          <a:solidFill>
            <a:srgbClr val="F4F7FA"/>
          </a:solidFill>
          <a:ln w="12700">
            <a:solidFill>
              <a:srgbClr val="E2E8F0"/>
            </a:solidFill>
            <a:prstDash val="solid"/>
          </a:ln>
        </p:spPr>
      </p:sp>
      <p:sp>
        <p:nvSpPr>
          <p:cNvPr id="43" name="Shape 40"/>
          <p:cNvSpPr/>
          <p:nvPr/>
        </p:nvSpPr>
        <p:spPr>
          <a:xfrm>
            <a:off x="7429500" y="4622292"/>
            <a:ext cx="215798" cy="215798"/>
          </a:xfrm>
          <a:prstGeom prst="roundRect">
            <a:avLst>
              <a:gd name="adj" fmla="val 16949"/>
            </a:avLst>
          </a:prstGeom>
          <a:solidFill>
            <a:srgbClr val="F4F7FA"/>
          </a:solidFill>
          <a:ln w="12700">
            <a:solidFill>
              <a:srgbClr val="E2E8F0"/>
            </a:solidFill>
            <a:prstDash val="solid"/>
          </a:ln>
        </p:spPr>
      </p:sp>
      <p:sp>
        <p:nvSpPr>
          <p:cNvPr id="44" name="Shape 41"/>
          <p:cNvSpPr/>
          <p:nvPr/>
        </p:nvSpPr>
        <p:spPr>
          <a:xfrm>
            <a:off x="7708392" y="4622292"/>
            <a:ext cx="215798" cy="215798"/>
          </a:xfrm>
          <a:prstGeom prst="roundRect">
            <a:avLst>
              <a:gd name="adj" fmla="val 16949"/>
            </a:avLst>
          </a:prstGeom>
          <a:solidFill>
            <a:srgbClr val="FF6602"/>
          </a:solidFill>
          <a:ln w="12700">
            <a:solidFill>
              <a:srgbClr val="E2E8F0"/>
            </a:solidFill>
            <a:prstDash val="solid"/>
          </a:ln>
        </p:spPr>
      </p:sp>
      <p:sp>
        <p:nvSpPr>
          <p:cNvPr id="45" name="Shape 42"/>
          <p:cNvSpPr/>
          <p:nvPr/>
        </p:nvSpPr>
        <p:spPr>
          <a:xfrm>
            <a:off x="7988198" y="4622292"/>
            <a:ext cx="215798" cy="215798"/>
          </a:xfrm>
          <a:prstGeom prst="roundRect">
            <a:avLst>
              <a:gd name="adj" fmla="val 16949"/>
            </a:avLst>
          </a:prstGeom>
          <a:solidFill>
            <a:srgbClr val="F4F7FA"/>
          </a:solidFill>
          <a:ln w="12700">
            <a:solidFill>
              <a:srgbClr val="E2E8F0"/>
            </a:solidFill>
            <a:prstDash val="solid"/>
          </a:ln>
        </p:spPr>
      </p:sp>
      <p:sp>
        <p:nvSpPr>
          <p:cNvPr id="46" name="Shape 43"/>
          <p:cNvSpPr/>
          <p:nvPr/>
        </p:nvSpPr>
        <p:spPr>
          <a:xfrm>
            <a:off x="8267090" y="4622292"/>
            <a:ext cx="215798" cy="215798"/>
          </a:xfrm>
          <a:prstGeom prst="roundRect">
            <a:avLst>
              <a:gd name="adj" fmla="val 16949"/>
            </a:avLst>
          </a:prstGeom>
          <a:solidFill>
            <a:srgbClr val="F4F7FA"/>
          </a:solidFill>
          <a:ln w="12700">
            <a:solidFill>
              <a:srgbClr val="E2E8F0"/>
            </a:solidFill>
            <a:prstDash val="solid"/>
          </a:ln>
        </p:spPr>
      </p:sp>
      <p:sp>
        <p:nvSpPr>
          <p:cNvPr id="47" name="Shape 44"/>
          <p:cNvSpPr/>
          <p:nvPr/>
        </p:nvSpPr>
        <p:spPr>
          <a:xfrm>
            <a:off x="6590995" y="4902098"/>
            <a:ext cx="215798" cy="215798"/>
          </a:xfrm>
          <a:prstGeom prst="roundRect">
            <a:avLst>
              <a:gd name="adj" fmla="val 16949"/>
            </a:avLst>
          </a:prstGeom>
          <a:solidFill>
            <a:srgbClr val="FF6602"/>
          </a:solidFill>
          <a:ln w="12700">
            <a:solidFill>
              <a:srgbClr val="E2E8F0"/>
            </a:solidFill>
            <a:prstDash val="solid"/>
          </a:ln>
        </p:spPr>
      </p:sp>
      <p:sp>
        <p:nvSpPr>
          <p:cNvPr id="48" name="Shape 45"/>
          <p:cNvSpPr/>
          <p:nvPr/>
        </p:nvSpPr>
        <p:spPr>
          <a:xfrm>
            <a:off x="6870802" y="4902098"/>
            <a:ext cx="215798" cy="215798"/>
          </a:xfrm>
          <a:prstGeom prst="roundRect">
            <a:avLst>
              <a:gd name="adj" fmla="val 16949"/>
            </a:avLst>
          </a:prstGeom>
          <a:solidFill>
            <a:srgbClr val="F4F7FA"/>
          </a:solidFill>
          <a:ln w="12700">
            <a:solidFill>
              <a:srgbClr val="E2E8F0"/>
            </a:solidFill>
            <a:prstDash val="solid"/>
          </a:ln>
        </p:spPr>
      </p:sp>
      <p:sp>
        <p:nvSpPr>
          <p:cNvPr id="49" name="Shape 46"/>
          <p:cNvSpPr/>
          <p:nvPr/>
        </p:nvSpPr>
        <p:spPr>
          <a:xfrm>
            <a:off x="7149694" y="4902098"/>
            <a:ext cx="215798" cy="215798"/>
          </a:xfrm>
          <a:prstGeom prst="roundRect">
            <a:avLst>
              <a:gd name="adj" fmla="val 16949"/>
            </a:avLst>
          </a:prstGeom>
          <a:solidFill>
            <a:srgbClr val="F4F7FA"/>
          </a:solidFill>
          <a:ln w="12700">
            <a:solidFill>
              <a:srgbClr val="E2E8F0"/>
            </a:solidFill>
            <a:prstDash val="solid"/>
          </a:ln>
        </p:spPr>
      </p:sp>
      <p:sp>
        <p:nvSpPr>
          <p:cNvPr id="50" name="Shape 47"/>
          <p:cNvSpPr/>
          <p:nvPr/>
        </p:nvSpPr>
        <p:spPr>
          <a:xfrm>
            <a:off x="7429500" y="4902098"/>
            <a:ext cx="215798" cy="215798"/>
          </a:xfrm>
          <a:prstGeom prst="roundRect">
            <a:avLst>
              <a:gd name="adj" fmla="val 16949"/>
            </a:avLst>
          </a:prstGeom>
          <a:solidFill>
            <a:srgbClr val="FF6602"/>
          </a:solidFill>
          <a:ln w="12700">
            <a:solidFill>
              <a:srgbClr val="E2E8F0"/>
            </a:solidFill>
            <a:prstDash val="solid"/>
          </a:ln>
        </p:spPr>
      </p:sp>
      <p:sp>
        <p:nvSpPr>
          <p:cNvPr id="51" name="Shape 48"/>
          <p:cNvSpPr/>
          <p:nvPr/>
        </p:nvSpPr>
        <p:spPr>
          <a:xfrm>
            <a:off x="7708392" y="4902098"/>
            <a:ext cx="215798" cy="215798"/>
          </a:xfrm>
          <a:prstGeom prst="roundRect">
            <a:avLst>
              <a:gd name="adj" fmla="val 16949"/>
            </a:avLst>
          </a:prstGeom>
          <a:solidFill>
            <a:srgbClr val="F4F7FA"/>
          </a:solidFill>
          <a:ln w="12700">
            <a:solidFill>
              <a:srgbClr val="E2E8F0"/>
            </a:solidFill>
            <a:prstDash val="solid"/>
          </a:ln>
        </p:spPr>
      </p:sp>
      <p:sp>
        <p:nvSpPr>
          <p:cNvPr id="52" name="Shape 49"/>
          <p:cNvSpPr/>
          <p:nvPr/>
        </p:nvSpPr>
        <p:spPr>
          <a:xfrm>
            <a:off x="7988198" y="4902098"/>
            <a:ext cx="215798" cy="215798"/>
          </a:xfrm>
          <a:prstGeom prst="roundRect">
            <a:avLst>
              <a:gd name="adj" fmla="val 16949"/>
            </a:avLst>
          </a:prstGeom>
          <a:solidFill>
            <a:srgbClr val="F4F7FA"/>
          </a:solidFill>
          <a:ln w="12700">
            <a:solidFill>
              <a:srgbClr val="E2E8F0"/>
            </a:solidFill>
            <a:prstDash val="solid"/>
          </a:ln>
        </p:spPr>
      </p:sp>
      <p:sp>
        <p:nvSpPr>
          <p:cNvPr id="53" name="Shape 50"/>
          <p:cNvSpPr/>
          <p:nvPr/>
        </p:nvSpPr>
        <p:spPr>
          <a:xfrm>
            <a:off x="8267090" y="4902098"/>
            <a:ext cx="215798" cy="215798"/>
          </a:xfrm>
          <a:prstGeom prst="roundRect">
            <a:avLst>
              <a:gd name="adj" fmla="val 16949"/>
            </a:avLst>
          </a:prstGeom>
          <a:solidFill>
            <a:srgbClr val="FF6602"/>
          </a:solidFill>
          <a:ln w="12700">
            <a:solidFill>
              <a:srgbClr val="E2E8F0"/>
            </a:solidFill>
            <a:prstDash val="solid"/>
          </a:ln>
        </p:spPr>
      </p:sp>
      <p:sp>
        <p:nvSpPr>
          <p:cNvPr id="54" name="Shape 51"/>
          <p:cNvSpPr/>
          <p:nvPr/>
        </p:nvSpPr>
        <p:spPr>
          <a:xfrm>
            <a:off x="6590995" y="5181905"/>
            <a:ext cx="215798" cy="215798"/>
          </a:xfrm>
          <a:prstGeom prst="roundRect">
            <a:avLst>
              <a:gd name="adj" fmla="val 16949"/>
            </a:avLst>
          </a:prstGeom>
          <a:solidFill>
            <a:srgbClr val="F4F7FA"/>
          </a:solidFill>
          <a:ln w="12700">
            <a:solidFill>
              <a:srgbClr val="E2E8F0"/>
            </a:solidFill>
            <a:prstDash val="solid"/>
          </a:ln>
        </p:spPr>
      </p:sp>
      <p:sp>
        <p:nvSpPr>
          <p:cNvPr id="55" name="Shape 52"/>
          <p:cNvSpPr/>
          <p:nvPr/>
        </p:nvSpPr>
        <p:spPr>
          <a:xfrm>
            <a:off x="6870802" y="5181905"/>
            <a:ext cx="215798" cy="215798"/>
          </a:xfrm>
          <a:prstGeom prst="roundRect">
            <a:avLst>
              <a:gd name="adj" fmla="val 16949"/>
            </a:avLst>
          </a:prstGeom>
          <a:solidFill>
            <a:srgbClr val="F4F7FA"/>
          </a:solidFill>
          <a:ln w="12700">
            <a:solidFill>
              <a:srgbClr val="E2E8F0"/>
            </a:solidFill>
            <a:prstDash val="solid"/>
          </a:ln>
        </p:spPr>
      </p:sp>
      <p:sp>
        <p:nvSpPr>
          <p:cNvPr id="56" name="Shape 53"/>
          <p:cNvSpPr/>
          <p:nvPr/>
        </p:nvSpPr>
        <p:spPr>
          <a:xfrm>
            <a:off x="7149694" y="5181905"/>
            <a:ext cx="215798" cy="215798"/>
          </a:xfrm>
          <a:prstGeom prst="roundRect">
            <a:avLst>
              <a:gd name="adj" fmla="val 16949"/>
            </a:avLst>
          </a:prstGeom>
          <a:solidFill>
            <a:srgbClr val="FF6602"/>
          </a:solidFill>
          <a:ln w="12700">
            <a:solidFill>
              <a:srgbClr val="E2E8F0"/>
            </a:solidFill>
            <a:prstDash val="solid"/>
          </a:ln>
        </p:spPr>
      </p:sp>
      <p:sp>
        <p:nvSpPr>
          <p:cNvPr id="57" name="Shape 54"/>
          <p:cNvSpPr/>
          <p:nvPr/>
        </p:nvSpPr>
        <p:spPr>
          <a:xfrm>
            <a:off x="7429500" y="5181905"/>
            <a:ext cx="215798" cy="215798"/>
          </a:xfrm>
          <a:prstGeom prst="roundRect">
            <a:avLst>
              <a:gd name="adj" fmla="val 16949"/>
            </a:avLst>
          </a:prstGeom>
          <a:solidFill>
            <a:srgbClr val="F4F7FA"/>
          </a:solidFill>
          <a:ln w="12700">
            <a:solidFill>
              <a:srgbClr val="E2E8F0"/>
            </a:solidFill>
            <a:prstDash val="solid"/>
          </a:ln>
        </p:spPr>
      </p:sp>
      <p:sp>
        <p:nvSpPr>
          <p:cNvPr id="58" name="Shape 55"/>
          <p:cNvSpPr/>
          <p:nvPr/>
        </p:nvSpPr>
        <p:spPr>
          <a:xfrm>
            <a:off x="7708392" y="5181905"/>
            <a:ext cx="215798" cy="215798"/>
          </a:xfrm>
          <a:prstGeom prst="roundRect">
            <a:avLst>
              <a:gd name="adj" fmla="val 16949"/>
            </a:avLst>
          </a:prstGeom>
          <a:solidFill>
            <a:srgbClr val="F4F7FA"/>
          </a:solidFill>
          <a:ln w="12700">
            <a:solidFill>
              <a:srgbClr val="E2E8F0"/>
            </a:solidFill>
            <a:prstDash val="solid"/>
          </a:ln>
        </p:spPr>
      </p:sp>
      <p:sp>
        <p:nvSpPr>
          <p:cNvPr id="59" name="Shape 56"/>
          <p:cNvSpPr/>
          <p:nvPr/>
        </p:nvSpPr>
        <p:spPr>
          <a:xfrm>
            <a:off x="7988198" y="5181905"/>
            <a:ext cx="215798" cy="215798"/>
          </a:xfrm>
          <a:prstGeom prst="roundRect">
            <a:avLst>
              <a:gd name="adj" fmla="val 16949"/>
            </a:avLst>
          </a:prstGeom>
          <a:solidFill>
            <a:srgbClr val="FF6602"/>
          </a:solidFill>
          <a:ln w="12700">
            <a:solidFill>
              <a:srgbClr val="E2E8F0"/>
            </a:solidFill>
            <a:prstDash val="solid"/>
          </a:ln>
        </p:spPr>
      </p:sp>
      <p:sp>
        <p:nvSpPr>
          <p:cNvPr id="60" name="Shape 57"/>
          <p:cNvSpPr/>
          <p:nvPr/>
        </p:nvSpPr>
        <p:spPr>
          <a:xfrm>
            <a:off x="8267090" y="5181905"/>
            <a:ext cx="215798" cy="215798"/>
          </a:xfrm>
          <a:prstGeom prst="roundRect">
            <a:avLst>
              <a:gd name="adj" fmla="val 16949"/>
            </a:avLst>
          </a:prstGeom>
          <a:solidFill>
            <a:srgbClr val="F4F7FA"/>
          </a:solidFill>
          <a:ln w="12700">
            <a:solidFill>
              <a:srgbClr val="E2E8F0"/>
            </a:solidFill>
            <a:prstDash val="solid"/>
          </a:ln>
        </p:spPr>
      </p:sp>
      <p:sp>
        <p:nvSpPr>
          <p:cNvPr id="61" name="Shape 58"/>
          <p:cNvSpPr/>
          <p:nvPr/>
        </p:nvSpPr>
        <p:spPr>
          <a:xfrm>
            <a:off x="9016898" y="3556102"/>
            <a:ext cx="2349094" cy="2920594"/>
          </a:xfrm>
          <a:prstGeom prst="roundRect">
            <a:avLst>
              <a:gd name="adj" fmla="val 4671"/>
            </a:avLst>
          </a:prstGeom>
          <a:solidFill>
            <a:srgbClr val="FFFFFF"/>
          </a:solidFill>
          <a:ln w="12700">
            <a:solidFill>
              <a:srgbClr val="E2E8F0"/>
            </a:solidFill>
            <a:prstDash val="solid"/>
          </a:ln>
          <a:effectLst>
            <a:outerShdw sx="100000" sy="100000" kx="0" ky="0" algn="bl" rotWithShape="0" blurRad="228600" dist="76200" dir="5400000">
              <a:srgbClr val="0C3452">
                <a:alpha val="10000"/>
              </a:srgbClr>
            </a:outerShdw>
          </a:effectLst>
        </p:spPr>
      </p:sp>
      <p:sp>
        <p:nvSpPr>
          <p:cNvPr id="62" name="Text 59"/>
          <p:cNvSpPr/>
          <p:nvPr/>
        </p:nvSpPr>
        <p:spPr>
          <a:xfrm>
            <a:off x="9194292" y="3733495"/>
            <a:ext cx="1968703" cy="228600"/>
          </a:xfrm>
          <a:prstGeom prst="rect">
            <a:avLst/>
          </a:prstGeom>
          <a:noFill/>
          <a:ln/>
        </p:spPr>
        <p:txBody>
          <a:bodyPr wrap="square" lIns="0" tIns="0" rIns="0" bIns="0" rtlCol="0" anchor="ctr"/>
          <a:lstStyle/>
          <a:p>
            <a:pPr indent="0" marL="0">
              <a:buNone/>
            </a:pPr>
            <a:r>
              <a:rPr lang="en-US" sz="1400" b="1" dirty="0">
                <a:solidFill>
                  <a:srgbClr val="0C3452"/>
                </a:solidFill>
                <a:latin typeface="Montserrat" pitchFamily="34" charset="0"/>
                <a:ea typeface="Montserrat" pitchFamily="34" charset="-122"/>
                <a:cs typeface="Montserrat" pitchFamily="34" charset="-120"/>
              </a:rPr>
              <a:t>Tu entregable</a:t>
            </a:r>
            <a:endParaRPr lang="en-US" sz="1400" dirty="0"/>
          </a:p>
        </p:txBody>
      </p:sp>
      <p:sp>
        <p:nvSpPr>
          <p:cNvPr id="63" name="Shape 60"/>
          <p:cNvSpPr/>
          <p:nvPr/>
        </p:nvSpPr>
        <p:spPr>
          <a:xfrm>
            <a:off x="9194292" y="4076395"/>
            <a:ext cx="1968703" cy="381305"/>
          </a:xfrm>
          <a:prstGeom prst="roundRect">
            <a:avLst>
              <a:gd name="adj" fmla="val 14388"/>
            </a:avLst>
          </a:prstGeom>
          <a:solidFill>
            <a:srgbClr val="F4F7FA"/>
          </a:solidFill>
          <a:ln w="12700">
            <a:solidFill>
              <a:srgbClr val="E2E8F0"/>
            </a:solidFill>
            <a:prstDash val="solid"/>
          </a:ln>
        </p:spPr>
      </p:sp>
      <p:sp>
        <p:nvSpPr>
          <p:cNvPr id="64" name="Text 61"/>
          <p:cNvSpPr/>
          <p:nvPr/>
        </p:nvSpPr>
        <p:spPr>
          <a:xfrm>
            <a:off x="9308592" y="4076395"/>
            <a:ext cx="1777594" cy="381305"/>
          </a:xfrm>
          <a:prstGeom prst="rect">
            <a:avLst/>
          </a:prstGeom>
          <a:noFill/>
          <a:ln/>
        </p:spPr>
        <p:txBody>
          <a:bodyPr wrap="square" lIns="0" tIns="0" rIns="0" bIns="0" rtlCol="0" anchor="ctr"/>
          <a:lstStyle/>
          <a:p>
            <a:pPr indent="0" marL="0">
              <a:buNone/>
            </a:pPr>
            <a:r>
              <a:rPr lang="en-US" sz="1100" dirty="0">
                <a:solidFill>
                  <a:srgbClr val="0C3452"/>
                </a:solidFill>
                <a:latin typeface="Open Sans" pitchFamily="34" charset="0"/>
                <a:ea typeface="Open Sans" pitchFamily="34" charset="-122"/>
                <a:cs typeface="Open Sans" pitchFamily="34" charset="-120"/>
              </a:rPr>
              <a:t>Tu diagnóstico de foco</a:t>
            </a:r>
            <a:endParaRPr lang="en-US" sz="1100" dirty="0"/>
          </a:p>
        </p:txBody>
      </p:sp>
      <p:sp>
        <p:nvSpPr>
          <p:cNvPr id="65" name="Shape 62"/>
          <p:cNvSpPr/>
          <p:nvPr/>
        </p:nvSpPr>
        <p:spPr>
          <a:xfrm>
            <a:off x="9194292" y="4572000"/>
            <a:ext cx="1968703" cy="381305"/>
          </a:xfrm>
          <a:prstGeom prst="roundRect">
            <a:avLst>
              <a:gd name="adj" fmla="val 14388"/>
            </a:avLst>
          </a:prstGeom>
          <a:solidFill>
            <a:srgbClr val="F4F7FA"/>
          </a:solidFill>
          <a:ln w="12700">
            <a:solidFill>
              <a:srgbClr val="E2E8F0"/>
            </a:solidFill>
            <a:prstDash val="solid"/>
          </a:ln>
        </p:spPr>
      </p:sp>
      <p:sp>
        <p:nvSpPr>
          <p:cNvPr id="66" name="Text 63"/>
          <p:cNvSpPr/>
          <p:nvPr/>
        </p:nvSpPr>
        <p:spPr>
          <a:xfrm>
            <a:off x="9308592" y="4572000"/>
            <a:ext cx="1777594" cy="381305"/>
          </a:xfrm>
          <a:prstGeom prst="rect">
            <a:avLst/>
          </a:prstGeom>
          <a:noFill/>
          <a:ln/>
        </p:spPr>
        <p:txBody>
          <a:bodyPr wrap="square" lIns="0" tIns="0" rIns="0" bIns="0" rtlCol="0" anchor="ctr"/>
          <a:lstStyle/>
          <a:p>
            <a:pPr indent="0" marL="0">
              <a:buNone/>
            </a:pPr>
            <a:r>
              <a:rPr lang="en-US" sz="1100" dirty="0">
                <a:solidFill>
                  <a:srgbClr val="0C3452"/>
                </a:solidFill>
                <a:latin typeface="Open Sans" pitchFamily="34" charset="0"/>
                <a:ea typeface="Open Sans" pitchFamily="34" charset="-122"/>
                <a:cs typeface="Open Sans" pitchFamily="34" charset="-120"/>
              </a:rPr>
              <a:t>Dónde se te va la energía</a:t>
            </a:r>
            <a:endParaRPr lang="en-US" sz="1100" dirty="0"/>
          </a:p>
        </p:txBody>
      </p:sp>
      <p:sp>
        <p:nvSpPr>
          <p:cNvPr id="67" name="Shape 64"/>
          <p:cNvSpPr/>
          <p:nvPr/>
        </p:nvSpPr>
        <p:spPr>
          <a:xfrm>
            <a:off x="9194292" y="5067605"/>
            <a:ext cx="1968703" cy="381305"/>
          </a:xfrm>
          <a:prstGeom prst="roundRect">
            <a:avLst>
              <a:gd name="adj" fmla="val 14388"/>
            </a:avLst>
          </a:prstGeom>
          <a:solidFill>
            <a:srgbClr val="F4F7FA"/>
          </a:solidFill>
          <a:ln w="12700">
            <a:solidFill>
              <a:srgbClr val="E2E8F0"/>
            </a:solidFill>
            <a:prstDash val="solid"/>
          </a:ln>
        </p:spPr>
      </p:sp>
      <p:sp>
        <p:nvSpPr>
          <p:cNvPr id="68" name="Text 65"/>
          <p:cNvSpPr/>
          <p:nvPr/>
        </p:nvSpPr>
        <p:spPr>
          <a:xfrm>
            <a:off x="9308592" y="5067605"/>
            <a:ext cx="1777594" cy="381305"/>
          </a:xfrm>
          <a:prstGeom prst="rect">
            <a:avLst/>
          </a:prstGeom>
          <a:noFill/>
          <a:ln/>
        </p:spPr>
        <p:txBody>
          <a:bodyPr wrap="square" lIns="0" tIns="0" rIns="0" bIns="0" rtlCol="0" anchor="ctr"/>
          <a:lstStyle/>
          <a:p>
            <a:pPr indent="0" marL="0">
              <a:buNone/>
            </a:pPr>
            <a:r>
              <a:rPr lang="en-US" sz="1100" dirty="0">
                <a:solidFill>
                  <a:srgbClr val="0C3452"/>
                </a:solidFill>
                <a:latin typeface="Open Sans" pitchFamily="34" charset="0"/>
                <a:ea typeface="Open Sans" pitchFamily="34" charset="-122"/>
                <a:cs typeface="Open Sans" pitchFamily="34" charset="-120"/>
              </a:rPr>
              <a:t>Tus 3 primeros movimientos</a:t>
            </a:r>
            <a:endParaRPr lang="en-US" sz="1100" dirty="0"/>
          </a:p>
        </p:txBody>
      </p:sp>
      <p:sp>
        <p:nvSpPr>
          <p:cNvPr id="69" name="Text 66"/>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C9D2DA"/>
                </a:solidFill>
                <a:latin typeface="Courier New" pitchFamily="34" charset="0"/>
                <a:ea typeface="Courier New" pitchFamily="34" charset="-122"/>
                <a:cs typeface="Courier New" pitchFamily="34" charset="-120"/>
              </a:rPr>
              <a:t>08 / 11</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1D30"/>
        </a:solidFill>
      </p:bgPr>
    </p:bg>
    <p:spTree>
      <p:nvGrpSpPr>
        <p:cNvPr id="1" name=""/>
        <p:cNvGrpSpPr/>
        <p:nvPr/>
      </p:nvGrpSpPr>
      <p:grpSpPr>
        <a:xfrm>
          <a:off x="0" y="0"/>
          <a:ext cx="0" cy="0"/>
          <a:chOff x="0" y="0"/>
          <a:chExt cx="0" cy="0"/>
        </a:xfrm>
      </p:grpSpPr>
      <p:sp>
        <p:nvSpPr>
          <p:cNvPr id="2" name="Shape 0"/>
          <p:cNvSpPr/>
          <p:nvPr/>
        </p:nvSpPr>
        <p:spPr>
          <a:xfrm>
            <a:off x="825703" y="748894"/>
            <a:ext cx="609905" cy="32004"/>
          </a:xfrm>
          <a:prstGeom prst="rect">
            <a:avLst/>
          </a:prstGeom>
          <a:solidFill>
            <a:srgbClr val="FF6602"/>
          </a:solidFill>
          <a:ln/>
        </p:spPr>
      </p:sp>
      <p:sp>
        <p:nvSpPr>
          <p:cNvPr id="3" name="Text 1"/>
          <p:cNvSpPr/>
          <p:nvPr/>
        </p:nvSpPr>
        <p:spPr>
          <a:xfrm>
            <a:off x="1548994" y="660197"/>
            <a:ext cx="5715000" cy="215798"/>
          </a:xfrm>
          <a:prstGeom prst="rect">
            <a:avLst/>
          </a:prstGeom>
          <a:noFill/>
          <a:ln/>
        </p:spPr>
        <p:txBody>
          <a:bodyPr wrap="square" lIns="0" tIns="0" rIns="0" bIns="0" rtlCol="0" anchor="ctr"/>
          <a:lstStyle/>
          <a:p>
            <a:pPr indent="0" marL="0">
              <a:buNone/>
            </a:pPr>
            <a:r>
              <a:rPr lang="en-US" sz="1300" b="1" spc="400" kern="0" dirty="0">
                <a:solidFill>
                  <a:srgbClr val="FFFFFF"/>
                </a:solidFill>
                <a:latin typeface="Courier New" pitchFamily="34" charset="0"/>
                <a:ea typeface="Courier New" pitchFamily="34" charset="-122"/>
                <a:cs typeface="Courier New" pitchFamily="34" charset="-120"/>
              </a:rPr>
              <a:t>ANTES DE AGENDAR</a:t>
            </a:r>
            <a:endParaRPr lang="en-US" sz="1300" dirty="0"/>
          </a:p>
        </p:txBody>
      </p:sp>
      <p:sp>
        <p:nvSpPr>
          <p:cNvPr id="4" name="Text 2"/>
          <p:cNvSpPr/>
          <p:nvPr/>
        </p:nvSpPr>
        <p:spPr>
          <a:xfrm>
            <a:off x="698602" y="1130198"/>
            <a:ext cx="10159898" cy="634594"/>
          </a:xfrm>
          <a:prstGeom prst="rect">
            <a:avLst/>
          </a:prstGeom>
          <a:noFill/>
          <a:ln/>
        </p:spPr>
        <p:txBody>
          <a:bodyPr wrap="square" lIns="0" tIns="0" rIns="0" bIns="0" rtlCol="0" anchor="ctr"/>
          <a:lstStyle/>
          <a:p>
            <a:pPr indent="0" marL="0">
              <a:buNone/>
            </a:pPr>
            <a:r>
              <a:rPr lang="en-US" sz="4000" b="1" spc="-50" kern="0" dirty="0">
                <a:solidFill>
                  <a:srgbClr val="FFFFFF"/>
                </a:solidFill>
                <a:latin typeface="Montserrat" pitchFamily="34" charset="0"/>
                <a:ea typeface="Montserrat" pitchFamily="34" charset="-122"/>
                <a:cs typeface="Montserrat" pitchFamily="34" charset="-120"/>
              </a:rPr>
              <a:t>Dos cosas, para ser honestos.</a:t>
            </a:r>
            <a:endParaRPr lang="en-US" sz="4000" dirty="0"/>
          </a:p>
        </p:txBody>
      </p:sp>
      <p:sp>
        <p:nvSpPr>
          <p:cNvPr id="5" name="Shape 3"/>
          <p:cNvSpPr/>
          <p:nvPr/>
        </p:nvSpPr>
        <p:spPr>
          <a:xfrm>
            <a:off x="6096305" y="1904695"/>
            <a:ext cx="0" cy="4444898"/>
          </a:xfrm>
          <a:prstGeom prst="line">
            <a:avLst/>
          </a:prstGeom>
          <a:noFill/>
          <a:ln w="12700">
            <a:solidFill>
              <a:srgbClr val="FFFFFF">
                <a:alpha val="14000"/>
              </a:srgbClr>
            </a:solidFill>
            <a:prstDash val="solid"/>
          </a:ln>
        </p:spPr>
      </p:sp>
      <p:sp>
        <p:nvSpPr>
          <p:cNvPr id="6" name="Text 4"/>
          <p:cNvSpPr/>
          <p:nvPr/>
        </p:nvSpPr>
        <p:spPr>
          <a:xfrm>
            <a:off x="698602" y="2095805"/>
            <a:ext cx="4826203" cy="355702"/>
          </a:xfrm>
          <a:prstGeom prst="rect">
            <a:avLst/>
          </a:prstGeom>
          <a:noFill/>
          <a:ln/>
        </p:spPr>
        <p:txBody>
          <a:bodyPr wrap="square" lIns="0" tIns="0" rIns="0" bIns="0" rtlCol="0" anchor="ctr"/>
          <a:lstStyle/>
          <a:p>
            <a:pPr indent="0" marL="0">
              <a:buNone/>
            </a:pPr>
            <a:r>
              <a:rPr lang="en-US" sz="2500" b="1" dirty="0">
                <a:solidFill>
                  <a:srgbClr val="FFFFFF"/>
                </a:solidFill>
                <a:latin typeface="Montserrat" pitchFamily="34" charset="0"/>
                <a:ea typeface="Montserrat" pitchFamily="34" charset="-122"/>
                <a:cs typeface="Montserrat" pitchFamily="34" charset="-120"/>
              </a:rPr>
              <a:t>Esto es para vos si…</a:t>
            </a:r>
            <a:endParaRPr lang="en-US" sz="2500" dirty="0"/>
          </a:p>
        </p:txBody>
      </p:sp>
      <p:sp>
        <p:nvSpPr>
          <p:cNvPr id="7" name="Text 5"/>
          <p:cNvSpPr/>
          <p:nvPr/>
        </p:nvSpPr>
        <p:spPr>
          <a:xfrm>
            <a:off x="698602" y="2564892"/>
            <a:ext cx="4826203" cy="952805"/>
          </a:xfrm>
          <a:prstGeom prst="rect">
            <a:avLst/>
          </a:prstGeom>
          <a:noFill/>
          <a:ln/>
        </p:spPr>
        <p:txBody>
          <a:bodyPr wrap="square" lIns="0" tIns="0" rIns="0" bIns="0" rtlCol="0" anchor="t"/>
          <a:lstStyle/>
          <a:p>
            <a:pPr indent="0" marL="0">
              <a:lnSpc>
                <a:spcPct val="142000"/>
              </a:lnSpc>
              <a:buNone/>
            </a:pPr>
            <a:r>
              <a:rPr lang="en-US" sz="1500" dirty="0">
                <a:solidFill>
                  <a:srgbClr val="FFFFFF"/>
                </a:solidFill>
                <a:latin typeface="Open Sans" pitchFamily="34" charset="0"/>
                <a:ea typeface="Open Sans" pitchFamily="34" charset="-122"/>
                <a:cs typeface="Open Sans" pitchFamily="34" charset="-120"/>
              </a:rPr>
              <a:t>Ya tenés algo andando: un negocio, un equipo, una carrera, un estudio. Y llegaste hasta acá a fuerza de horas.</a:t>
            </a:r>
            <a:endParaRPr lang="en-US" sz="1500" dirty="0"/>
          </a:p>
        </p:txBody>
      </p:sp>
      <p:sp>
        <p:nvSpPr>
          <p:cNvPr id="8" name="Text 6"/>
          <p:cNvSpPr/>
          <p:nvPr/>
        </p:nvSpPr>
        <p:spPr>
          <a:xfrm>
            <a:off x="698602" y="3568903"/>
            <a:ext cx="4826203" cy="952805"/>
          </a:xfrm>
          <a:prstGeom prst="rect">
            <a:avLst/>
          </a:prstGeom>
          <a:noFill/>
          <a:ln/>
        </p:spPr>
        <p:txBody>
          <a:bodyPr wrap="square" lIns="0" tIns="0" rIns="0" bIns="0" rtlCol="0" anchor="t"/>
          <a:lstStyle/>
          <a:p>
            <a:pPr indent="0" marL="0">
              <a:lnSpc>
                <a:spcPct val="142000"/>
              </a:lnSpc>
              <a:buNone/>
            </a:pPr>
            <a:r>
              <a:rPr lang="en-US" sz="1500" dirty="0">
                <a:solidFill>
                  <a:srgbClr val="FFFFFF"/>
                </a:solidFill>
                <a:latin typeface="Open Sans" pitchFamily="34" charset="0"/>
                <a:ea typeface="Open Sans" pitchFamily="34" charset="-122"/>
                <a:cs typeface="Open Sans" pitchFamily="34" charset="-120"/>
              </a:rPr>
              <a:t>Hoy </a:t>
            </a:r>
            <a:pPr indent="0" marL="0">
              <a:lnSpc>
                <a:spcPct val="142000"/>
              </a:lnSpc>
              <a:buNone/>
            </a:pPr>
            <a:r>
              <a:rPr lang="en-US" sz="1500" b="1" dirty="0">
                <a:solidFill>
                  <a:srgbClr val="FF6602"/>
                </a:solidFill>
                <a:latin typeface="Open Sans" pitchFamily="34" charset="0"/>
                <a:ea typeface="Open Sans" pitchFamily="34" charset="-122"/>
                <a:cs typeface="Open Sans" pitchFamily="34" charset="-120"/>
              </a:rPr>
              <a:t>el cuello de botella sos vos</a:t>
            </a:r>
            <a:pPr indent="0" marL="0">
              <a:lnSpc>
                <a:spcPct val="142000"/>
              </a:lnSpc>
              <a:buNone/>
            </a:pPr>
            <a:r>
              <a:rPr lang="en-US" sz="1500" dirty="0">
                <a:solidFill>
                  <a:srgbClr val="FFFFFF"/>
                </a:solidFill>
                <a:latin typeface="Open Sans" pitchFamily="34" charset="0"/>
                <a:ea typeface="Open Sans" pitchFamily="34" charset="-122"/>
                <a:cs typeface="Open Sans" pitchFamily="34" charset="-120"/>
              </a:rPr>
              <a:t>. Todo pasa por tus manos, delegar te cuesta más que hacerlo, y sabés que de acá no pasás sumando esfuerzo.</a:t>
            </a:r>
            <a:endParaRPr lang="en-US" sz="1500" dirty="0"/>
          </a:p>
        </p:txBody>
      </p:sp>
      <p:sp>
        <p:nvSpPr>
          <p:cNvPr id="9" name="Text 7"/>
          <p:cNvSpPr/>
          <p:nvPr/>
        </p:nvSpPr>
        <p:spPr>
          <a:xfrm>
            <a:off x="698602" y="4572000"/>
            <a:ext cx="4826203" cy="952805"/>
          </a:xfrm>
          <a:prstGeom prst="rect">
            <a:avLst/>
          </a:prstGeom>
          <a:noFill/>
          <a:ln/>
        </p:spPr>
        <p:txBody>
          <a:bodyPr wrap="square" lIns="0" tIns="0" rIns="0" bIns="0" rtlCol="0" anchor="t"/>
          <a:lstStyle/>
          <a:p>
            <a:pPr indent="0" marL="0">
              <a:lnSpc>
                <a:spcPct val="142000"/>
              </a:lnSpc>
              <a:buNone/>
            </a:pPr>
            <a:r>
              <a:rPr lang="en-US" sz="1500" dirty="0">
                <a:solidFill>
                  <a:srgbClr val="FFFFFF"/>
                </a:solidFill>
                <a:latin typeface="Open Sans" pitchFamily="34" charset="0"/>
                <a:ea typeface="Open Sans" pitchFamily="34" charset="-122"/>
                <a:cs typeface="Open Sans" pitchFamily="34" charset="-120"/>
              </a:rPr>
              <a:t>No venís a empezar. Venís a que lo que ya construiste </a:t>
            </a:r>
            <a:pPr indent="0" marL="0">
              <a:lnSpc>
                <a:spcPct val="142000"/>
              </a:lnSpc>
              <a:buNone/>
            </a:pPr>
            <a:r>
              <a:rPr lang="en-US" sz="1500" b="1" dirty="0">
                <a:solidFill>
                  <a:srgbClr val="FF6602"/>
                </a:solidFill>
                <a:latin typeface="Open Sans" pitchFamily="34" charset="0"/>
                <a:ea typeface="Open Sans" pitchFamily="34" charset="-122"/>
                <a:cs typeface="Open Sans" pitchFamily="34" charset="-120"/>
              </a:rPr>
              <a:t>funcione sin que vos lo sostengas</a:t>
            </a:r>
            <a:pPr indent="0" marL="0">
              <a:lnSpc>
                <a:spcPct val="142000"/>
              </a:lnSpc>
              <a:buNone/>
            </a:pPr>
            <a:r>
              <a:rPr lang="en-US" sz="1500" dirty="0">
                <a:solidFill>
                  <a:srgbClr val="FFFFFF"/>
                </a:solidFill>
                <a:latin typeface="Open Sans" pitchFamily="34" charset="0"/>
                <a:ea typeface="Open Sans" pitchFamily="34" charset="-122"/>
                <a:cs typeface="Open Sans" pitchFamily="34" charset="-120"/>
              </a:rPr>
              <a:t> — no a punta de voluntad, más disciplina o más esfuerzo, sino con un sistema integral.</a:t>
            </a:r>
            <a:endParaRPr lang="en-US" sz="1500" dirty="0"/>
          </a:p>
        </p:txBody>
      </p:sp>
      <p:sp>
        <p:nvSpPr>
          <p:cNvPr id="10" name="Text 8"/>
          <p:cNvSpPr/>
          <p:nvPr/>
        </p:nvSpPr>
        <p:spPr>
          <a:xfrm>
            <a:off x="6666890" y="2095805"/>
            <a:ext cx="4826203" cy="355702"/>
          </a:xfrm>
          <a:prstGeom prst="rect">
            <a:avLst/>
          </a:prstGeom>
          <a:noFill/>
          <a:ln/>
        </p:spPr>
        <p:txBody>
          <a:bodyPr wrap="square" lIns="0" tIns="0" rIns="0" bIns="0" rtlCol="0" anchor="ctr"/>
          <a:lstStyle/>
          <a:p>
            <a:pPr indent="0" marL="0">
              <a:buNone/>
            </a:pPr>
            <a:r>
              <a:rPr lang="en-US" sz="2500" b="1" dirty="0">
                <a:solidFill>
                  <a:srgbClr val="FF6602"/>
                </a:solidFill>
                <a:latin typeface="Montserrat" pitchFamily="34" charset="0"/>
                <a:ea typeface="Montserrat" pitchFamily="34" charset="-122"/>
                <a:cs typeface="Montserrat" pitchFamily="34" charset="-120"/>
              </a:rPr>
              <a:t>Y esto es lo que tenés que saber</a:t>
            </a:r>
            <a:endParaRPr lang="en-US" sz="2500" dirty="0"/>
          </a:p>
        </p:txBody>
      </p:sp>
      <p:sp>
        <p:nvSpPr>
          <p:cNvPr id="11" name="Text 9"/>
          <p:cNvSpPr/>
          <p:nvPr/>
        </p:nvSpPr>
        <p:spPr>
          <a:xfrm>
            <a:off x="6666890" y="2564892"/>
            <a:ext cx="152705" cy="215798"/>
          </a:xfrm>
          <a:prstGeom prst="rect">
            <a:avLst/>
          </a:prstGeom>
          <a:noFill/>
          <a:ln/>
        </p:spPr>
        <p:txBody>
          <a:bodyPr wrap="square" lIns="0" tIns="0" rIns="0" bIns="0" rtlCol="0" anchor="ctr"/>
          <a:lstStyle/>
          <a:p>
            <a:pPr indent="0" marL="0">
              <a:buNone/>
            </a:pPr>
            <a:r>
              <a:rPr lang="en-US" sz="2000" b="1" dirty="0">
                <a:solidFill>
                  <a:srgbClr val="FF6602"/>
                </a:solidFill>
                <a:latin typeface="Montserrat" pitchFamily="34" charset="0"/>
                <a:ea typeface="Montserrat" pitchFamily="34" charset="-122"/>
                <a:cs typeface="Montserrat" pitchFamily="34" charset="-120"/>
              </a:rPr>
              <a:t>·</a:t>
            </a:r>
            <a:endParaRPr lang="en-US" sz="2000" dirty="0"/>
          </a:p>
        </p:txBody>
      </p:sp>
      <p:sp>
        <p:nvSpPr>
          <p:cNvPr id="12" name="Text 10"/>
          <p:cNvSpPr/>
          <p:nvPr/>
        </p:nvSpPr>
        <p:spPr>
          <a:xfrm>
            <a:off x="6832397" y="2564892"/>
            <a:ext cx="4635094" cy="952805"/>
          </a:xfrm>
          <a:prstGeom prst="rect">
            <a:avLst/>
          </a:prstGeom>
          <a:noFill/>
          <a:ln/>
        </p:spPr>
        <p:txBody>
          <a:bodyPr wrap="square" lIns="0" tIns="0" rIns="0" bIns="0" rtlCol="0" anchor="t"/>
          <a:lstStyle/>
          <a:p>
            <a:pPr indent="0" marL="0">
              <a:lnSpc>
                <a:spcPct val="132000"/>
              </a:lnSpc>
              <a:buNone/>
            </a:pPr>
            <a:r>
              <a:rPr lang="en-US" sz="1400" dirty="0">
                <a:solidFill>
                  <a:srgbClr val="FFFFFF"/>
                </a:solidFill>
                <a:latin typeface="Open Sans" pitchFamily="34" charset="0"/>
                <a:ea typeface="Open Sans" pitchFamily="34" charset="-122"/>
                <a:cs typeface="Open Sans" pitchFamily="34" charset="-120"/>
              </a:rPr>
              <a:t>Es una mentoría con un equipo que te sostiene: coaches, psicóloga, nutricionista, sesiones uno a uno. No estás comprando un curso, estás invirtiendo en un sistema integral.</a:t>
            </a:r>
            <a:endParaRPr lang="en-US" sz="1400" dirty="0"/>
          </a:p>
        </p:txBody>
      </p:sp>
      <p:sp>
        <p:nvSpPr>
          <p:cNvPr id="13" name="Text 11"/>
          <p:cNvSpPr/>
          <p:nvPr/>
        </p:nvSpPr>
        <p:spPr>
          <a:xfrm>
            <a:off x="6666890" y="3517697"/>
            <a:ext cx="152705" cy="215798"/>
          </a:xfrm>
          <a:prstGeom prst="rect">
            <a:avLst/>
          </a:prstGeom>
          <a:noFill/>
          <a:ln/>
        </p:spPr>
        <p:txBody>
          <a:bodyPr wrap="square" lIns="0" tIns="0" rIns="0" bIns="0" rtlCol="0" anchor="ctr"/>
          <a:lstStyle/>
          <a:p>
            <a:pPr indent="0" marL="0">
              <a:buNone/>
            </a:pPr>
            <a:r>
              <a:rPr lang="en-US" sz="2000" b="1" dirty="0">
                <a:solidFill>
                  <a:srgbClr val="FF6602"/>
                </a:solidFill>
                <a:latin typeface="Montserrat" pitchFamily="34" charset="0"/>
                <a:ea typeface="Montserrat" pitchFamily="34" charset="-122"/>
                <a:cs typeface="Montserrat" pitchFamily="34" charset="-120"/>
              </a:rPr>
              <a:t>·</a:t>
            </a:r>
            <a:endParaRPr lang="en-US" sz="2000" dirty="0"/>
          </a:p>
        </p:txBody>
      </p:sp>
      <p:sp>
        <p:nvSpPr>
          <p:cNvPr id="14" name="Text 12"/>
          <p:cNvSpPr/>
          <p:nvPr/>
        </p:nvSpPr>
        <p:spPr>
          <a:xfrm>
            <a:off x="6832397" y="3517697"/>
            <a:ext cx="4635094" cy="952805"/>
          </a:xfrm>
          <a:prstGeom prst="rect">
            <a:avLst/>
          </a:prstGeom>
          <a:noFill/>
          <a:ln/>
        </p:spPr>
        <p:txBody>
          <a:bodyPr wrap="square" lIns="0" tIns="0" rIns="0" bIns="0" rtlCol="0" anchor="t"/>
          <a:lstStyle/>
          <a:p>
            <a:pPr indent="0" marL="0">
              <a:lnSpc>
                <a:spcPct val="132000"/>
              </a:lnSpc>
              <a:buNone/>
            </a:pPr>
            <a:r>
              <a:rPr lang="en-US" sz="1400" dirty="0">
                <a:solidFill>
                  <a:srgbClr val="FFFFFF"/>
                </a:solidFill>
                <a:latin typeface="Open Sans" pitchFamily="34" charset="0"/>
                <a:ea typeface="Open Sans" pitchFamily="34" charset="-122"/>
                <a:cs typeface="Open Sans" pitchFamily="34" charset="-120"/>
              </a:rPr>
              <a:t>El monto se define en la entrevista, según tu caso y lo que necesites. No te vamos a recomendar el plan más caro: el que te vaya a dar resultados.</a:t>
            </a:r>
            <a:endParaRPr lang="en-US" sz="1400" dirty="0"/>
          </a:p>
        </p:txBody>
      </p:sp>
      <p:sp>
        <p:nvSpPr>
          <p:cNvPr id="15" name="Text 13"/>
          <p:cNvSpPr/>
          <p:nvPr/>
        </p:nvSpPr>
        <p:spPr>
          <a:xfrm>
            <a:off x="6666890" y="4470502"/>
            <a:ext cx="152705" cy="215798"/>
          </a:xfrm>
          <a:prstGeom prst="rect">
            <a:avLst/>
          </a:prstGeom>
          <a:noFill/>
          <a:ln/>
        </p:spPr>
        <p:txBody>
          <a:bodyPr wrap="square" lIns="0" tIns="0" rIns="0" bIns="0" rtlCol="0" anchor="ctr"/>
          <a:lstStyle/>
          <a:p>
            <a:pPr indent="0" marL="0">
              <a:buNone/>
            </a:pPr>
            <a:r>
              <a:rPr lang="en-US" sz="2000" b="1" dirty="0">
                <a:solidFill>
                  <a:srgbClr val="FF6602"/>
                </a:solidFill>
                <a:latin typeface="Montserrat" pitchFamily="34" charset="0"/>
                <a:ea typeface="Montserrat" pitchFamily="34" charset="-122"/>
                <a:cs typeface="Montserrat" pitchFamily="34" charset="-120"/>
              </a:rPr>
              <a:t>·</a:t>
            </a:r>
            <a:endParaRPr lang="en-US" sz="2000" dirty="0"/>
          </a:p>
        </p:txBody>
      </p:sp>
      <p:sp>
        <p:nvSpPr>
          <p:cNvPr id="16" name="Text 14"/>
          <p:cNvSpPr/>
          <p:nvPr/>
        </p:nvSpPr>
        <p:spPr>
          <a:xfrm>
            <a:off x="6832397" y="4470502"/>
            <a:ext cx="4635094" cy="952805"/>
          </a:xfrm>
          <a:prstGeom prst="rect">
            <a:avLst/>
          </a:prstGeom>
          <a:noFill/>
          <a:ln/>
        </p:spPr>
        <p:txBody>
          <a:bodyPr wrap="square" lIns="0" tIns="0" rIns="0" bIns="0" rtlCol="0" anchor="t"/>
          <a:lstStyle/>
          <a:p>
            <a:pPr indent="0" marL="0">
              <a:lnSpc>
                <a:spcPct val="132000"/>
              </a:lnSpc>
              <a:buNone/>
            </a:pPr>
            <a:r>
              <a:rPr lang="en-US" sz="1400" dirty="0">
                <a:solidFill>
                  <a:srgbClr val="FFFFFF"/>
                </a:solidFill>
                <a:latin typeface="Open Sans" pitchFamily="34" charset="0"/>
                <a:ea typeface="Open Sans" pitchFamily="34" charset="-122"/>
                <a:cs typeface="Open Sans" pitchFamily="34" charset="-120"/>
              </a:rPr>
              <a:t>Si buscás un cursito de 200 dólares que promete soluciones mágicas y a los diez días te devuelve a la misma rutina de antes, esto no es lo que estás buscando.</a:t>
            </a:r>
            <a:endParaRPr lang="en-US" sz="1400" dirty="0"/>
          </a:p>
        </p:txBody>
      </p:sp>
      <p:sp>
        <p:nvSpPr>
          <p:cNvPr id="17" name="Shape 15"/>
          <p:cNvSpPr/>
          <p:nvPr/>
        </p:nvSpPr>
        <p:spPr>
          <a:xfrm>
            <a:off x="6666890" y="5473598"/>
            <a:ext cx="4800600" cy="0"/>
          </a:xfrm>
          <a:prstGeom prst="line">
            <a:avLst/>
          </a:prstGeom>
          <a:noFill/>
          <a:ln w="12700">
            <a:solidFill>
              <a:srgbClr val="FFFFFF">
                <a:alpha val="14000"/>
              </a:srgbClr>
            </a:solidFill>
            <a:prstDash val="solid"/>
          </a:ln>
        </p:spPr>
      </p:sp>
      <p:sp>
        <p:nvSpPr>
          <p:cNvPr id="18" name="Text 16"/>
          <p:cNvSpPr/>
          <p:nvPr/>
        </p:nvSpPr>
        <p:spPr>
          <a:xfrm>
            <a:off x="6666890" y="5626303"/>
            <a:ext cx="4800600" cy="825703"/>
          </a:xfrm>
          <a:prstGeom prst="rect">
            <a:avLst/>
          </a:prstGeom>
          <a:noFill/>
          <a:ln/>
        </p:spPr>
        <p:txBody>
          <a:bodyPr wrap="square" lIns="0" tIns="0" rIns="0" bIns="0" rtlCol="0" anchor="ctr"/>
          <a:lstStyle/>
          <a:p>
            <a:pPr indent="0" marL="0">
              <a:lnSpc>
                <a:spcPct val="140000"/>
              </a:lnSpc>
              <a:buNone/>
            </a:pPr>
            <a:r>
              <a:rPr lang="en-US" sz="1300" dirty="0">
                <a:solidFill>
                  <a:srgbClr val="C9D2DA"/>
                </a:solidFill>
                <a:latin typeface="Open Sans" pitchFamily="34" charset="0"/>
                <a:ea typeface="Open Sans" pitchFamily="34" charset="-122"/>
                <a:cs typeface="Open Sans" pitchFamily="34" charset="-120"/>
              </a:rPr>
              <a:t>Trabajamos con gente que tiene </a:t>
            </a:r>
            <a:pPr indent="0" marL="0">
              <a:lnSpc>
                <a:spcPct val="140000"/>
              </a:lnSpc>
              <a:buNone/>
            </a:pPr>
            <a:r>
              <a:rPr lang="en-US" sz="1300" b="1" dirty="0">
                <a:solidFill>
                  <a:srgbClr val="C9D2DA"/>
                </a:solidFill>
                <a:latin typeface="Open Sans" pitchFamily="34" charset="0"/>
                <a:ea typeface="Open Sans" pitchFamily="34" charset="-122"/>
                <a:cs typeface="Open Sans" pitchFamily="34" charset="-120"/>
              </a:rPr>
              <a:t>un objetivo concreto y una vida exigente encima</a:t>
            </a:r>
            <a:pPr indent="0" marL="0">
              <a:lnSpc>
                <a:spcPct val="140000"/>
              </a:lnSpc>
              <a:buNone/>
            </a:pPr>
            <a:r>
              <a:rPr lang="en-US" sz="1300" dirty="0">
                <a:solidFill>
                  <a:srgbClr val="C9D2DA"/>
                </a:solidFill>
                <a:latin typeface="Open Sans" pitchFamily="34" charset="0"/>
                <a:ea typeface="Open Sans" pitchFamily="34" charset="-122"/>
                <a:cs typeface="Open Sans" pitchFamily="34" charset="-120"/>
              </a:rPr>
              <a:t>: un negocio, un equipo, una carrera, un proyecto propio. Si hoy tu prioridad es llegar a fin de mes o batallar para pagar el alquiler: </a:t>
            </a:r>
            <a:pPr indent="0" marL="0">
              <a:lnSpc>
                <a:spcPct val="140000"/>
              </a:lnSpc>
              <a:buNone/>
            </a:pPr>
            <a:r>
              <a:rPr lang="en-US" sz="1300" b="1" dirty="0">
                <a:solidFill>
                  <a:srgbClr val="C9D2DA"/>
                </a:solidFill>
                <a:latin typeface="Open Sans" pitchFamily="34" charset="0"/>
                <a:ea typeface="Open Sans" pitchFamily="34" charset="-122"/>
                <a:cs typeface="Open Sans" pitchFamily="34" charset="-120"/>
              </a:rPr>
              <a:t>hoy no es tu momento</a:t>
            </a:r>
            <a:pPr indent="0" marL="0">
              <a:lnSpc>
                <a:spcPct val="140000"/>
              </a:lnSpc>
              <a:buNone/>
            </a:pPr>
            <a:r>
              <a:rPr lang="en-US" sz="1300" dirty="0">
                <a:solidFill>
                  <a:srgbClr val="C9D2DA"/>
                </a:solidFill>
                <a:latin typeface="Open Sans" pitchFamily="34" charset="0"/>
                <a:ea typeface="Open Sans" pitchFamily="34" charset="-122"/>
                <a:cs typeface="Open Sans" pitchFamily="34" charset="-120"/>
              </a:rPr>
              <a:t> — y está perfecto.</a:t>
            </a:r>
            <a:endParaRPr lang="en-US" sz="1300" dirty="0"/>
          </a:p>
        </p:txBody>
      </p:sp>
      <p:sp>
        <p:nvSpPr>
          <p:cNvPr id="19" name="Text 17"/>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6B7280"/>
                </a:solidFill>
                <a:latin typeface="Courier New" pitchFamily="34" charset="0"/>
                <a:ea typeface="Courier New" pitchFamily="34" charset="-122"/>
                <a:cs typeface="Courier New" pitchFamily="34" charset="-120"/>
              </a:rPr>
              <a:t>09 / 11</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1D30"/>
        </a:solidFill>
      </p:bgPr>
    </p:bg>
    <p:spTree>
      <p:nvGrpSpPr>
        <p:cNvPr id="1" name=""/>
        <p:cNvGrpSpPr/>
        <p:nvPr/>
      </p:nvGrpSpPr>
      <p:grpSpPr>
        <a:xfrm>
          <a:off x="0" y="0"/>
          <a:ext cx="0" cy="0"/>
          <a:chOff x="0" y="0"/>
          <a:chExt cx="0" cy="0"/>
        </a:xfrm>
      </p:grpSpPr>
      <p:sp>
        <p:nvSpPr>
          <p:cNvPr id="2" name="Shape 0"/>
          <p:cNvSpPr/>
          <p:nvPr/>
        </p:nvSpPr>
        <p:spPr>
          <a:xfrm>
            <a:off x="825703" y="1270102"/>
            <a:ext cx="609905" cy="32004"/>
          </a:xfrm>
          <a:prstGeom prst="rect">
            <a:avLst/>
          </a:prstGeom>
          <a:solidFill>
            <a:srgbClr val="FF6602"/>
          </a:solidFill>
          <a:ln/>
        </p:spPr>
      </p:sp>
      <p:sp>
        <p:nvSpPr>
          <p:cNvPr id="3" name="Text 1"/>
          <p:cNvSpPr/>
          <p:nvPr/>
        </p:nvSpPr>
        <p:spPr>
          <a:xfrm>
            <a:off x="1548994" y="1181405"/>
            <a:ext cx="5715000" cy="215798"/>
          </a:xfrm>
          <a:prstGeom prst="rect">
            <a:avLst/>
          </a:prstGeom>
          <a:noFill/>
          <a:ln/>
        </p:spPr>
        <p:txBody>
          <a:bodyPr wrap="square" lIns="0" tIns="0" rIns="0" bIns="0" rtlCol="0" anchor="ctr"/>
          <a:lstStyle/>
          <a:p>
            <a:pPr indent="0" marL="0">
              <a:buNone/>
            </a:pPr>
            <a:r>
              <a:rPr lang="en-US" sz="1300" b="1" spc="400" kern="0" dirty="0">
                <a:solidFill>
                  <a:srgbClr val="FFFFFF"/>
                </a:solidFill>
                <a:latin typeface="Courier New" pitchFamily="34" charset="0"/>
                <a:ea typeface="Courier New" pitchFamily="34" charset="-122"/>
                <a:cs typeface="Courier New" pitchFamily="34" charset="-120"/>
              </a:rPr>
              <a:t>CÓMO SE ENTRA</a:t>
            </a:r>
            <a:endParaRPr lang="en-US" sz="1300" dirty="0"/>
          </a:p>
        </p:txBody>
      </p:sp>
      <p:sp>
        <p:nvSpPr>
          <p:cNvPr id="4" name="Text 2"/>
          <p:cNvSpPr/>
          <p:nvPr/>
        </p:nvSpPr>
        <p:spPr>
          <a:xfrm>
            <a:off x="825703" y="1777594"/>
            <a:ext cx="6032297" cy="1270102"/>
          </a:xfrm>
          <a:prstGeom prst="rect">
            <a:avLst/>
          </a:prstGeom>
          <a:noFill/>
          <a:ln/>
        </p:spPr>
        <p:txBody>
          <a:bodyPr wrap="square" lIns="0" tIns="0" rIns="0" bIns="0" rtlCol="0" anchor="ctr"/>
          <a:lstStyle/>
          <a:p>
            <a:pPr indent="0" marL="0">
              <a:lnSpc>
                <a:spcPct val="106000"/>
              </a:lnSpc>
              <a:buNone/>
            </a:pPr>
            <a:r>
              <a:rPr lang="en-US" sz="4000" b="1" spc="-50" kern="0" dirty="0">
                <a:solidFill>
                  <a:srgbClr val="FFFFFF"/>
                </a:solidFill>
                <a:latin typeface="Montserrat" pitchFamily="34" charset="0"/>
                <a:ea typeface="Montserrat" pitchFamily="34" charset="-122"/>
                <a:cs typeface="Montserrat" pitchFamily="34" charset="-120"/>
              </a:rPr>
              <a:t>No te pido que hagas todo hoy.</a:t>
            </a:r>
            <a:endParaRPr lang="en-US" sz="4000" dirty="0"/>
          </a:p>
          <a:p>
            <a:pPr indent="0" marL="0">
              <a:lnSpc>
                <a:spcPct val="106000"/>
              </a:lnSpc>
              <a:buNone/>
            </a:pPr>
            <a:r>
              <a:rPr lang="en-US" sz="4000" b="1" spc="-50" kern="0" dirty="0">
                <a:solidFill>
                  <a:srgbClr val="FFFFFF"/>
                </a:solidFill>
                <a:latin typeface="Montserrat" pitchFamily="34" charset="0"/>
                <a:ea typeface="Montserrat" pitchFamily="34" charset="-122"/>
                <a:cs typeface="Montserrat" pitchFamily="34" charset="-120"/>
              </a:rPr>
              <a:t>Te pido </a:t>
            </a:r>
            <a:endParaRPr lang="en-US" sz="4000" dirty="0"/>
          </a:p>
          <a:p>
            <a:pPr indent="0" marL="0">
              <a:lnSpc>
                <a:spcPct val="106000"/>
              </a:lnSpc>
              <a:buNone/>
            </a:pPr>
            <a:r>
              <a:rPr lang="en-US" sz="4000" b="1" spc="-50" kern="0" dirty="0">
                <a:solidFill>
                  <a:srgbClr val="FF6602"/>
                </a:solidFill>
                <a:latin typeface="Montserrat" pitchFamily="34" charset="0"/>
                <a:ea typeface="Montserrat" pitchFamily="34" charset="-122"/>
                <a:cs typeface="Montserrat" pitchFamily="34" charset="-120"/>
              </a:rPr>
              <a:t>tu 1%</a:t>
            </a:r>
            <a:pPr indent="0" marL="0">
              <a:lnSpc>
                <a:spcPct val="106000"/>
              </a:lnSpc>
              <a:buNone/>
            </a:pPr>
            <a:r>
              <a:rPr lang="en-US" sz="4000" b="1" spc="-50" kern="0" dirty="0">
                <a:solidFill>
                  <a:srgbClr val="FFFFFF"/>
                </a:solidFill>
                <a:latin typeface="Montserrat" pitchFamily="34" charset="0"/>
                <a:ea typeface="Montserrat" pitchFamily="34" charset="-122"/>
                <a:cs typeface="Montserrat" pitchFamily="34" charset="-120"/>
              </a:rPr>
              <a:t>.</a:t>
            </a:r>
            <a:endParaRPr lang="en-US" sz="4000" dirty="0"/>
          </a:p>
        </p:txBody>
      </p:sp>
      <p:sp>
        <p:nvSpPr>
          <p:cNvPr id="5" name="Text 3"/>
          <p:cNvSpPr/>
          <p:nvPr/>
        </p:nvSpPr>
        <p:spPr>
          <a:xfrm>
            <a:off x="825703" y="3174797"/>
            <a:ext cx="5715000" cy="698602"/>
          </a:xfrm>
          <a:prstGeom prst="rect">
            <a:avLst/>
          </a:prstGeom>
          <a:noFill/>
          <a:ln/>
        </p:spPr>
        <p:txBody>
          <a:bodyPr wrap="square" lIns="0" tIns="0" rIns="0" bIns="0" rtlCol="0" anchor="ctr"/>
          <a:lstStyle/>
          <a:p>
            <a:pPr indent="0" marL="0">
              <a:lnSpc>
                <a:spcPct val="145000"/>
              </a:lnSpc>
              <a:buNone/>
            </a:pPr>
            <a:r>
              <a:rPr lang="en-US" sz="1600" dirty="0">
                <a:solidFill>
                  <a:srgbClr val="C9D2DA"/>
                </a:solidFill>
                <a:latin typeface="Open Sans" pitchFamily="34" charset="0"/>
                <a:ea typeface="Open Sans" pitchFamily="34" charset="-122"/>
                <a:cs typeface="Open Sans" pitchFamily="34" charset="-120"/>
              </a:rPr>
              <a:t>Escaneás el QR, respondés unas preguntas, elegís horario. Todo lo demás del camino que te mostré pasa solo.</a:t>
            </a:r>
            <a:endParaRPr lang="en-US" sz="1600" dirty="0"/>
          </a:p>
        </p:txBody>
      </p:sp>
      <p:sp>
        <p:nvSpPr>
          <p:cNvPr id="6" name="Shape 4"/>
          <p:cNvSpPr/>
          <p:nvPr/>
        </p:nvSpPr>
        <p:spPr>
          <a:xfrm>
            <a:off x="825703" y="4063594"/>
            <a:ext cx="1714500" cy="405994"/>
          </a:xfrm>
          <a:prstGeom prst="roundRect">
            <a:avLst>
              <a:gd name="adj" fmla="val 45045"/>
            </a:avLst>
          </a:prstGeom>
          <a:solidFill>
            <a:srgbClr val="FFFFFF">
              <a:alpha val="8000"/>
            </a:srgbClr>
          </a:solidFill>
          <a:ln w="12700">
            <a:solidFill>
              <a:srgbClr val="FFFFFF">
                <a:alpha val="20000"/>
              </a:srgbClr>
            </a:solidFill>
            <a:prstDash val="solid"/>
          </a:ln>
        </p:spPr>
      </p:sp>
      <p:sp>
        <p:nvSpPr>
          <p:cNvPr id="7" name="Text 5"/>
          <p:cNvSpPr/>
          <p:nvPr/>
        </p:nvSpPr>
        <p:spPr>
          <a:xfrm>
            <a:off x="825703" y="4063594"/>
            <a:ext cx="1714500" cy="405994"/>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ourier New" pitchFamily="34" charset="0"/>
                <a:ea typeface="Courier New" pitchFamily="34" charset="-122"/>
                <a:cs typeface="Courier New" pitchFamily="34" charset="-120"/>
              </a:rPr>
              <a:t>01 · Escaneás</a:t>
            </a:r>
            <a:endParaRPr lang="en-US" sz="1200" dirty="0"/>
          </a:p>
        </p:txBody>
      </p:sp>
      <p:sp>
        <p:nvSpPr>
          <p:cNvPr id="8" name="Shape 6"/>
          <p:cNvSpPr/>
          <p:nvPr/>
        </p:nvSpPr>
        <p:spPr>
          <a:xfrm>
            <a:off x="2730398" y="4063594"/>
            <a:ext cx="1714500" cy="405994"/>
          </a:xfrm>
          <a:prstGeom prst="roundRect">
            <a:avLst>
              <a:gd name="adj" fmla="val 45045"/>
            </a:avLst>
          </a:prstGeom>
          <a:solidFill>
            <a:srgbClr val="FFFFFF">
              <a:alpha val="8000"/>
            </a:srgbClr>
          </a:solidFill>
          <a:ln w="12700">
            <a:solidFill>
              <a:srgbClr val="FFFFFF">
                <a:alpha val="20000"/>
              </a:srgbClr>
            </a:solidFill>
            <a:prstDash val="solid"/>
          </a:ln>
        </p:spPr>
      </p:sp>
      <p:sp>
        <p:nvSpPr>
          <p:cNvPr id="9" name="Text 7"/>
          <p:cNvSpPr/>
          <p:nvPr/>
        </p:nvSpPr>
        <p:spPr>
          <a:xfrm>
            <a:off x="2730398" y="4063594"/>
            <a:ext cx="1714500" cy="405994"/>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ourier New" pitchFamily="34" charset="0"/>
                <a:ea typeface="Courier New" pitchFamily="34" charset="-122"/>
                <a:cs typeface="Courier New" pitchFamily="34" charset="-120"/>
              </a:rPr>
              <a:t>02 · Respondés</a:t>
            </a:r>
            <a:endParaRPr lang="en-US" sz="1200" dirty="0"/>
          </a:p>
        </p:txBody>
      </p:sp>
      <p:sp>
        <p:nvSpPr>
          <p:cNvPr id="10" name="Shape 8"/>
          <p:cNvSpPr/>
          <p:nvPr/>
        </p:nvSpPr>
        <p:spPr>
          <a:xfrm>
            <a:off x="4635094" y="4063594"/>
            <a:ext cx="1714500" cy="405994"/>
          </a:xfrm>
          <a:prstGeom prst="roundRect">
            <a:avLst>
              <a:gd name="adj" fmla="val 45045"/>
            </a:avLst>
          </a:prstGeom>
          <a:solidFill>
            <a:srgbClr val="FFFFFF">
              <a:alpha val="8000"/>
            </a:srgbClr>
          </a:solidFill>
          <a:ln w="12700">
            <a:solidFill>
              <a:srgbClr val="FFFFFF">
                <a:alpha val="20000"/>
              </a:srgbClr>
            </a:solidFill>
            <a:prstDash val="solid"/>
          </a:ln>
        </p:spPr>
      </p:sp>
      <p:sp>
        <p:nvSpPr>
          <p:cNvPr id="11" name="Text 9"/>
          <p:cNvSpPr/>
          <p:nvPr/>
        </p:nvSpPr>
        <p:spPr>
          <a:xfrm>
            <a:off x="4635094" y="4063594"/>
            <a:ext cx="1714500" cy="405994"/>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ourier New" pitchFamily="34" charset="0"/>
                <a:ea typeface="Courier New" pitchFamily="34" charset="-122"/>
                <a:cs typeface="Courier New" pitchFamily="34" charset="-120"/>
              </a:rPr>
              <a:t>03 · Elegís horario</a:t>
            </a:r>
            <a:endParaRPr lang="en-US" sz="1200" dirty="0"/>
          </a:p>
        </p:txBody>
      </p:sp>
      <p:sp>
        <p:nvSpPr>
          <p:cNvPr id="12" name="Text 10"/>
          <p:cNvSpPr/>
          <p:nvPr/>
        </p:nvSpPr>
        <p:spPr>
          <a:xfrm>
            <a:off x="825703" y="4749394"/>
            <a:ext cx="5715000" cy="381305"/>
          </a:xfrm>
          <a:prstGeom prst="rect">
            <a:avLst/>
          </a:prstGeom>
          <a:noFill/>
          <a:ln/>
        </p:spPr>
        <p:txBody>
          <a:bodyPr wrap="square" lIns="0" tIns="0" rIns="0" bIns="0" rtlCol="0" anchor="ctr"/>
          <a:lstStyle/>
          <a:p>
            <a:pPr indent="0" marL="0">
              <a:buNone/>
            </a:pPr>
            <a:r>
              <a:rPr lang="en-US" sz="1400" b="1" dirty="0">
                <a:solidFill>
                  <a:srgbClr val="FFFFFF"/>
                </a:solidFill>
                <a:latin typeface="Open Sans" pitchFamily="34" charset="0"/>
                <a:ea typeface="Open Sans" pitchFamily="34" charset="-122"/>
                <a:cs typeface="Open Sans" pitchFamily="34" charset="-120"/>
              </a:rPr>
              <a:t>Entrevista de admisión. </a:t>
            </a:r>
            <a:pPr indent="0" marL="0">
              <a:buNone/>
            </a:pPr>
            <a:r>
              <a:rPr lang="en-US" sz="1400" dirty="0">
                <a:solidFill>
                  <a:srgbClr val="C9D2DA"/>
                </a:solidFill>
                <a:latin typeface="Open Sans" pitchFamily="34" charset="0"/>
                <a:ea typeface="Open Sans" pitchFamily="34" charset="-122"/>
                <a:cs typeface="Open Sans" pitchFamily="34" charset="-120"/>
              </a:rPr>
              <a:t>Videollamada personal con nuestro Director de Admisiones.</a:t>
            </a:r>
            <a:endParaRPr lang="en-US" sz="1400" dirty="0"/>
          </a:p>
        </p:txBody>
      </p:sp>
      <p:sp>
        <p:nvSpPr>
          <p:cNvPr id="13" name="Shape 11"/>
          <p:cNvSpPr/>
          <p:nvPr/>
        </p:nvSpPr>
        <p:spPr>
          <a:xfrm>
            <a:off x="7873898" y="1904695"/>
            <a:ext cx="2793492" cy="2793492"/>
          </a:xfrm>
          <a:prstGeom prst="roundRect">
            <a:avLst>
              <a:gd name="adj" fmla="val 2619"/>
            </a:avLst>
          </a:prstGeom>
          <a:solidFill>
            <a:srgbClr val="FFFFFF"/>
          </a:solidFill>
          <a:ln/>
        </p:spPr>
      </p:sp>
      <p:sp>
        <p:nvSpPr>
          <p:cNvPr id="14" name="Text 12"/>
          <p:cNvSpPr/>
          <p:nvPr/>
        </p:nvSpPr>
        <p:spPr>
          <a:xfrm>
            <a:off x="7873898" y="1904695"/>
            <a:ext cx="2793492" cy="2793492"/>
          </a:xfrm>
          <a:prstGeom prst="rect">
            <a:avLst/>
          </a:prstGeom>
          <a:noFill/>
          <a:ln/>
        </p:spPr>
        <p:txBody>
          <a:bodyPr wrap="square" lIns="0" tIns="0" rIns="0" bIns="0" rtlCol="0" anchor="ctr"/>
          <a:lstStyle/>
          <a:p>
            <a:pPr algn="ctr" indent="0" marL="0">
              <a:buNone/>
            </a:pPr>
            <a:r>
              <a:rPr lang="en-US" sz="1600" b="1" dirty="0">
                <a:solidFill>
                  <a:srgbClr val="C9D2DA"/>
                </a:solidFill>
                <a:latin typeface="Montserrat" pitchFamily="34" charset="0"/>
                <a:ea typeface="Montserrat" pitchFamily="34" charset="-122"/>
                <a:cs typeface="Montserrat" pitchFamily="34" charset="-120"/>
              </a:rPr>
              <a:t>Pegá acá</a:t>
            </a:r>
            <a:endParaRPr lang="en-US" sz="1600" dirty="0"/>
          </a:p>
          <a:p>
            <a:pPr algn="ctr" indent="0" marL="0">
              <a:buNone/>
            </a:pPr>
            <a:r>
              <a:rPr lang="en-US" sz="1600" b="1" dirty="0">
                <a:solidFill>
                  <a:srgbClr val="C9D2DA"/>
                </a:solidFill>
                <a:latin typeface="Montserrat" pitchFamily="34" charset="0"/>
                <a:ea typeface="Montserrat" pitchFamily="34" charset="-122"/>
                <a:cs typeface="Montserrat" pitchFamily="34" charset="-120"/>
              </a:rPr>
              <a:t>el QR</a:t>
            </a:r>
            <a:endParaRPr lang="en-US" sz="1600" dirty="0"/>
          </a:p>
        </p:txBody>
      </p:sp>
      <p:sp>
        <p:nvSpPr>
          <p:cNvPr id="15" name="Text 13"/>
          <p:cNvSpPr/>
          <p:nvPr/>
        </p:nvSpPr>
        <p:spPr>
          <a:xfrm>
            <a:off x="7873898" y="4863694"/>
            <a:ext cx="2793492" cy="317297"/>
          </a:xfrm>
          <a:prstGeom prst="rect">
            <a:avLst/>
          </a:prstGeom>
          <a:noFill/>
          <a:ln/>
        </p:spPr>
        <p:txBody>
          <a:bodyPr wrap="square" lIns="0" tIns="0" rIns="0" bIns="0" rtlCol="0" anchor="ctr"/>
          <a:lstStyle/>
          <a:p>
            <a:pPr algn="ctr" indent="0" marL="0">
              <a:buNone/>
            </a:pPr>
            <a:r>
              <a:rPr lang="en-US" sz="1600" b="1" dirty="0">
                <a:solidFill>
                  <a:srgbClr val="FF6602"/>
                </a:solidFill>
                <a:latin typeface="Montserrat" pitchFamily="34" charset="0"/>
                <a:ea typeface="Montserrat" pitchFamily="34" charset="-122"/>
                <a:cs typeface="Montserrat" pitchFamily="34" charset="-120"/>
              </a:rPr>
              <a:t>12 cupos esta semana.</a:t>
            </a:r>
            <a:endParaRPr lang="en-US" sz="1600" dirty="0"/>
          </a:p>
        </p:txBody>
      </p:sp>
      <p:sp>
        <p:nvSpPr>
          <p:cNvPr id="16" name="Text 14"/>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6B7280"/>
                </a:solidFill>
                <a:latin typeface="Courier New" pitchFamily="34" charset="0"/>
                <a:ea typeface="Courier New" pitchFamily="34" charset="-122"/>
                <a:cs typeface="Courier New" pitchFamily="34" charset="-120"/>
              </a:rPr>
              <a:t>10 / 11</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81405" y="2540203"/>
            <a:ext cx="9232697" cy="0"/>
          </a:xfrm>
          <a:prstGeom prst="line">
            <a:avLst/>
          </a:prstGeom>
          <a:noFill/>
          <a:ln w="38100">
            <a:solidFill>
              <a:srgbClr val="C9D2DA"/>
            </a:solidFill>
            <a:prstDash val="sysDot"/>
          </a:ln>
        </p:spPr>
      </p:sp>
      <p:sp>
        <p:nvSpPr>
          <p:cNvPr id="3" name="Shape 1"/>
          <p:cNvSpPr/>
          <p:nvPr/>
        </p:nvSpPr>
        <p:spPr>
          <a:xfrm>
            <a:off x="1181405" y="2540203"/>
            <a:ext cx="9232697" cy="0"/>
          </a:xfrm>
          <a:prstGeom prst="line">
            <a:avLst/>
          </a:prstGeom>
          <a:noFill/>
          <a:ln w="50800">
            <a:solidFill>
              <a:srgbClr val="FF6602"/>
            </a:solidFill>
            <a:prstDash val="solid"/>
          </a:ln>
        </p:spPr>
      </p:sp>
      <p:sp>
        <p:nvSpPr>
          <p:cNvPr id="4" name="Shape 2"/>
          <p:cNvSpPr/>
          <p:nvPr/>
        </p:nvSpPr>
        <p:spPr>
          <a:xfrm>
            <a:off x="1098194" y="2456993"/>
            <a:ext cx="165506" cy="165506"/>
          </a:xfrm>
          <a:prstGeom prst="ellipse">
            <a:avLst/>
          </a:prstGeom>
          <a:solidFill>
            <a:srgbClr val="0C3452"/>
          </a:solidFill>
          <a:ln/>
        </p:spPr>
      </p:sp>
      <p:sp>
        <p:nvSpPr>
          <p:cNvPr id="5" name="Text 3"/>
          <p:cNvSpPr/>
          <p:nvPr/>
        </p:nvSpPr>
        <p:spPr>
          <a:xfrm>
            <a:off x="418795" y="2704795"/>
            <a:ext cx="1524305" cy="190195"/>
          </a:xfrm>
          <a:prstGeom prst="rect">
            <a:avLst/>
          </a:prstGeom>
          <a:noFill/>
          <a:ln/>
        </p:spPr>
        <p:txBody>
          <a:bodyPr wrap="square" lIns="0" tIns="0" rIns="0" bIns="0" rtlCol="0" anchor="ctr"/>
          <a:lstStyle/>
          <a:p>
            <a:pPr algn="ctr" indent="0" marL="0">
              <a:buNone/>
            </a:pPr>
            <a:r>
              <a:rPr lang="en-US" sz="1100" spc="300" kern="0" dirty="0">
                <a:solidFill>
                  <a:srgbClr val="0C3452"/>
                </a:solidFill>
                <a:latin typeface="Courier New" pitchFamily="34" charset="0"/>
                <a:ea typeface="Courier New" pitchFamily="34" charset="-122"/>
                <a:cs typeface="Courier New" pitchFamily="34" charset="-120"/>
              </a:rPr>
              <a:t>ESTÁS ACÁ</a:t>
            </a:r>
            <a:endParaRPr lang="en-US" sz="1100" dirty="0"/>
          </a:p>
        </p:txBody>
      </p:sp>
      <p:sp>
        <p:nvSpPr>
          <p:cNvPr id="6" name="Shape 4"/>
          <p:cNvSpPr/>
          <p:nvPr/>
        </p:nvSpPr>
        <p:spPr>
          <a:xfrm>
            <a:off x="3010205" y="2247595"/>
            <a:ext cx="584302" cy="584302"/>
          </a:xfrm>
          <a:prstGeom prst="ellipse">
            <a:avLst/>
          </a:prstGeom>
          <a:solidFill>
            <a:srgbClr val="FFFFFF"/>
          </a:solidFill>
          <a:ln w="38100">
            <a:solidFill>
              <a:srgbClr val="0C3452"/>
            </a:solidFill>
            <a:prstDash val="solid"/>
          </a:ln>
        </p:spPr>
      </p:sp>
      <p:sp>
        <p:nvSpPr>
          <p:cNvPr id="7" name="Shape 5"/>
          <p:cNvSpPr/>
          <p:nvPr/>
        </p:nvSpPr>
        <p:spPr>
          <a:xfrm>
            <a:off x="3467405" y="2221992"/>
            <a:ext cx="190195" cy="190195"/>
          </a:xfrm>
          <a:prstGeom prst="ellipse">
            <a:avLst/>
          </a:prstGeom>
          <a:solidFill>
            <a:srgbClr val="25D366"/>
          </a:solidFill>
          <a:ln/>
        </p:spPr>
      </p:sp>
      <p:sp>
        <p:nvSpPr>
          <p:cNvPr id="8" name="Text 6"/>
          <p:cNvSpPr/>
          <p:nvPr/>
        </p:nvSpPr>
        <p:spPr>
          <a:xfrm>
            <a:off x="3467405" y="2221992"/>
            <a:ext cx="190195" cy="190195"/>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9" name="Text 7"/>
          <p:cNvSpPr/>
          <p:nvPr/>
        </p:nvSpPr>
        <p:spPr>
          <a:xfrm>
            <a:off x="2793492" y="2870302"/>
            <a:ext cx="1015898" cy="304495"/>
          </a:xfrm>
          <a:prstGeom prst="rect">
            <a:avLst/>
          </a:prstGeom>
          <a:noFill/>
          <a:ln/>
        </p:spPr>
        <p:txBody>
          <a:bodyPr wrap="square" lIns="0" tIns="0" rIns="0" bIns="0" rtlCol="0" anchor="ctr"/>
          <a:lstStyle/>
          <a:p>
            <a:pPr algn="ctr" indent="0" marL="0">
              <a:buNone/>
            </a:pPr>
            <a:r>
              <a:rPr lang="en-US" sz="2600" b="1" dirty="0">
                <a:solidFill>
                  <a:srgbClr val="0C3452"/>
                </a:solidFill>
                <a:latin typeface="Montserrat" pitchFamily="34" charset="0"/>
                <a:ea typeface="Montserrat" pitchFamily="34" charset="-122"/>
                <a:cs typeface="Montserrat" pitchFamily="34" charset="-120"/>
              </a:rPr>
              <a:t>01</a:t>
            </a:r>
            <a:endParaRPr lang="en-US" sz="2600" dirty="0"/>
          </a:p>
        </p:txBody>
      </p:sp>
      <p:sp>
        <p:nvSpPr>
          <p:cNvPr id="10" name="Text 8"/>
          <p:cNvSpPr/>
          <p:nvPr/>
        </p:nvSpPr>
        <p:spPr>
          <a:xfrm>
            <a:off x="2158898" y="3161995"/>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APLICACIÓN</a:t>
            </a:r>
            <a:endParaRPr lang="en-US" sz="1500" dirty="0"/>
          </a:p>
        </p:txBody>
      </p:sp>
      <p:sp>
        <p:nvSpPr>
          <p:cNvPr id="11" name="Shape 9"/>
          <p:cNvSpPr/>
          <p:nvPr/>
        </p:nvSpPr>
        <p:spPr>
          <a:xfrm>
            <a:off x="6565392" y="2247595"/>
            <a:ext cx="584302" cy="584302"/>
          </a:xfrm>
          <a:prstGeom prst="ellipse">
            <a:avLst/>
          </a:prstGeom>
          <a:solidFill>
            <a:srgbClr val="FFFFFF"/>
          </a:solidFill>
          <a:ln w="38100">
            <a:solidFill>
              <a:srgbClr val="0C3452"/>
            </a:solidFill>
            <a:prstDash val="solid"/>
          </a:ln>
        </p:spPr>
      </p:sp>
      <p:sp>
        <p:nvSpPr>
          <p:cNvPr id="12" name="Shape 10"/>
          <p:cNvSpPr/>
          <p:nvPr/>
        </p:nvSpPr>
        <p:spPr>
          <a:xfrm>
            <a:off x="7022592" y="2221992"/>
            <a:ext cx="190195" cy="190195"/>
          </a:xfrm>
          <a:prstGeom prst="ellipse">
            <a:avLst/>
          </a:prstGeom>
          <a:solidFill>
            <a:srgbClr val="25D366"/>
          </a:solidFill>
          <a:ln/>
        </p:spPr>
      </p:sp>
      <p:sp>
        <p:nvSpPr>
          <p:cNvPr id="13" name="Text 11"/>
          <p:cNvSpPr/>
          <p:nvPr/>
        </p:nvSpPr>
        <p:spPr>
          <a:xfrm>
            <a:off x="7022592" y="2221992"/>
            <a:ext cx="190195" cy="190195"/>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4" name="Text 12"/>
          <p:cNvSpPr/>
          <p:nvPr/>
        </p:nvSpPr>
        <p:spPr>
          <a:xfrm>
            <a:off x="6349594" y="2870302"/>
            <a:ext cx="1015898" cy="304495"/>
          </a:xfrm>
          <a:prstGeom prst="rect">
            <a:avLst/>
          </a:prstGeom>
          <a:noFill/>
          <a:ln/>
        </p:spPr>
        <p:txBody>
          <a:bodyPr wrap="square" lIns="0" tIns="0" rIns="0" bIns="0" rtlCol="0" anchor="ctr"/>
          <a:lstStyle/>
          <a:p>
            <a:pPr algn="ctr" indent="0" marL="0">
              <a:buNone/>
            </a:pPr>
            <a:r>
              <a:rPr lang="en-US" sz="2600" b="1" dirty="0">
                <a:solidFill>
                  <a:srgbClr val="0C3452"/>
                </a:solidFill>
                <a:latin typeface="Montserrat" pitchFamily="34" charset="0"/>
                <a:ea typeface="Montserrat" pitchFamily="34" charset="-122"/>
                <a:cs typeface="Montserrat" pitchFamily="34" charset="-120"/>
              </a:rPr>
              <a:t>02</a:t>
            </a:r>
            <a:endParaRPr lang="en-US" sz="2600" dirty="0"/>
          </a:p>
        </p:txBody>
      </p:sp>
      <p:sp>
        <p:nvSpPr>
          <p:cNvPr id="15" name="Text 13"/>
          <p:cNvSpPr/>
          <p:nvPr/>
        </p:nvSpPr>
        <p:spPr>
          <a:xfrm>
            <a:off x="5715000" y="3161995"/>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LA ENTREVISTA</a:t>
            </a:r>
            <a:endParaRPr lang="en-US" sz="1500" dirty="0"/>
          </a:p>
        </p:txBody>
      </p:sp>
      <p:sp>
        <p:nvSpPr>
          <p:cNvPr id="16" name="Shape 14"/>
          <p:cNvSpPr/>
          <p:nvPr/>
        </p:nvSpPr>
        <p:spPr>
          <a:xfrm>
            <a:off x="10121494" y="2247595"/>
            <a:ext cx="584302" cy="584302"/>
          </a:xfrm>
          <a:prstGeom prst="ellipse">
            <a:avLst/>
          </a:prstGeom>
          <a:solidFill>
            <a:srgbClr val="FFFFFF"/>
          </a:solidFill>
          <a:ln w="38100">
            <a:solidFill>
              <a:srgbClr val="0C3452"/>
            </a:solidFill>
            <a:prstDash val="solid"/>
          </a:ln>
        </p:spPr>
      </p:sp>
      <p:sp>
        <p:nvSpPr>
          <p:cNvPr id="17" name="Shape 15"/>
          <p:cNvSpPr/>
          <p:nvPr/>
        </p:nvSpPr>
        <p:spPr>
          <a:xfrm>
            <a:off x="10578694" y="2221992"/>
            <a:ext cx="190195" cy="190195"/>
          </a:xfrm>
          <a:prstGeom prst="ellipse">
            <a:avLst/>
          </a:prstGeom>
          <a:solidFill>
            <a:srgbClr val="25D366"/>
          </a:solidFill>
          <a:ln/>
        </p:spPr>
      </p:sp>
      <p:sp>
        <p:nvSpPr>
          <p:cNvPr id="18" name="Text 16"/>
          <p:cNvSpPr/>
          <p:nvPr/>
        </p:nvSpPr>
        <p:spPr>
          <a:xfrm>
            <a:off x="10578694" y="2221992"/>
            <a:ext cx="190195" cy="190195"/>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Text 17"/>
          <p:cNvSpPr/>
          <p:nvPr/>
        </p:nvSpPr>
        <p:spPr>
          <a:xfrm>
            <a:off x="9905695" y="2870302"/>
            <a:ext cx="1015898" cy="304495"/>
          </a:xfrm>
          <a:prstGeom prst="rect">
            <a:avLst/>
          </a:prstGeom>
          <a:noFill/>
          <a:ln/>
        </p:spPr>
        <p:txBody>
          <a:bodyPr wrap="square" lIns="0" tIns="0" rIns="0" bIns="0" rtlCol="0" anchor="ctr"/>
          <a:lstStyle/>
          <a:p>
            <a:pPr algn="ctr" indent="0" marL="0">
              <a:buNone/>
            </a:pPr>
            <a:r>
              <a:rPr lang="en-US" sz="2600" b="1" dirty="0">
                <a:solidFill>
                  <a:srgbClr val="0C3452"/>
                </a:solidFill>
                <a:latin typeface="Montserrat" pitchFamily="34" charset="0"/>
                <a:ea typeface="Montserrat" pitchFamily="34" charset="-122"/>
                <a:cs typeface="Montserrat" pitchFamily="34" charset="-120"/>
              </a:rPr>
              <a:t>03</a:t>
            </a:r>
            <a:endParaRPr lang="en-US" sz="2600" dirty="0"/>
          </a:p>
        </p:txBody>
      </p:sp>
      <p:sp>
        <p:nvSpPr>
          <p:cNvPr id="20" name="Text 18"/>
          <p:cNvSpPr/>
          <p:nvPr/>
        </p:nvSpPr>
        <p:spPr>
          <a:xfrm>
            <a:off x="9271102" y="3161995"/>
            <a:ext cx="2286000" cy="228600"/>
          </a:xfrm>
          <a:prstGeom prst="rect">
            <a:avLst/>
          </a:prstGeom>
          <a:noFill/>
          <a:ln/>
        </p:spPr>
        <p:txBody>
          <a:bodyPr wrap="square" lIns="0" tIns="0" rIns="0" bIns="0" rtlCol="0" anchor="ctr"/>
          <a:lstStyle/>
          <a:p>
            <a:pPr algn="ctr" indent="0" marL="0">
              <a:buNone/>
            </a:pPr>
            <a:r>
              <a:rPr lang="en-US" sz="1500" b="1" spc="100" kern="0" dirty="0">
                <a:solidFill>
                  <a:srgbClr val="0C3452"/>
                </a:solidFill>
                <a:latin typeface="Montserrat" pitchFamily="34" charset="0"/>
                <a:ea typeface="Montserrat" pitchFamily="34" charset="-122"/>
                <a:cs typeface="Montserrat" pitchFamily="34" charset="-120"/>
              </a:rPr>
              <a:t>EL ACCESO</a:t>
            </a:r>
            <a:endParaRPr lang="en-US" sz="1500" dirty="0"/>
          </a:p>
        </p:txBody>
      </p:sp>
      <p:pic>
        <p:nvPicPr>
          <p:cNvPr id="21" name="Image 0" descr="/tmp/claude-0/-home-user-detodo/82f5030d-8aaf-57d2-9bf8-611f8273ee0c/scratchpad/pptx-nativo/img/mini-nico-marker.png">    </p:cNvPr>
          <p:cNvPicPr>
            <a:picLocks noChangeAspect="1"/>
          </p:cNvPicPr>
          <p:nvPr/>
        </p:nvPicPr>
        <p:blipFill>
          <a:blip r:embed="rId1"/>
          <a:stretch>
            <a:fillRect/>
          </a:stretch>
        </p:blipFill>
        <p:spPr>
          <a:xfrm>
            <a:off x="10019995" y="1091794"/>
            <a:ext cx="787298" cy="1155802"/>
          </a:xfrm>
          <a:prstGeom prst="rect">
            <a:avLst/>
          </a:prstGeom>
        </p:spPr>
      </p:pic>
      <p:sp>
        <p:nvSpPr>
          <p:cNvPr id="22" name="Text 19"/>
          <p:cNvSpPr/>
          <p:nvPr/>
        </p:nvSpPr>
        <p:spPr>
          <a:xfrm>
            <a:off x="825703" y="3810305"/>
            <a:ext cx="7619695" cy="1397203"/>
          </a:xfrm>
          <a:prstGeom prst="rect">
            <a:avLst/>
          </a:prstGeom>
          <a:noFill/>
          <a:ln/>
        </p:spPr>
        <p:txBody>
          <a:bodyPr wrap="square" lIns="0" tIns="0" rIns="0" bIns="0" rtlCol="0" anchor="ctr"/>
          <a:lstStyle/>
          <a:p>
            <a:pPr indent="0" marL="0">
              <a:lnSpc>
                <a:spcPct val="104000"/>
              </a:lnSpc>
              <a:buNone/>
            </a:pPr>
            <a:r>
              <a:rPr lang="en-US" sz="4200" b="1" spc="-50" kern="0" dirty="0">
                <a:solidFill>
                  <a:srgbClr val="0C3452"/>
                </a:solidFill>
                <a:latin typeface="Montserrat" pitchFamily="34" charset="0"/>
                <a:ea typeface="Montserrat" pitchFamily="34" charset="-122"/>
                <a:cs typeface="Montserrat" pitchFamily="34" charset="-120"/>
              </a:rPr>
              <a:t>Ese es el camino completo.</a:t>
            </a:r>
            <a:endParaRPr lang="en-US" sz="4200" dirty="0"/>
          </a:p>
          <a:p>
            <a:pPr indent="0" marL="0">
              <a:lnSpc>
                <a:spcPct val="104000"/>
              </a:lnSpc>
              <a:buNone/>
            </a:pPr>
            <a:r>
              <a:rPr lang="en-US" sz="4200" b="1" spc="-50" kern="0" dirty="0">
                <a:solidFill>
                  <a:srgbClr val="0C3452"/>
                </a:solidFill>
                <a:latin typeface="Montserrat" pitchFamily="34" charset="0"/>
                <a:ea typeface="Montserrat" pitchFamily="34" charset="-122"/>
                <a:cs typeface="Montserrat" pitchFamily="34" charset="-120"/>
              </a:rPr>
              <a:t>Ahora </a:t>
            </a:r>
            <a:endParaRPr lang="en-US" sz="4200" dirty="0"/>
          </a:p>
          <a:p>
            <a:pPr indent="0" marL="0">
              <a:lnSpc>
                <a:spcPct val="104000"/>
              </a:lnSpc>
              <a:buNone/>
            </a:pPr>
            <a:r>
              <a:rPr lang="en-US" sz="4200" b="1" spc="-50" kern="0" dirty="0">
                <a:solidFill>
                  <a:srgbClr val="FF6602"/>
                </a:solidFill>
                <a:latin typeface="Montserrat" pitchFamily="34" charset="0"/>
                <a:ea typeface="Montserrat" pitchFamily="34" charset="-122"/>
                <a:cs typeface="Montserrat" pitchFamily="34" charset="-120"/>
              </a:rPr>
              <a:t>te toca a vos</a:t>
            </a:r>
            <a:pPr indent="0" marL="0">
              <a:lnSpc>
                <a:spcPct val="104000"/>
              </a:lnSpc>
              <a:buNone/>
            </a:pPr>
            <a:r>
              <a:rPr lang="en-US" sz="4200" b="1" spc="-50" kern="0" dirty="0">
                <a:solidFill>
                  <a:srgbClr val="0C3452"/>
                </a:solidFill>
                <a:latin typeface="Montserrat" pitchFamily="34" charset="0"/>
                <a:ea typeface="Montserrat" pitchFamily="34" charset="-122"/>
                <a:cs typeface="Montserrat" pitchFamily="34" charset="-120"/>
              </a:rPr>
              <a:t>.</a:t>
            </a:r>
            <a:endParaRPr lang="en-US" sz="4200" dirty="0"/>
          </a:p>
        </p:txBody>
      </p:sp>
      <p:sp>
        <p:nvSpPr>
          <p:cNvPr id="23" name="Text 20"/>
          <p:cNvSpPr/>
          <p:nvPr/>
        </p:nvSpPr>
        <p:spPr>
          <a:xfrm>
            <a:off x="825703" y="5333695"/>
            <a:ext cx="7619695" cy="381305"/>
          </a:xfrm>
          <a:prstGeom prst="rect">
            <a:avLst/>
          </a:prstGeom>
          <a:noFill/>
          <a:ln/>
        </p:spPr>
        <p:txBody>
          <a:bodyPr wrap="square" lIns="0" tIns="0" rIns="0" bIns="0" rtlCol="0" anchor="ctr"/>
          <a:lstStyle/>
          <a:p>
            <a:pPr indent="0" marL="0">
              <a:buNone/>
            </a:pPr>
            <a:r>
              <a:rPr lang="en-US" sz="1600" dirty="0">
                <a:solidFill>
                  <a:srgbClr val="6B7280"/>
                </a:solidFill>
                <a:latin typeface="Open Sans" pitchFamily="34" charset="0"/>
                <a:ea typeface="Open Sans" pitchFamily="34" charset="-122"/>
                <a:cs typeface="Open Sans" pitchFamily="34" charset="-120"/>
              </a:rPr>
              <a:t>Todo esto se basa en una sola cosa: que pases a la acción. Nos vemos del otro lado.</a:t>
            </a:r>
            <a:endParaRPr lang="en-US" sz="1600" dirty="0"/>
          </a:p>
        </p:txBody>
      </p:sp>
      <p:sp>
        <p:nvSpPr>
          <p:cNvPr id="24" name="Text 21"/>
          <p:cNvSpPr/>
          <p:nvPr/>
        </p:nvSpPr>
        <p:spPr>
          <a:xfrm>
            <a:off x="10287000" y="6254496"/>
            <a:ext cx="1270102" cy="254203"/>
          </a:xfrm>
          <a:prstGeom prst="rect">
            <a:avLst/>
          </a:prstGeom>
          <a:noFill/>
          <a:ln/>
        </p:spPr>
        <p:txBody>
          <a:bodyPr wrap="square" lIns="0" tIns="0" rIns="0" bIns="0" rtlCol="0" anchor="ctr"/>
          <a:lstStyle/>
          <a:p>
            <a:pPr algn="r" indent="0" marL="0">
              <a:buNone/>
            </a:pPr>
            <a:r>
              <a:rPr lang="en-US" sz="1300" spc="300" kern="0" dirty="0">
                <a:solidFill>
                  <a:srgbClr val="C9D2DA"/>
                </a:solidFill>
                <a:latin typeface="Courier New" pitchFamily="34" charset="0"/>
                <a:ea typeface="Courier New" pitchFamily="34" charset="-122"/>
                <a:cs typeface="Courier New" pitchFamily="34" charset="-120"/>
              </a:rPr>
              <a:t>11 / 11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Instituto de Productividad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mapa del 1%</dc:title>
  <dc:subject>PptxGenJS Presentation</dc:subject>
  <dc:creator>Instituto NFM</dc:creator>
  <cp:lastModifiedBy>Instituto NFM</cp:lastModifiedBy>
  <cp:revision>1</cp:revision>
  <dcterms:created xsi:type="dcterms:W3CDTF">2026-08-24T16:10:33Z</dcterms:created>
  <dcterms:modified xsi:type="dcterms:W3CDTF">2026-08-24T16:10:33Z</dcterms:modified>
</cp:coreProperties>
</file>