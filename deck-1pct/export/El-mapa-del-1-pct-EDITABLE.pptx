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11 · Portada
• Cerraste la clase. Ahora les hacés la pregunta directa: ¿quieren que les muestres cómo aplicar esto en su vida, con acompañamiento?
CÓMO DECIRLO
Respirá. Cambiá el tono: acá dejás de enseñar y le hacés la pregunta a la sala, de verdad — dejá el silencio para que conteste mentalmente que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11 · El camino
• Va a ser así: la aplicación, la entrevista, y el acceso al sistema.
• Son tres pasos. Nada más que tres.
• Y de los tres, uno solo depende de vos: el de hoy.
CÓMO DECIRLO
Señalá los tres con la mano mientras los nombrás. Que se vea que es corto.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 11 · Reservás tu entrevista
• Este es tu 1% de hoy: reservás tu entrevista de admisión.
• Te vamos a preguntar unos datos. Es para asignarte el coach que corresponde a tu caso, no para llenar una planilla.
• Elegís el horario que te sirve.
CÓMO DECIRLO
Rápido, 15 segundos. Es el paso que tiene que sonar chico.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 11 · Tu autodiagnóstico
• Por WhatsApp te compartimos un autodiagnóstico.
• Este paso es clave: con esto armamos tu sistema. Tu sistema personal, no uno genérico.
• Lo que respondas acá es lo que después te llega hecho. Guardá esta idea, porque vuelve en el paso tres.
CÓMO DECIRLO
Acá sí frená un segundo. Es lo que convierte el trámite en algo que ya es tuyo.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11 · Con tu coach asignado
• Segundo paso: tu entrevista de admisión con tu coach asignado.
• Ahí vemos tu caso y vemos si realmente podemos ayudarte o no. Y a veces la respuesta es que no.
• No es una llamada para venderte nada. Es para ver si esto es para vos.
CÓMO DECIRLO
El "puede que no" dicho tranquilo baja la guardia más que cualquier otra frase del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 / 11 · Lo único que te pedimos
• Lo único que te pedimos: que nos confirmes por WhatsApp y que cumplas el horario que elegiste.
• Estamos invirtiendo recursos para poder ayudarte y mostrarte si el Instituto es para vos.
• Si agendás algo, respetá el tiempo de los profesionales. Es lo mismo que pedirías vos.
CÓMO DECIRLO
Firme pero sin reto. Es respeto mutuo, no una amenaza. Mirá a cámara acá.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 / 11 · Accedés a tu sistema
• Tercer paso: accedés a tu sistema.
• Si hacemos match, entrás a todo: doce sesiones uno a uno, seis clases en vivo por semana, el método completo.
• Y no me tenés solo a mí: tenés coaches, psicóloga, nutricionista. Un equipo entero atrás de tu caso.
CÓMO DECIRLO
El único momento del mapa donde te podés detener a enumerar. Nombrá al EQUIPO, no a vos: es lo que hace que la gente compre el sistema y no al gurú.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 / 11 · Y si no hacemos match
• Y si no hacemos match, igual te llevás tu entregable.
• Lo preparamos con tu autodiagnóstico, el que hiciste en el paso uno. Herramientas para tu caso específico.
• Acá nadie se va con las manos vacías. Todo esto se basa en que pases a la acción.
CÓMO DECIRLO
ESTA es la que elimina la fricción de "me van a vender". Decila lento y con los ojos en la cámara.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 / 11 · Antes de agendar
• Antes de darte el QR quiero ser honesto con vos, así no te hago perder el tiempo.
• Esto es para el que ya tiene algo andando y hoy es el cuello de botella de su propio negocio. El que llegó lejos a fuerza de horas y sabe que de acá no pasa sumando esfuerzo.
• No venís a empezar. Venís a que lo que ya construiste funcione sin que vos lo sostengas — no a punta de voluntad, más disciplina o más esfuerzo, sino con un sistema integral.
• Es una mentoría con un equipo que te sostiene: coaches, psicóloga, nutricionista, sesiones uno a uno. No estás comprando un curso, estás invirtiendo en un sistema integral.
• El monto se define en la entrevista, según tu caso y lo que necesites. No te vamos a recomendar el plan más caro, sino el que te vaya a dar resultados.
• Ahora, si lo que buscás es un cursito de 200 dólares que te promete soluciones mágicas y a los diez días te devuelve a la misma rutina de antes: esto no es lo que estás buscando.
• Trabajamos con gente que tiene un objetivo concreto y una vida exigente encima: un negocio, un equipo, una carrera, un proyecto propio. Si hoy tu prioridad es llegar a fin de mes o batallar para pagar el alquiler: hoy no es tu momento. Y está perfecto.
CÓMO DECIRLO
Techo, no pozo: le hablás al que llegó lejos y chocó contra un límite, no al que está fallando. La línea del cursito de 200 va con humor, sin desprecio. El cierre bajalo tranquilo: 'y está perfecto' se dice de verdad, no como escape.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11 · El QR
• Tu 1% de hoy es esto y nada más: escaneás, respondés, elegís horario.
• Todo lo demás del camino que te mostré pasa solo.
• Doce cupos esta semana, con el Director de Admisiones.
• Y si no lo hacés hoy no pasa nada grave: simplemente dentro de un año vas a estar exactamente donde estás hoy, con un año más de horas encima.
CÓMO DECIRLO
La urgencia va como costo de oportunidad, nunca como catástrofe. Nada de 'vas a colapsar'. Después dejá el QR en silencio unos segundos: no hables encima del escaneo.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11 · Cierre
• Ese es el camino completo.
• Todo esto se basa en una sola cosa: que pases a la acción.
• Nos vemos del otro lado.
CÓMO DECIRLO
Cierre corto. No agregues nada nuevo acá.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detodo/82f5030d-8aaf-57d2-9bf8-611f8273ee0c/scratchpad/pptx-hibrido/bg01.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548994" y="2076602"/>
            <a:ext cx="4082796" cy="196596"/>
          </a:xfrm>
          <a:prstGeom prst="rect">
            <a:avLst/>
          </a:prstGeom>
          <a:noFill/>
          <a:ln/>
        </p:spPr>
        <p:txBody>
          <a:bodyPr wrap="square" lIns="0" tIns="0" rIns="0" bIns="0" rtlCol="0" anchor="t"/>
          <a:lstStyle/>
          <a:p>
            <a:pPr algn="l" indent="0" marL="0">
              <a:lnSpc>
                <a:spcPts val="1430"/>
              </a:lnSpc>
              <a:buNone/>
            </a:pPr>
            <a:r>
              <a:rPr lang="en-US" sz="1100" spc="330" kern="0" dirty="0">
                <a:solidFill>
                  <a:srgbClr val="0C3452"/>
                </a:solidFill>
                <a:latin typeface="Consolas" pitchFamily="34" charset="0"/>
                <a:ea typeface="Consolas" pitchFamily="34" charset="-122"/>
                <a:cs typeface="Consolas" pitchFamily="34" charset="-120"/>
              </a:rPr>
              <a:t>INSTITUTO DE PRODUCTIVIDAD · NFM</a:t>
            </a:r>
            <a:endParaRPr lang="en-US" sz="1100" dirty="0"/>
          </a:p>
        </p:txBody>
      </p:sp>
      <p:sp>
        <p:nvSpPr>
          <p:cNvPr id="4" name="Text 1"/>
          <p:cNvSpPr txBox="1"/>
          <p:nvPr/>
        </p:nvSpPr>
        <p:spPr>
          <a:xfrm>
            <a:off x="825703" y="2641702"/>
            <a:ext cx="9956902" cy="1613002"/>
          </a:xfrm>
          <a:prstGeom prst="rect">
            <a:avLst/>
          </a:prstGeom>
          <a:noFill/>
          <a:ln/>
        </p:spPr>
        <p:txBody>
          <a:bodyPr wrap="square" lIns="0" tIns="0" rIns="0" bIns="0" rtlCol="0" anchor="t"/>
          <a:lstStyle/>
          <a:p>
            <a:pPr algn="l" indent="0" marL="0">
              <a:lnSpc>
                <a:spcPts val="4130"/>
              </a:lnSpc>
              <a:buNone/>
            </a:pPr>
            <a:r>
              <a:rPr lang="en-US" sz="3900" b="1" spc="-80" kern="0" dirty="0">
                <a:solidFill>
                  <a:srgbClr val="0C3452"/>
                </a:solidFill>
                <a:latin typeface="Montserrat" pitchFamily="34" charset="0"/>
                <a:ea typeface="Montserrat" pitchFamily="34" charset="-122"/>
                <a:cs typeface="Montserrat" pitchFamily="34" charset="-120"/>
              </a:rPr>
              <a:t>¿Querés que te muestre cómo aplicar el sistema completo en tu vida con nuestro </a:t>
            </a:r>
            <a:pPr algn="l" indent="0" marL="0">
              <a:lnSpc>
                <a:spcPts val="4130"/>
              </a:lnSpc>
              <a:buNone/>
            </a:pPr>
            <a:r>
              <a:rPr lang="en-US" sz="3900" b="1" spc="-80" kern="0" dirty="0">
                <a:solidFill>
                  <a:srgbClr val="FF6602"/>
                </a:solidFill>
                <a:latin typeface="Montserrat" pitchFamily="34" charset="0"/>
                <a:ea typeface="Montserrat" pitchFamily="34" charset="-122"/>
                <a:cs typeface="Montserrat" pitchFamily="34" charset="-120"/>
              </a:rPr>
              <a:t>acompañamiento</a:t>
            </a:r>
            <a:pPr algn="l" indent="0" marL="0">
              <a:lnSpc>
                <a:spcPts val="4130"/>
              </a:lnSpc>
              <a:buNone/>
            </a:pPr>
            <a:r>
              <a:rPr lang="en-US" sz="3900" b="1" spc="-80" kern="0" dirty="0">
                <a:solidFill>
                  <a:srgbClr val="0C3452"/>
                </a:solidFill>
                <a:latin typeface="Montserrat" pitchFamily="34" charset="0"/>
                <a:ea typeface="Montserrat" pitchFamily="34" charset="-122"/>
                <a:cs typeface="Montserrat" pitchFamily="34" charset="-120"/>
              </a:rPr>
              <a:t>?</a:t>
            </a:r>
            <a:endParaRPr lang="en-US" sz="3900" dirty="0"/>
          </a:p>
        </p:txBody>
      </p:sp>
      <p:sp>
        <p:nvSpPr>
          <p:cNvPr id="5" name="Text 2"/>
          <p:cNvSpPr txBox="1"/>
          <p:nvPr/>
        </p:nvSpPr>
        <p:spPr>
          <a:xfrm>
            <a:off x="825703" y="4496105"/>
            <a:ext cx="10591495" cy="323698"/>
          </a:xfrm>
          <a:prstGeom prst="rect">
            <a:avLst/>
          </a:prstGeom>
          <a:noFill/>
          <a:ln/>
        </p:spPr>
        <p:txBody>
          <a:bodyPr wrap="square" lIns="0" tIns="0" rIns="0" bIns="0" rtlCol="0" anchor="t"/>
          <a:lstStyle/>
          <a:p>
            <a:pPr algn="l" indent="0" marL="0">
              <a:lnSpc>
                <a:spcPts val="2600"/>
              </a:lnSpc>
              <a:buNone/>
            </a:pPr>
            <a:r>
              <a:rPr lang="en-US" sz="2000" b="1" dirty="0">
                <a:solidFill>
                  <a:srgbClr val="0C3452"/>
                </a:solidFill>
                <a:latin typeface="Open Sans" pitchFamily="34" charset="0"/>
                <a:ea typeface="Open Sans" pitchFamily="34" charset="-122"/>
                <a:cs typeface="Open Sans" pitchFamily="34" charset="-120"/>
              </a:rPr>
              <a:t>El camino que empieza hoy.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mp/claude-0/-home-user-detodo/82f5030d-8aaf-57d2-9bf8-611f8273ee0c/scratchpad/pptx-hibrido/bg02.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5703" y="711403"/>
            <a:ext cx="8305495" cy="1515161"/>
          </a:xfrm>
          <a:prstGeom prst="rect">
            <a:avLst/>
          </a:prstGeom>
          <a:noFill/>
          <a:ln/>
        </p:spPr>
        <p:txBody>
          <a:bodyPr wrap="square" lIns="0" tIns="0" rIns="0" bIns="0" rtlCol="0" anchor="t"/>
          <a:lstStyle/>
          <a:p>
            <a:pPr algn="l" indent="0" marL="0">
              <a:lnSpc>
                <a:spcPts val="3880"/>
              </a:lnSpc>
              <a:buNone/>
            </a:pPr>
            <a:r>
              <a:rPr lang="en-US" sz="3800" b="1" spc="-80" kern="0" dirty="0">
                <a:solidFill>
                  <a:srgbClr val="0C3452"/>
                </a:solidFill>
                <a:latin typeface="Montserrat" pitchFamily="34" charset="0"/>
                <a:ea typeface="Montserrat" pitchFamily="34" charset="-122"/>
                <a:cs typeface="Montserrat" pitchFamily="34" charset="-120"/>
              </a:rPr>
              <a:t>Va a ser así.</a:t>
            </a:r>
            <a:pPr algn="l" indent="0" marL="0">
              <a:lnSpc>
                <a:spcPts val="3880"/>
              </a:lnSpc>
              <a:buNone/>
            </a:pPr>
            <a:r>
              <a:rPr lang="en-US" sz="3800" b="1" spc="-80" kern="0" dirty="0">
                <a:solidFill>
                  <a:srgbClr val="0C3452"/>
                </a:solidFill>
                <a:latin typeface="Montserrat" pitchFamily="34" charset="0"/>
                <a:ea typeface="Montserrat" pitchFamily="34" charset="-122"/>
                <a:cs typeface="Montserrat" pitchFamily="34" charset="-120"/>
              </a:rPr>
              <a:t>
</a:t>
            </a:r>
            <a:pPr algn="l" indent="0" marL="0">
              <a:lnSpc>
                <a:spcPts val="3880"/>
              </a:lnSpc>
              <a:buNone/>
            </a:pPr>
            <a:r>
              <a:rPr lang="en-US" sz="3800" b="1" spc="-80" kern="0" dirty="0">
                <a:solidFill>
                  <a:srgbClr val="0C3452"/>
                </a:solidFill>
                <a:latin typeface="Montserrat" pitchFamily="34" charset="0"/>
                <a:ea typeface="Montserrat" pitchFamily="34" charset="-122"/>
                <a:cs typeface="Montserrat" pitchFamily="34" charset="-120"/>
              </a:rPr>
              <a:t>Tres pasos.</a:t>
            </a:r>
            <a:pPr algn="l" indent="0" marL="0">
              <a:lnSpc>
                <a:spcPts val="3880"/>
              </a:lnSpc>
              <a:buNone/>
            </a:pPr>
            <a:r>
              <a:rPr lang="en-US" sz="3800" b="1" spc="-80" kern="0" dirty="0">
                <a:solidFill>
                  <a:srgbClr val="0C3452"/>
                </a:solidFill>
                <a:latin typeface="Montserrat" pitchFamily="34" charset="0"/>
                <a:ea typeface="Montserrat" pitchFamily="34" charset="-122"/>
                <a:cs typeface="Montserrat" pitchFamily="34" charset="-120"/>
              </a:rPr>
              <a:t>
</a:t>
            </a:r>
            <a:pPr algn="l" indent="0" marL="0">
              <a:lnSpc>
                <a:spcPts val="3880"/>
              </a:lnSpc>
              <a:buNone/>
            </a:pPr>
            <a:r>
              <a:rPr lang="en-US" sz="3800" b="1" spc="-80" kern="0" dirty="0">
                <a:solidFill>
                  <a:srgbClr val="0C3452"/>
                </a:solidFill>
                <a:latin typeface="Montserrat" pitchFamily="34" charset="0"/>
                <a:ea typeface="Montserrat" pitchFamily="34" charset="-122"/>
                <a:cs typeface="Montserrat" pitchFamily="34" charset="-120"/>
              </a:rPr>
              <a:t>Y </a:t>
            </a:r>
            <a:pPr algn="l" indent="0" marL="0">
              <a:lnSpc>
                <a:spcPts val="3880"/>
              </a:lnSpc>
              <a:buNone/>
            </a:pPr>
            <a:r>
              <a:rPr lang="en-US" sz="3800" b="1" spc="-80" kern="0" dirty="0">
                <a:solidFill>
                  <a:srgbClr val="FF6602"/>
                </a:solidFill>
                <a:latin typeface="Montserrat" pitchFamily="34" charset="0"/>
                <a:ea typeface="Montserrat" pitchFamily="34" charset="-122"/>
                <a:cs typeface="Montserrat" pitchFamily="34" charset="-120"/>
              </a:rPr>
              <a:t>uno solo depende de vos</a:t>
            </a:r>
            <a:pPr algn="l" indent="0" marL="0">
              <a:lnSpc>
                <a:spcPts val="3880"/>
              </a:lnSpc>
              <a:buNone/>
            </a:pPr>
            <a:r>
              <a:rPr lang="en-US" sz="3800" b="1" spc="-80" kern="0" dirty="0">
                <a:solidFill>
                  <a:srgbClr val="0C3452"/>
                </a:solidFill>
                <a:latin typeface="Montserrat" pitchFamily="34" charset="0"/>
                <a:ea typeface="Montserrat" pitchFamily="34" charset="-122"/>
                <a:cs typeface="Montserrat" pitchFamily="34" charset="-120"/>
              </a:rPr>
              <a:t>.</a:t>
            </a:r>
            <a:endParaRPr lang="en-US" sz="3800" dirty="0"/>
          </a:p>
        </p:txBody>
      </p:sp>
      <p:sp>
        <p:nvSpPr>
          <p:cNvPr id="4" name="Text 1"/>
          <p:cNvSpPr txBox="1"/>
          <p:nvPr/>
        </p:nvSpPr>
        <p:spPr>
          <a:xfrm>
            <a:off x="825703" y="5650992"/>
            <a:ext cx="7352690" cy="533095"/>
          </a:xfrm>
          <a:prstGeom prst="rect">
            <a:avLst/>
          </a:prstGeom>
          <a:noFill/>
          <a:ln/>
        </p:spPr>
        <p:txBody>
          <a:bodyPr wrap="square" lIns="0" tIns="0" rIns="0" bIns="0" rtlCol="0" anchor="t"/>
          <a:lstStyle/>
          <a:p>
            <a:pPr algn="l" indent="0" marL="0">
              <a:lnSpc>
                <a:spcPts val="2210"/>
              </a:lnSpc>
              <a:buNone/>
            </a:pPr>
            <a:r>
              <a:rPr lang="en-US" sz="1700" b="1" dirty="0">
                <a:solidFill>
                  <a:srgbClr val="0C3452"/>
                </a:solidFill>
                <a:latin typeface="Open Sans" pitchFamily="34" charset="0"/>
                <a:ea typeface="Open Sans" pitchFamily="34" charset="-122"/>
                <a:cs typeface="Open Sans" pitchFamily="34" charset="-120"/>
              </a:rPr>
              <a:t>La aplicación, la entrevista, y el acceso a tu sistema. El de hoy te lleva 90 segundos.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tmp/claude-0/-home-user-detodo/82f5030d-8aaf-57d2-9bf8-611f8273ee0c/scratchpad/pptx-hibrido/bg03.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71500" y="4173322"/>
            <a:ext cx="5029200" cy="202997"/>
          </a:xfrm>
          <a:prstGeom prst="rect">
            <a:avLst/>
          </a:prstGeom>
          <a:noFill/>
          <a:ln/>
        </p:spPr>
        <p:txBody>
          <a:bodyPr wrap="square" lIns="0" tIns="0" rIns="0" bIns="0" rtlCol="0" anchor="t"/>
          <a:lstStyle/>
          <a:p>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PASO 01 </a:t>
            </a:r>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 03 · LA APLICACIÓN</a:t>
            </a:r>
            <a:pPr algn="l" indent="0" marL="0">
              <a:lnSpc>
                <a:spcPts val="1500"/>
              </a:lnSpc>
              <a:buNone/>
            </a:pPr>
            <a:endParaRPr lang="en-US" sz="1150" dirty="0"/>
          </a:p>
          <a:p>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        </a:t>
            </a:r>
            <a:endParaRPr lang="en-US" sz="1150" dirty="0"/>
          </a:p>
        </p:txBody>
      </p:sp>
      <p:sp>
        <p:nvSpPr>
          <p:cNvPr id="4" name="Text 1"/>
          <p:cNvSpPr txBox="1"/>
          <p:nvPr/>
        </p:nvSpPr>
        <p:spPr>
          <a:xfrm>
            <a:off x="571500" y="4516222"/>
            <a:ext cx="5029200" cy="455371"/>
          </a:xfrm>
          <a:prstGeom prst="rect">
            <a:avLst/>
          </a:prstGeom>
          <a:noFill/>
          <a:ln/>
        </p:spPr>
        <p:txBody>
          <a:bodyPr wrap="square" lIns="0" tIns="0" rIns="0" bIns="0" rtlCol="0" anchor="t"/>
          <a:lstStyle/>
          <a:p>
            <a:pPr algn="l" indent="0" marL="0">
              <a:lnSpc>
                <a:spcPts val="3290"/>
              </a:lnSpc>
              <a:buNone/>
            </a:pPr>
            <a:r>
              <a:rPr lang="en-US" sz="3100" b="1" spc="-60" kern="0" dirty="0">
                <a:solidFill>
                  <a:srgbClr val="0C3452"/>
                </a:solidFill>
                <a:latin typeface="Montserrat" pitchFamily="34" charset="0"/>
                <a:ea typeface="Montserrat" pitchFamily="34" charset="-122"/>
                <a:cs typeface="Montserrat" pitchFamily="34" charset="-120"/>
              </a:rPr>
              <a:t>Reservás tu entrevista</a:t>
            </a:r>
            <a:endParaRPr lang="en-US" sz="3100" dirty="0"/>
          </a:p>
        </p:txBody>
      </p:sp>
      <p:sp>
        <p:nvSpPr>
          <p:cNvPr id="5" name="Text 2"/>
          <p:cNvSpPr txBox="1"/>
          <p:nvPr/>
        </p:nvSpPr>
        <p:spPr>
          <a:xfrm>
            <a:off x="571500" y="5124298"/>
            <a:ext cx="5029200" cy="645566"/>
          </a:xfrm>
          <a:prstGeom prst="rect">
            <a:avLst/>
          </a:prstGeom>
          <a:noFill/>
          <a:ln/>
        </p:spPr>
        <p:txBody>
          <a:bodyPr wrap="square" lIns="0" tIns="0" rIns="0" bIns="0" rtlCol="0" anchor="t"/>
          <a:lstStyle/>
          <a:p>
            <a:pPr algn="l" indent="0" marL="0">
              <a:lnSpc>
                <a:spcPts val="2390"/>
              </a:lnSpc>
              <a:buNone/>
            </a:pPr>
            <a:r>
              <a:rPr lang="en-US" sz="1650" dirty="0">
                <a:solidFill>
                  <a:srgbClr val="0C3452"/>
                </a:solidFill>
                <a:latin typeface="Open Sans" pitchFamily="34" charset="0"/>
                <a:ea typeface="Open Sans" pitchFamily="34" charset="-122"/>
                <a:cs typeface="Open Sans" pitchFamily="34" charset="-120"/>
              </a:rPr>
              <a:t>Elegís tu horario y nos contás unos datos, para asignarte el coach que corresponde a tu caso.</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mp/claude-0/-home-user-detodo/82f5030d-8aaf-57d2-9bf8-611f8273ee0c/scratchpad/pptx-hibrido/bg04.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71500" y="4173322"/>
            <a:ext cx="5029200" cy="202997"/>
          </a:xfrm>
          <a:prstGeom prst="rect">
            <a:avLst/>
          </a:prstGeom>
          <a:noFill/>
          <a:ln/>
        </p:spPr>
        <p:txBody>
          <a:bodyPr wrap="square" lIns="0" tIns="0" rIns="0" bIns="0" rtlCol="0" anchor="t"/>
          <a:lstStyle/>
          <a:p>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PASO 01 </a:t>
            </a:r>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 03 · LA APLICACIÓN</a:t>
            </a:r>
            <a:pPr algn="l" indent="0" marL="0">
              <a:lnSpc>
                <a:spcPts val="1500"/>
              </a:lnSpc>
              <a:buNone/>
            </a:pPr>
            <a:endParaRPr lang="en-US" sz="1150" dirty="0"/>
          </a:p>
          <a:p>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        </a:t>
            </a:r>
            <a:endParaRPr lang="en-US" sz="1150" dirty="0"/>
          </a:p>
        </p:txBody>
      </p:sp>
      <p:sp>
        <p:nvSpPr>
          <p:cNvPr id="4" name="Text 1"/>
          <p:cNvSpPr txBox="1"/>
          <p:nvPr/>
        </p:nvSpPr>
        <p:spPr>
          <a:xfrm>
            <a:off x="571500" y="4516222"/>
            <a:ext cx="5029200" cy="455371"/>
          </a:xfrm>
          <a:prstGeom prst="rect">
            <a:avLst/>
          </a:prstGeom>
          <a:noFill/>
          <a:ln/>
        </p:spPr>
        <p:txBody>
          <a:bodyPr wrap="square" lIns="0" tIns="0" rIns="0" bIns="0" rtlCol="0" anchor="t"/>
          <a:lstStyle/>
          <a:p>
            <a:pPr algn="l" indent="0" marL="0">
              <a:lnSpc>
                <a:spcPts val="3290"/>
              </a:lnSpc>
              <a:buNone/>
            </a:pPr>
            <a:r>
              <a:rPr lang="en-US" sz="3100" b="1" spc="-60" kern="0" dirty="0">
                <a:solidFill>
                  <a:srgbClr val="0C3452"/>
                </a:solidFill>
                <a:latin typeface="Montserrat" pitchFamily="34" charset="0"/>
                <a:ea typeface="Montserrat" pitchFamily="34" charset="-122"/>
                <a:cs typeface="Montserrat" pitchFamily="34" charset="-120"/>
              </a:rPr>
              <a:t>Tu autodiagnóstico</a:t>
            </a:r>
            <a:endParaRPr lang="en-US" sz="3100" dirty="0"/>
          </a:p>
        </p:txBody>
      </p:sp>
      <p:sp>
        <p:nvSpPr>
          <p:cNvPr id="5" name="Text 2"/>
          <p:cNvSpPr txBox="1"/>
          <p:nvPr/>
        </p:nvSpPr>
        <p:spPr>
          <a:xfrm>
            <a:off x="571500" y="5124298"/>
            <a:ext cx="5029200" cy="645566"/>
          </a:xfrm>
          <a:prstGeom prst="rect">
            <a:avLst/>
          </a:prstGeom>
          <a:noFill/>
          <a:ln/>
        </p:spPr>
        <p:txBody>
          <a:bodyPr wrap="square" lIns="0" tIns="0" rIns="0" bIns="0" rtlCol="0" anchor="t"/>
          <a:lstStyle/>
          <a:p>
            <a:pPr algn="l" indent="0" marL="0">
              <a:lnSpc>
                <a:spcPts val="2390"/>
              </a:lnSpc>
              <a:buNone/>
            </a:pPr>
            <a:r>
              <a:rPr lang="en-US" sz="1650" dirty="0">
                <a:solidFill>
                  <a:srgbClr val="0C3452"/>
                </a:solidFill>
                <a:latin typeface="Open Sans" pitchFamily="34" charset="0"/>
                <a:ea typeface="Open Sans" pitchFamily="34" charset="-122"/>
                <a:cs typeface="Open Sans" pitchFamily="34" charset="-120"/>
              </a:rPr>
              <a:t>Te lo mandamos por WhatsApp. Con eso armamos tu sistema personal.</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claude-0/-home-user-detodo/82f5030d-8aaf-57d2-9bf8-611f8273ee0c/scratchpad/pptx-hibrido/bg05.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71500" y="4173322"/>
            <a:ext cx="5029200" cy="202997"/>
          </a:xfrm>
          <a:prstGeom prst="rect">
            <a:avLst/>
          </a:prstGeom>
          <a:noFill/>
          <a:ln/>
        </p:spPr>
        <p:txBody>
          <a:bodyPr wrap="square" lIns="0" tIns="0" rIns="0" bIns="0" rtlCol="0" anchor="t"/>
          <a:lstStyle/>
          <a:p>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PASO 02 </a:t>
            </a:r>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 03 · LA ENTREVISTA</a:t>
            </a:r>
            <a:pPr algn="l" indent="0" marL="0">
              <a:lnSpc>
                <a:spcPts val="1500"/>
              </a:lnSpc>
              <a:buNone/>
            </a:pPr>
            <a:endParaRPr lang="en-US" sz="1150" dirty="0"/>
          </a:p>
          <a:p>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        </a:t>
            </a:r>
            <a:endParaRPr lang="en-US" sz="1150" dirty="0"/>
          </a:p>
        </p:txBody>
      </p:sp>
      <p:sp>
        <p:nvSpPr>
          <p:cNvPr id="4" name="Text 1"/>
          <p:cNvSpPr txBox="1"/>
          <p:nvPr/>
        </p:nvSpPr>
        <p:spPr>
          <a:xfrm>
            <a:off x="571500" y="4516222"/>
            <a:ext cx="5029200" cy="455371"/>
          </a:xfrm>
          <a:prstGeom prst="rect">
            <a:avLst/>
          </a:prstGeom>
          <a:noFill/>
          <a:ln/>
        </p:spPr>
        <p:txBody>
          <a:bodyPr wrap="square" lIns="0" tIns="0" rIns="0" bIns="0" rtlCol="0" anchor="t"/>
          <a:lstStyle/>
          <a:p>
            <a:pPr algn="l" indent="0" marL="0">
              <a:lnSpc>
                <a:spcPts val="3290"/>
              </a:lnSpc>
              <a:buNone/>
            </a:pPr>
            <a:r>
              <a:rPr lang="en-US" sz="3100" b="1" spc="-60" kern="0" dirty="0">
                <a:solidFill>
                  <a:srgbClr val="0C3452"/>
                </a:solidFill>
                <a:latin typeface="Montserrat" pitchFamily="34" charset="0"/>
                <a:ea typeface="Montserrat" pitchFamily="34" charset="-122"/>
                <a:cs typeface="Montserrat" pitchFamily="34" charset="-120"/>
              </a:rPr>
              <a:t>Con tu coach asignado</a:t>
            </a:r>
            <a:endParaRPr lang="en-US" sz="3100" dirty="0"/>
          </a:p>
        </p:txBody>
      </p:sp>
      <p:sp>
        <p:nvSpPr>
          <p:cNvPr id="5" name="Text 2"/>
          <p:cNvSpPr txBox="1"/>
          <p:nvPr/>
        </p:nvSpPr>
        <p:spPr>
          <a:xfrm>
            <a:off x="571500" y="5124298"/>
            <a:ext cx="5029200" cy="645566"/>
          </a:xfrm>
          <a:prstGeom prst="rect">
            <a:avLst/>
          </a:prstGeom>
          <a:noFill/>
          <a:ln/>
        </p:spPr>
        <p:txBody>
          <a:bodyPr wrap="square" lIns="0" tIns="0" rIns="0" bIns="0" rtlCol="0" anchor="t"/>
          <a:lstStyle/>
          <a:p>
            <a:pPr algn="l" indent="0" marL="0">
              <a:lnSpc>
                <a:spcPts val="2390"/>
              </a:lnSpc>
              <a:buNone/>
            </a:pPr>
            <a:r>
              <a:rPr lang="en-US" sz="1650" dirty="0">
                <a:solidFill>
                  <a:srgbClr val="0C3452"/>
                </a:solidFill>
                <a:latin typeface="Open Sans" pitchFamily="34" charset="0"/>
                <a:ea typeface="Open Sans" pitchFamily="34" charset="-122"/>
                <a:cs typeface="Open Sans" pitchFamily="34" charset="-120"/>
              </a:rPr>
              <a:t>Vemos tu caso en profundidad y si realmente podemos ayudarte. Puede que no.</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mp/claude-0/-home-user-detodo/82f5030d-8aaf-57d2-9bf8-611f8273ee0c/scratchpad/pptx-hibrido/bg06.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71500" y="4173322"/>
            <a:ext cx="5029200" cy="202997"/>
          </a:xfrm>
          <a:prstGeom prst="rect">
            <a:avLst/>
          </a:prstGeom>
          <a:noFill/>
          <a:ln/>
        </p:spPr>
        <p:txBody>
          <a:bodyPr wrap="square" lIns="0" tIns="0" rIns="0" bIns="0" rtlCol="0" anchor="t"/>
          <a:lstStyle/>
          <a:p>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PASO 02 </a:t>
            </a:r>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 03 · LA ENTREVISTA</a:t>
            </a:r>
            <a:pPr algn="l" indent="0" marL="0">
              <a:lnSpc>
                <a:spcPts val="1500"/>
              </a:lnSpc>
              <a:buNone/>
            </a:pPr>
            <a:endParaRPr lang="en-US" sz="1150" dirty="0"/>
          </a:p>
          <a:p>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        </a:t>
            </a:r>
            <a:endParaRPr lang="en-US" sz="1150" dirty="0"/>
          </a:p>
        </p:txBody>
      </p:sp>
      <p:sp>
        <p:nvSpPr>
          <p:cNvPr id="4" name="Text 1"/>
          <p:cNvSpPr txBox="1"/>
          <p:nvPr/>
        </p:nvSpPr>
        <p:spPr>
          <a:xfrm>
            <a:off x="571500" y="4516222"/>
            <a:ext cx="5029200" cy="455371"/>
          </a:xfrm>
          <a:prstGeom prst="rect">
            <a:avLst/>
          </a:prstGeom>
          <a:noFill/>
          <a:ln/>
        </p:spPr>
        <p:txBody>
          <a:bodyPr wrap="square" lIns="0" tIns="0" rIns="0" bIns="0" rtlCol="0" anchor="t"/>
          <a:lstStyle/>
          <a:p>
            <a:pPr algn="l" indent="0" marL="0">
              <a:lnSpc>
                <a:spcPts val="3290"/>
              </a:lnSpc>
              <a:buNone/>
            </a:pPr>
            <a:r>
              <a:rPr lang="en-US" sz="3100" b="1" spc="-60" kern="0" dirty="0">
                <a:solidFill>
                  <a:srgbClr val="0C3452"/>
                </a:solidFill>
                <a:latin typeface="Montserrat" pitchFamily="34" charset="0"/>
                <a:ea typeface="Montserrat" pitchFamily="34" charset="-122"/>
                <a:cs typeface="Montserrat" pitchFamily="34" charset="-120"/>
              </a:rPr>
              <a:t>Lo único que te pedimos</a:t>
            </a:r>
            <a:endParaRPr lang="en-US" sz="3100" dirty="0"/>
          </a:p>
        </p:txBody>
      </p:sp>
      <p:sp>
        <p:nvSpPr>
          <p:cNvPr id="5" name="Text 2"/>
          <p:cNvSpPr txBox="1"/>
          <p:nvPr/>
        </p:nvSpPr>
        <p:spPr>
          <a:xfrm>
            <a:off x="571500" y="5124298"/>
            <a:ext cx="5029200" cy="645566"/>
          </a:xfrm>
          <a:prstGeom prst="rect">
            <a:avLst/>
          </a:prstGeom>
          <a:noFill/>
          <a:ln/>
        </p:spPr>
        <p:txBody>
          <a:bodyPr wrap="square" lIns="0" tIns="0" rIns="0" bIns="0" rtlCol="0" anchor="t"/>
          <a:lstStyle/>
          <a:p>
            <a:pPr algn="l" indent="0" marL="0">
              <a:lnSpc>
                <a:spcPts val="2390"/>
              </a:lnSpc>
              <a:buNone/>
            </a:pPr>
            <a:r>
              <a:rPr lang="en-US" sz="1650" dirty="0">
                <a:solidFill>
                  <a:srgbClr val="0C3452"/>
                </a:solidFill>
                <a:latin typeface="Open Sans" pitchFamily="34" charset="0"/>
                <a:ea typeface="Open Sans" pitchFamily="34" charset="-122"/>
                <a:cs typeface="Open Sans" pitchFamily="34" charset="-120"/>
              </a:rPr>
              <a:t>Que confirmes por WhatsApp y que cumplas el horario que elegiste.</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tmp/claude-0/-home-user-detodo/82f5030d-8aaf-57d2-9bf8-611f8273ee0c/scratchpad/pptx-hibrido/bg07.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71500" y="4173322"/>
            <a:ext cx="5029200" cy="202997"/>
          </a:xfrm>
          <a:prstGeom prst="rect">
            <a:avLst/>
          </a:prstGeom>
          <a:noFill/>
          <a:ln/>
        </p:spPr>
        <p:txBody>
          <a:bodyPr wrap="square" lIns="0" tIns="0" rIns="0" bIns="0" rtlCol="0" anchor="t"/>
          <a:lstStyle/>
          <a:p>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PASO 03 </a:t>
            </a:r>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 03 · EL ACCESO</a:t>
            </a:r>
            <a:pPr algn="l" indent="0" marL="0">
              <a:lnSpc>
                <a:spcPts val="1500"/>
              </a:lnSpc>
              <a:buNone/>
            </a:pPr>
            <a:endParaRPr lang="en-US" sz="1150" dirty="0"/>
          </a:p>
          <a:p>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        </a:t>
            </a:r>
            <a:endParaRPr lang="en-US" sz="1150" dirty="0"/>
          </a:p>
        </p:txBody>
      </p:sp>
      <p:sp>
        <p:nvSpPr>
          <p:cNvPr id="4" name="Text 1"/>
          <p:cNvSpPr txBox="1"/>
          <p:nvPr/>
        </p:nvSpPr>
        <p:spPr>
          <a:xfrm>
            <a:off x="571500" y="4516222"/>
            <a:ext cx="5029200" cy="455371"/>
          </a:xfrm>
          <a:prstGeom prst="rect">
            <a:avLst/>
          </a:prstGeom>
          <a:noFill/>
          <a:ln/>
        </p:spPr>
        <p:txBody>
          <a:bodyPr wrap="square" lIns="0" tIns="0" rIns="0" bIns="0" rtlCol="0" anchor="t"/>
          <a:lstStyle/>
          <a:p>
            <a:pPr algn="l" indent="0" marL="0">
              <a:lnSpc>
                <a:spcPts val="3290"/>
              </a:lnSpc>
              <a:buNone/>
            </a:pPr>
            <a:r>
              <a:rPr lang="en-US" sz="3100" b="1" spc="-60" kern="0" dirty="0">
                <a:solidFill>
                  <a:srgbClr val="0C3452"/>
                </a:solidFill>
                <a:latin typeface="Montserrat" pitchFamily="34" charset="0"/>
                <a:ea typeface="Montserrat" pitchFamily="34" charset="-122"/>
                <a:cs typeface="Montserrat" pitchFamily="34" charset="-120"/>
              </a:rPr>
              <a:t>Accedés a tu sistema</a:t>
            </a:r>
            <a:endParaRPr lang="en-US" sz="3100" dirty="0"/>
          </a:p>
        </p:txBody>
      </p:sp>
      <p:sp>
        <p:nvSpPr>
          <p:cNvPr id="5" name="Text 2"/>
          <p:cNvSpPr txBox="1"/>
          <p:nvPr/>
        </p:nvSpPr>
        <p:spPr>
          <a:xfrm>
            <a:off x="571500" y="5124298"/>
            <a:ext cx="5029200" cy="645566"/>
          </a:xfrm>
          <a:prstGeom prst="rect">
            <a:avLst/>
          </a:prstGeom>
          <a:noFill/>
          <a:ln/>
        </p:spPr>
        <p:txBody>
          <a:bodyPr wrap="square" lIns="0" tIns="0" rIns="0" bIns="0" rtlCol="0" anchor="t"/>
          <a:lstStyle/>
          <a:p>
            <a:pPr algn="l" indent="0" marL="0">
              <a:lnSpc>
                <a:spcPts val="2390"/>
              </a:lnSpc>
              <a:buNone/>
            </a:pPr>
            <a:r>
              <a:rPr lang="en-US" sz="1650" dirty="0">
                <a:solidFill>
                  <a:srgbClr val="0C3452"/>
                </a:solidFill>
                <a:latin typeface="Open Sans" pitchFamily="34" charset="0"/>
                <a:ea typeface="Open Sans" pitchFamily="34" charset="-122"/>
                <a:cs typeface="Open Sans" pitchFamily="34" charset="-120"/>
              </a:rPr>
              <a:t>Si hacemos match, entrás a todo. Y no me tenés solo a mí: tenés al equipo entero atrás.</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claude-0/-home-user-detodo/82f5030d-8aaf-57d2-9bf8-611f8273ee0c/scratchpad/pptx-hibrido/bg08.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71500" y="4173322"/>
            <a:ext cx="5029200" cy="202997"/>
          </a:xfrm>
          <a:prstGeom prst="rect">
            <a:avLst/>
          </a:prstGeom>
          <a:noFill/>
          <a:ln/>
        </p:spPr>
        <p:txBody>
          <a:bodyPr wrap="square" lIns="0" tIns="0" rIns="0" bIns="0" rtlCol="0" anchor="t"/>
          <a:lstStyle/>
          <a:p>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PASO 03 </a:t>
            </a:r>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 03 · EL ACCESO</a:t>
            </a:r>
            <a:pPr algn="l" indent="0" marL="0">
              <a:lnSpc>
                <a:spcPts val="1500"/>
              </a:lnSpc>
              <a:buNone/>
            </a:pPr>
            <a:endParaRPr lang="en-US" sz="1150" dirty="0"/>
          </a:p>
          <a:p>
            <a:pPr algn="l" indent="0" marL="0">
              <a:lnSpc>
                <a:spcPts val="1500"/>
              </a:lnSpc>
              <a:buNone/>
            </a:pPr>
            <a:r>
              <a:rPr lang="en-US" sz="1150" spc="300" kern="0" dirty="0">
                <a:solidFill>
                  <a:srgbClr val="FF6602"/>
                </a:solidFill>
                <a:latin typeface="Consolas" pitchFamily="34" charset="0"/>
                <a:ea typeface="Consolas" pitchFamily="34" charset="-122"/>
                <a:cs typeface="Consolas" pitchFamily="34" charset="-120"/>
              </a:rPr>
              <a:t>        </a:t>
            </a:r>
            <a:endParaRPr lang="en-US" sz="1150" dirty="0"/>
          </a:p>
        </p:txBody>
      </p:sp>
      <p:sp>
        <p:nvSpPr>
          <p:cNvPr id="4" name="Text 1"/>
          <p:cNvSpPr txBox="1"/>
          <p:nvPr/>
        </p:nvSpPr>
        <p:spPr>
          <a:xfrm>
            <a:off x="571500" y="4516222"/>
            <a:ext cx="5029200" cy="455371"/>
          </a:xfrm>
          <a:prstGeom prst="rect">
            <a:avLst/>
          </a:prstGeom>
          <a:noFill/>
          <a:ln/>
        </p:spPr>
        <p:txBody>
          <a:bodyPr wrap="square" lIns="0" tIns="0" rIns="0" bIns="0" rtlCol="0" anchor="t"/>
          <a:lstStyle/>
          <a:p>
            <a:pPr algn="l" indent="0" marL="0">
              <a:lnSpc>
                <a:spcPts val="3290"/>
              </a:lnSpc>
              <a:buNone/>
            </a:pPr>
            <a:r>
              <a:rPr lang="en-US" sz="3100" b="1" spc="-60" kern="0" dirty="0">
                <a:solidFill>
                  <a:srgbClr val="0C3452"/>
                </a:solidFill>
                <a:latin typeface="Montserrat" pitchFamily="34" charset="0"/>
                <a:ea typeface="Montserrat" pitchFamily="34" charset="-122"/>
                <a:cs typeface="Montserrat" pitchFamily="34" charset="-120"/>
              </a:rPr>
              <a:t>Y si no hacemos match</a:t>
            </a:r>
            <a:endParaRPr lang="en-US" sz="3100" dirty="0"/>
          </a:p>
        </p:txBody>
      </p:sp>
      <p:sp>
        <p:nvSpPr>
          <p:cNvPr id="5" name="Text 2"/>
          <p:cNvSpPr txBox="1"/>
          <p:nvPr/>
        </p:nvSpPr>
        <p:spPr>
          <a:xfrm>
            <a:off x="571500" y="5124298"/>
            <a:ext cx="5029200" cy="645566"/>
          </a:xfrm>
          <a:prstGeom prst="rect">
            <a:avLst/>
          </a:prstGeom>
          <a:noFill/>
          <a:ln/>
        </p:spPr>
        <p:txBody>
          <a:bodyPr wrap="square" lIns="0" tIns="0" rIns="0" bIns="0" rtlCol="0" anchor="t"/>
          <a:lstStyle/>
          <a:p>
            <a:pPr algn="l" indent="0" marL="0">
              <a:lnSpc>
                <a:spcPts val="2390"/>
              </a:lnSpc>
              <a:buNone/>
            </a:pPr>
            <a:r>
              <a:rPr lang="en-US" sz="1650" dirty="0">
                <a:solidFill>
                  <a:srgbClr val="0C3452"/>
                </a:solidFill>
                <a:latin typeface="Open Sans" pitchFamily="34" charset="0"/>
                <a:ea typeface="Open Sans" pitchFamily="34" charset="-122"/>
                <a:cs typeface="Open Sans" pitchFamily="34" charset="-120"/>
              </a:rPr>
              <a:t>Te llevás igual tu entregable, preparado con el autodiagnóstico que hiciste en el paso uno.</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tmp/claude-0/-home-user-detodo/82f5030d-8aaf-57d2-9bf8-611f8273ee0c/scratchpad/pptx-hibrido/bg09.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422806" y="660197"/>
            <a:ext cx="2067458" cy="196596"/>
          </a:xfrm>
          <a:prstGeom prst="rect">
            <a:avLst/>
          </a:prstGeom>
          <a:noFill/>
          <a:ln/>
        </p:spPr>
        <p:txBody>
          <a:bodyPr wrap="square" lIns="0" tIns="0" rIns="0" bIns="0" rtlCol="0" anchor="t"/>
          <a:lstStyle/>
          <a:p>
            <a:pPr algn="l" indent="0" marL="0">
              <a:lnSpc>
                <a:spcPts val="1430"/>
              </a:lnSpc>
              <a:buNone/>
            </a:pPr>
            <a:r>
              <a:rPr lang="en-US" sz="1100" spc="330" kern="0" dirty="0">
                <a:solidFill>
                  <a:srgbClr val="FFFFFF"/>
                </a:solidFill>
                <a:latin typeface="Consolas" pitchFamily="34" charset="0"/>
                <a:ea typeface="Consolas" pitchFamily="34" charset="-122"/>
                <a:cs typeface="Consolas" pitchFamily="34" charset="-120"/>
              </a:rPr>
              <a:t>ANTES DE AGENDAR</a:t>
            </a:r>
            <a:endParaRPr lang="en-US" sz="1100" dirty="0"/>
          </a:p>
        </p:txBody>
      </p:sp>
      <p:sp>
        <p:nvSpPr>
          <p:cNvPr id="4" name="Text 1"/>
          <p:cNvSpPr txBox="1"/>
          <p:nvPr/>
        </p:nvSpPr>
        <p:spPr>
          <a:xfrm>
            <a:off x="698602" y="1149401"/>
            <a:ext cx="10845698" cy="520294"/>
          </a:xfrm>
          <a:prstGeom prst="rect">
            <a:avLst/>
          </a:prstGeom>
          <a:noFill/>
          <a:ln/>
        </p:spPr>
        <p:txBody>
          <a:bodyPr wrap="square" lIns="0" tIns="0" rIns="0" bIns="0" rtlCol="0" anchor="t"/>
          <a:lstStyle/>
          <a:p>
            <a:pPr algn="l" indent="0" marL="0">
              <a:lnSpc>
                <a:spcPts val="4290"/>
              </a:lnSpc>
              <a:buNone/>
            </a:pPr>
            <a:r>
              <a:rPr lang="en-US" sz="3300" b="1" spc="-70" kern="0" dirty="0">
                <a:solidFill>
                  <a:srgbClr val="FFFFFF"/>
                </a:solidFill>
                <a:latin typeface="Montserrat" pitchFamily="34" charset="0"/>
                <a:ea typeface="Montserrat" pitchFamily="34" charset="-122"/>
                <a:cs typeface="Montserrat" pitchFamily="34" charset="-120"/>
              </a:rPr>
              <a:t>Dos cosas, para ser honestos.</a:t>
            </a:r>
            <a:endParaRPr lang="en-US" sz="3300" dirty="0"/>
          </a:p>
        </p:txBody>
      </p:sp>
      <p:sp>
        <p:nvSpPr>
          <p:cNvPr id="5" name="Text 2"/>
          <p:cNvSpPr txBox="1"/>
          <p:nvPr/>
        </p:nvSpPr>
        <p:spPr>
          <a:xfrm>
            <a:off x="698602" y="2676449"/>
            <a:ext cx="5143500" cy="330098"/>
          </a:xfrm>
          <a:prstGeom prst="rect">
            <a:avLst/>
          </a:prstGeom>
          <a:noFill/>
          <a:ln/>
        </p:spPr>
        <p:txBody>
          <a:bodyPr wrap="square" lIns="0" tIns="0" rIns="0" bIns="0" rtlCol="0" anchor="t"/>
          <a:lstStyle/>
          <a:p>
            <a:pPr algn="l" indent="0" marL="0">
              <a:lnSpc>
                <a:spcPts val="2300"/>
              </a:lnSpc>
              <a:buNone/>
            </a:pPr>
            <a:r>
              <a:rPr lang="en-US" sz="2000" b="1" dirty="0">
                <a:solidFill>
                  <a:srgbClr val="FFFFFF"/>
                </a:solidFill>
                <a:latin typeface="Montserrat" pitchFamily="34" charset="0"/>
                <a:ea typeface="Montserrat" pitchFamily="34" charset="-122"/>
                <a:cs typeface="Montserrat" pitchFamily="34" charset="-120"/>
              </a:rPr>
              <a:t>Esto es para vos si…</a:t>
            </a:r>
            <a:endParaRPr lang="en-US" sz="2000" dirty="0"/>
          </a:p>
        </p:txBody>
      </p:sp>
      <p:sp>
        <p:nvSpPr>
          <p:cNvPr id="6" name="Text 3"/>
          <p:cNvSpPr txBox="1"/>
          <p:nvPr/>
        </p:nvSpPr>
        <p:spPr>
          <a:xfrm>
            <a:off x="698602" y="3184855"/>
            <a:ext cx="5143500" cy="571500"/>
          </a:xfrm>
          <a:prstGeom prst="rect">
            <a:avLst/>
          </a:prstGeom>
          <a:noFill/>
          <a:ln/>
        </p:spPr>
        <p:txBody>
          <a:bodyPr wrap="square" lIns="0" tIns="0" rIns="0" bIns="0" rtlCol="0" anchor="t"/>
          <a:lstStyle/>
          <a:p>
            <a:pPr algn="l" indent="0" marL="0">
              <a:lnSpc>
                <a:spcPts val="2100"/>
              </a:lnSpc>
              <a:buNone/>
            </a:pPr>
            <a:r>
              <a:rPr lang="en-US" sz="1400" dirty="0">
                <a:solidFill>
                  <a:srgbClr val="FFFFFF"/>
                </a:solidFill>
                <a:latin typeface="Open Sans" pitchFamily="34" charset="0"/>
                <a:ea typeface="Open Sans" pitchFamily="34" charset="-122"/>
                <a:cs typeface="Open Sans" pitchFamily="34" charset="-120"/>
              </a:rPr>
              <a:t>Ya tenés algo andando: un negocio, un equipo, una carrera, un estudio. Y llegaste hasta acá a fuerza de horas.</a:t>
            </a:r>
            <a:endParaRPr lang="en-US" sz="1400" dirty="0"/>
          </a:p>
        </p:txBody>
      </p:sp>
      <p:sp>
        <p:nvSpPr>
          <p:cNvPr id="7" name="Text 4"/>
          <p:cNvSpPr txBox="1"/>
          <p:nvPr/>
        </p:nvSpPr>
        <p:spPr>
          <a:xfrm>
            <a:off x="698602" y="3857854"/>
            <a:ext cx="5143500" cy="838505"/>
          </a:xfrm>
          <a:prstGeom prst="rect">
            <a:avLst/>
          </a:prstGeom>
          <a:noFill/>
          <a:ln/>
        </p:spPr>
        <p:txBody>
          <a:bodyPr wrap="square" lIns="0" tIns="0" rIns="0" bIns="0" rtlCol="0" anchor="t"/>
          <a:lstStyle/>
          <a:p>
            <a:pPr algn="l" indent="0" marL="0">
              <a:lnSpc>
                <a:spcPts val="2100"/>
              </a:lnSpc>
              <a:buNone/>
            </a:pPr>
            <a:r>
              <a:rPr lang="en-US" sz="1400" dirty="0">
                <a:solidFill>
                  <a:srgbClr val="FFFFFF"/>
                </a:solidFill>
                <a:latin typeface="Open Sans" pitchFamily="34" charset="0"/>
                <a:ea typeface="Open Sans" pitchFamily="34" charset="-122"/>
                <a:cs typeface="Open Sans" pitchFamily="34" charset="-120"/>
              </a:rPr>
              <a:t>Hoy </a:t>
            </a:r>
            <a:pPr algn="l" indent="0" marL="0">
              <a:lnSpc>
                <a:spcPts val="2100"/>
              </a:lnSpc>
              <a:buNone/>
            </a:pPr>
            <a:r>
              <a:rPr lang="en-US" sz="1400" b="1" dirty="0">
                <a:solidFill>
                  <a:srgbClr val="FF6602"/>
                </a:solidFill>
                <a:latin typeface="Open Sans" pitchFamily="34" charset="0"/>
                <a:ea typeface="Open Sans" pitchFamily="34" charset="-122"/>
                <a:cs typeface="Open Sans" pitchFamily="34" charset="-120"/>
              </a:rPr>
              <a:t>el cuello de botella sos vos</a:t>
            </a:r>
            <a:pPr algn="l" indent="0" marL="0">
              <a:lnSpc>
                <a:spcPts val="2100"/>
              </a:lnSpc>
              <a:buNone/>
            </a:pPr>
            <a:r>
              <a:rPr lang="en-US" sz="1400" dirty="0">
                <a:solidFill>
                  <a:srgbClr val="FFFFFF"/>
                </a:solidFill>
                <a:latin typeface="Open Sans" pitchFamily="34" charset="0"/>
                <a:ea typeface="Open Sans" pitchFamily="34" charset="-122"/>
                <a:cs typeface="Open Sans" pitchFamily="34" charset="-120"/>
              </a:rPr>
              <a:t>. Todo pasa por tus manos, delegar te cuesta más que hacerlo, y sabés que de acá no pasás sumando esfuerzo.</a:t>
            </a:r>
            <a:endParaRPr lang="en-US" sz="1400" dirty="0"/>
          </a:p>
        </p:txBody>
      </p:sp>
      <p:sp>
        <p:nvSpPr>
          <p:cNvPr id="8" name="Text 5"/>
          <p:cNvSpPr txBox="1"/>
          <p:nvPr/>
        </p:nvSpPr>
        <p:spPr>
          <a:xfrm>
            <a:off x="698602" y="4796942"/>
            <a:ext cx="5143500" cy="838505"/>
          </a:xfrm>
          <a:prstGeom prst="rect">
            <a:avLst/>
          </a:prstGeom>
          <a:noFill/>
          <a:ln/>
        </p:spPr>
        <p:txBody>
          <a:bodyPr wrap="square" lIns="0" tIns="0" rIns="0" bIns="0" rtlCol="0" anchor="t"/>
          <a:lstStyle/>
          <a:p>
            <a:pPr algn="l" indent="0" marL="0">
              <a:lnSpc>
                <a:spcPts val="2100"/>
              </a:lnSpc>
              <a:buNone/>
            </a:pPr>
            <a:r>
              <a:rPr lang="en-US" sz="1400" dirty="0">
                <a:solidFill>
                  <a:srgbClr val="FFFFFF"/>
                </a:solidFill>
                <a:latin typeface="Open Sans" pitchFamily="34" charset="0"/>
                <a:ea typeface="Open Sans" pitchFamily="34" charset="-122"/>
                <a:cs typeface="Open Sans" pitchFamily="34" charset="-120"/>
              </a:rPr>
              <a:t>No venís a empezar. Venís a que lo que ya construiste </a:t>
            </a:r>
            <a:pPr algn="l" indent="0" marL="0">
              <a:lnSpc>
                <a:spcPts val="2100"/>
              </a:lnSpc>
              <a:buNone/>
            </a:pPr>
            <a:r>
              <a:rPr lang="en-US" sz="1400" b="1" dirty="0">
                <a:solidFill>
                  <a:srgbClr val="FF6602"/>
                </a:solidFill>
                <a:latin typeface="Open Sans" pitchFamily="34" charset="0"/>
                <a:ea typeface="Open Sans" pitchFamily="34" charset="-122"/>
                <a:cs typeface="Open Sans" pitchFamily="34" charset="-120"/>
              </a:rPr>
              <a:t>funcione sin que vos lo sostengas</a:t>
            </a:r>
            <a:pPr algn="l" indent="0" marL="0">
              <a:lnSpc>
                <a:spcPts val="2100"/>
              </a:lnSpc>
              <a:buNone/>
            </a:pPr>
            <a:r>
              <a:rPr lang="en-US" sz="1400" dirty="0">
                <a:solidFill>
                  <a:srgbClr val="FFFFFF"/>
                </a:solidFill>
                <a:latin typeface="Open Sans" pitchFamily="34" charset="0"/>
                <a:ea typeface="Open Sans" pitchFamily="34" charset="-122"/>
                <a:cs typeface="Open Sans" pitchFamily="34" charset="-120"/>
              </a:rPr>
              <a:t> — no a punta de voluntad, más disciplina o más esfuerzo, sino con un sistema integral.</a:t>
            </a:r>
            <a:endParaRPr lang="en-US" sz="1400" dirty="0"/>
          </a:p>
        </p:txBody>
      </p:sp>
      <p:sp>
        <p:nvSpPr>
          <p:cNvPr id="9" name="Text 6"/>
          <p:cNvSpPr txBox="1"/>
          <p:nvPr/>
        </p:nvSpPr>
        <p:spPr>
          <a:xfrm>
            <a:off x="6400800" y="2202790"/>
            <a:ext cx="5143500" cy="330098"/>
          </a:xfrm>
          <a:prstGeom prst="rect">
            <a:avLst/>
          </a:prstGeom>
          <a:noFill/>
          <a:ln/>
        </p:spPr>
        <p:txBody>
          <a:bodyPr wrap="square" lIns="0" tIns="0" rIns="0" bIns="0" rtlCol="0" anchor="t"/>
          <a:lstStyle/>
          <a:p>
            <a:pPr algn="l" indent="0" marL="0">
              <a:lnSpc>
                <a:spcPts val="2300"/>
              </a:lnSpc>
              <a:buNone/>
            </a:pPr>
            <a:r>
              <a:rPr lang="en-US" sz="2000" b="1" dirty="0">
                <a:solidFill>
                  <a:srgbClr val="FF6602"/>
                </a:solidFill>
                <a:latin typeface="Montserrat" pitchFamily="34" charset="0"/>
                <a:ea typeface="Montserrat" pitchFamily="34" charset="-122"/>
                <a:cs typeface="Montserrat" pitchFamily="34" charset="-120"/>
              </a:rPr>
              <a:t>Y esto es lo que tenés que saber</a:t>
            </a:r>
            <a:endParaRPr lang="en-US" sz="2000" dirty="0"/>
          </a:p>
        </p:txBody>
      </p:sp>
      <p:sp>
        <p:nvSpPr>
          <p:cNvPr id="10" name="Text 7"/>
          <p:cNvSpPr txBox="1"/>
          <p:nvPr/>
        </p:nvSpPr>
        <p:spPr>
          <a:xfrm>
            <a:off x="6582766" y="2710282"/>
            <a:ext cx="4961534" cy="678485"/>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Open Sans" pitchFamily="34" charset="0"/>
                <a:ea typeface="Open Sans" pitchFamily="34" charset="-122"/>
                <a:cs typeface="Open Sans" pitchFamily="34" charset="-120"/>
              </a:rPr>
              <a:t>Es una mentoría con </a:t>
            </a:r>
            <a:pPr algn="l" indent="0" marL="0">
              <a:lnSpc>
                <a:spcPts val="1680"/>
              </a:lnSpc>
              <a:buNone/>
            </a:pPr>
            <a:r>
              <a:rPr lang="en-US" sz="1200" b="1" dirty="0">
                <a:solidFill>
                  <a:srgbClr val="FF6602"/>
                </a:solidFill>
                <a:latin typeface="Open Sans" pitchFamily="34" charset="0"/>
                <a:ea typeface="Open Sans" pitchFamily="34" charset="-122"/>
                <a:cs typeface="Open Sans" pitchFamily="34" charset="-120"/>
              </a:rPr>
              <a:t>un equipo que te sostiene</a:t>
            </a:r>
            <a:pPr algn="l" indent="0" marL="0">
              <a:lnSpc>
                <a:spcPts val="1680"/>
              </a:lnSpc>
              <a:buNone/>
            </a:pPr>
            <a:r>
              <a:rPr lang="en-US" sz="1200" dirty="0">
                <a:solidFill>
                  <a:srgbClr val="FFFFFF"/>
                </a:solidFill>
                <a:latin typeface="Open Sans" pitchFamily="34" charset="0"/>
                <a:ea typeface="Open Sans" pitchFamily="34" charset="-122"/>
                <a:cs typeface="Open Sans" pitchFamily="34" charset="-120"/>
              </a:rPr>
              <a:t>: coaches, psicóloga, nutricionista, sesiones uno a uno. No estás comprando un curso, estás invirtiendo en un sistema integral.</a:t>
            </a:r>
            <a:endParaRPr lang="en-US" sz="1200" dirty="0"/>
          </a:p>
        </p:txBody>
      </p:sp>
      <p:sp>
        <p:nvSpPr>
          <p:cNvPr id="11" name="Text 8"/>
          <p:cNvSpPr txBox="1"/>
          <p:nvPr/>
        </p:nvSpPr>
        <p:spPr>
          <a:xfrm>
            <a:off x="6582766" y="3490265"/>
            <a:ext cx="4961534" cy="678485"/>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Open Sans" pitchFamily="34" charset="0"/>
                <a:ea typeface="Open Sans" pitchFamily="34" charset="-122"/>
                <a:cs typeface="Open Sans" pitchFamily="34" charset="-120"/>
              </a:rPr>
              <a:t>El monto </a:t>
            </a:r>
            <a:pPr algn="l" indent="0" marL="0">
              <a:lnSpc>
                <a:spcPts val="1680"/>
              </a:lnSpc>
              <a:buNone/>
            </a:pPr>
            <a:r>
              <a:rPr lang="en-US" sz="1200" b="1" dirty="0">
                <a:solidFill>
                  <a:srgbClr val="FF6602"/>
                </a:solidFill>
                <a:latin typeface="Open Sans" pitchFamily="34" charset="0"/>
                <a:ea typeface="Open Sans" pitchFamily="34" charset="-122"/>
                <a:cs typeface="Open Sans" pitchFamily="34" charset="-120"/>
              </a:rPr>
              <a:t>se define en la entrevista</a:t>
            </a:r>
            <a:pPr algn="l" indent="0" marL="0">
              <a:lnSpc>
                <a:spcPts val="1680"/>
              </a:lnSpc>
              <a:buNone/>
            </a:pPr>
            <a:r>
              <a:rPr lang="en-US" sz="1200" dirty="0">
                <a:solidFill>
                  <a:srgbClr val="FFFFFF"/>
                </a:solidFill>
                <a:latin typeface="Open Sans" pitchFamily="34" charset="0"/>
                <a:ea typeface="Open Sans" pitchFamily="34" charset="-122"/>
                <a:cs typeface="Open Sans" pitchFamily="34" charset="-120"/>
              </a:rPr>
              <a:t>, según tu caso y lo que necesites. No te vamos a recomendar el plan más caro: el que te vaya a dar resultados.</a:t>
            </a:r>
            <a:endParaRPr lang="en-US" sz="1200" dirty="0"/>
          </a:p>
        </p:txBody>
      </p:sp>
      <p:sp>
        <p:nvSpPr>
          <p:cNvPr id="12" name="Text 9"/>
          <p:cNvSpPr txBox="1"/>
          <p:nvPr/>
        </p:nvSpPr>
        <p:spPr>
          <a:xfrm>
            <a:off x="6582766" y="4269334"/>
            <a:ext cx="4961534" cy="678485"/>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Open Sans" pitchFamily="34" charset="0"/>
                <a:ea typeface="Open Sans" pitchFamily="34" charset="-122"/>
                <a:cs typeface="Open Sans" pitchFamily="34" charset="-120"/>
              </a:rPr>
              <a:t>Si buscás </a:t>
            </a:r>
            <a:pPr algn="l" indent="0" marL="0">
              <a:lnSpc>
                <a:spcPts val="1680"/>
              </a:lnSpc>
              <a:buNone/>
            </a:pPr>
            <a:r>
              <a:rPr lang="en-US" sz="1200" b="1" dirty="0">
                <a:solidFill>
                  <a:srgbClr val="FF6602"/>
                </a:solidFill>
                <a:latin typeface="Open Sans" pitchFamily="34" charset="0"/>
                <a:ea typeface="Open Sans" pitchFamily="34" charset="-122"/>
                <a:cs typeface="Open Sans" pitchFamily="34" charset="-120"/>
              </a:rPr>
              <a:t>un cursito de 200 dólares</a:t>
            </a:r>
            <a:pPr algn="l" indent="0" marL="0">
              <a:lnSpc>
                <a:spcPts val="1680"/>
              </a:lnSpc>
              <a:buNone/>
            </a:pPr>
            <a:r>
              <a:rPr lang="en-US" sz="1200" dirty="0">
                <a:solidFill>
                  <a:srgbClr val="FFFFFF"/>
                </a:solidFill>
                <a:latin typeface="Open Sans" pitchFamily="34" charset="0"/>
                <a:ea typeface="Open Sans" pitchFamily="34" charset="-122"/>
                <a:cs typeface="Open Sans" pitchFamily="34" charset="-120"/>
              </a:rPr>
              <a:t> que promete soluciones mágicas y a los diez días te devuelve a la misma rutina de antes, esto no es lo que estás buscando.</a:t>
            </a:r>
            <a:endParaRPr lang="en-US" sz="1200" dirty="0"/>
          </a:p>
        </p:txBody>
      </p:sp>
      <p:sp>
        <p:nvSpPr>
          <p:cNvPr id="13" name="Text 10"/>
          <p:cNvSpPr txBox="1"/>
          <p:nvPr/>
        </p:nvSpPr>
        <p:spPr>
          <a:xfrm>
            <a:off x="6400800" y="5100523"/>
            <a:ext cx="5143500" cy="1009498"/>
          </a:xfrm>
          <a:prstGeom prst="rect">
            <a:avLst/>
          </a:prstGeom>
          <a:noFill/>
          <a:ln/>
        </p:spPr>
        <p:txBody>
          <a:bodyPr wrap="square" lIns="0" tIns="0" rIns="0" bIns="0" rtlCol="0" anchor="t"/>
          <a:lstStyle/>
          <a:p>
            <a:pPr algn="l" indent="0" marL="0">
              <a:lnSpc>
                <a:spcPts val="1560"/>
              </a:lnSpc>
              <a:buNone/>
            </a:pPr>
            <a:r>
              <a:rPr lang="en-US" sz="1100" dirty="0">
                <a:solidFill>
                  <a:srgbClr val="FFFFFF"/>
                </a:solidFill>
                <a:latin typeface="Open Sans" pitchFamily="34" charset="0"/>
                <a:ea typeface="Open Sans" pitchFamily="34" charset="-122"/>
                <a:cs typeface="Open Sans" pitchFamily="34" charset="-120"/>
              </a:rPr>
              <a:t>Trabajamos con gente que tiene </a:t>
            </a:r>
            <a:pPr algn="l" indent="0" marL="0">
              <a:lnSpc>
                <a:spcPts val="1560"/>
              </a:lnSpc>
              <a:buNone/>
            </a:pPr>
            <a:r>
              <a:rPr lang="en-US" sz="1100" b="1" dirty="0">
                <a:solidFill>
                  <a:srgbClr val="FFFFFF"/>
                </a:solidFill>
                <a:latin typeface="Open Sans" pitchFamily="34" charset="0"/>
                <a:ea typeface="Open Sans" pitchFamily="34" charset="-122"/>
                <a:cs typeface="Open Sans" pitchFamily="34" charset="-120"/>
              </a:rPr>
              <a:t>un objetivo concreto y una vida exigente encima</a:t>
            </a:r>
            <a:pPr algn="l" indent="0" marL="0">
              <a:lnSpc>
                <a:spcPts val="1560"/>
              </a:lnSpc>
              <a:buNone/>
            </a:pPr>
            <a:r>
              <a:rPr lang="en-US" sz="1100" dirty="0">
                <a:solidFill>
                  <a:srgbClr val="FFFFFF"/>
                </a:solidFill>
                <a:latin typeface="Open Sans" pitchFamily="34" charset="0"/>
                <a:ea typeface="Open Sans" pitchFamily="34" charset="-122"/>
                <a:cs typeface="Open Sans" pitchFamily="34" charset="-120"/>
              </a:rPr>
              <a:t>: un negocio, un equipo, una carrera, un proyecto propio. Si hoy tu prioridad es llegar a fin de mes o batallar para pagar el alquiler: </a:t>
            </a:r>
            <a:pPr algn="l" indent="0" marL="0">
              <a:lnSpc>
                <a:spcPts val="1560"/>
              </a:lnSpc>
              <a:buNone/>
            </a:pPr>
            <a:r>
              <a:rPr lang="en-US" sz="1100" b="1" dirty="0">
                <a:solidFill>
                  <a:srgbClr val="FFFFFF"/>
                </a:solidFill>
                <a:latin typeface="Open Sans" pitchFamily="34" charset="0"/>
                <a:ea typeface="Open Sans" pitchFamily="34" charset="-122"/>
                <a:cs typeface="Open Sans" pitchFamily="34" charset="-120"/>
              </a:rPr>
              <a:t>hoy no es tu momento</a:t>
            </a:r>
            <a:pPr algn="l" indent="0" marL="0">
              <a:lnSpc>
                <a:spcPts val="1560"/>
              </a:lnSpc>
              <a:buNone/>
            </a:pPr>
            <a:r>
              <a:rPr lang="en-US" sz="1100" dirty="0">
                <a:solidFill>
                  <a:srgbClr val="FFFFFF"/>
                </a:solidFill>
                <a:latin typeface="Open Sans" pitchFamily="34" charset="0"/>
                <a:ea typeface="Open Sans" pitchFamily="34" charset="-122"/>
                <a:cs typeface="Open Sans" pitchFamily="34" charset="-120"/>
              </a:rPr>
              <a:t> — y está perfecto.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tmp/claude-0/-home-user-detodo/82f5030d-8aaf-57d2-9bf8-611f8273ee0c/scratchpad/pptx-hibrido/bg10.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422806" y="962863"/>
            <a:ext cx="1688897" cy="196596"/>
          </a:xfrm>
          <a:prstGeom prst="rect">
            <a:avLst/>
          </a:prstGeom>
          <a:noFill/>
          <a:ln/>
        </p:spPr>
        <p:txBody>
          <a:bodyPr wrap="square" lIns="0" tIns="0" rIns="0" bIns="0" rtlCol="0" anchor="t"/>
          <a:lstStyle/>
          <a:p>
            <a:pPr algn="l" indent="0" marL="0">
              <a:lnSpc>
                <a:spcPts val="1430"/>
              </a:lnSpc>
              <a:buNone/>
            </a:pPr>
            <a:r>
              <a:rPr lang="en-US" sz="1100" spc="330" kern="0" dirty="0">
                <a:solidFill>
                  <a:srgbClr val="0C3452"/>
                </a:solidFill>
                <a:latin typeface="Consolas" pitchFamily="34" charset="0"/>
                <a:ea typeface="Consolas" pitchFamily="34" charset="-122"/>
                <a:cs typeface="Consolas" pitchFamily="34" charset="-120"/>
              </a:rPr>
              <a:t>CÓMO SE ENTRA</a:t>
            </a:r>
            <a:endParaRPr lang="en-US" sz="1100" dirty="0"/>
          </a:p>
        </p:txBody>
      </p:sp>
      <p:sp>
        <p:nvSpPr>
          <p:cNvPr id="4" name="Text 1"/>
          <p:cNvSpPr txBox="1"/>
          <p:nvPr/>
        </p:nvSpPr>
        <p:spPr>
          <a:xfrm>
            <a:off x="698602" y="1527962"/>
            <a:ext cx="6527902" cy="1646834"/>
          </a:xfrm>
          <a:prstGeom prst="rect">
            <a:avLst/>
          </a:prstGeom>
          <a:noFill/>
          <a:ln/>
        </p:spPr>
        <p:txBody>
          <a:bodyPr wrap="square" lIns="0" tIns="0" rIns="0" bIns="0" rtlCol="0" anchor="t"/>
          <a:lstStyle/>
          <a:p>
            <a:pPr algn="l" indent="0" marL="0">
              <a:lnSpc>
                <a:spcPts val="4220"/>
              </a:lnSpc>
              <a:buNone/>
            </a:pPr>
            <a:r>
              <a:rPr lang="en-US" sz="4100" b="1" spc="-100" kern="0" dirty="0">
                <a:solidFill>
                  <a:srgbClr val="0C3452"/>
                </a:solidFill>
                <a:latin typeface="Montserrat" pitchFamily="34" charset="0"/>
                <a:ea typeface="Montserrat" pitchFamily="34" charset="-122"/>
                <a:cs typeface="Montserrat" pitchFamily="34" charset="-120"/>
              </a:rPr>
              <a:t>No te pido que hagas todo hoy.</a:t>
            </a:r>
            <a:pPr algn="l" indent="0" marL="0">
              <a:lnSpc>
                <a:spcPts val="4220"/>
              </a:lnSpc>
              <a:buNone/>
            </a:pPr>
            <a:r>
              <a:rPr lang="en-US" sz="4100" b="1" spc="-100" kern="0" dirty="0">
                <a:solidFill>
                  <a:srgbClr val="0C3452"/>
                </a:solidFill>
                <a:latin typeface="Montserrat" pitchFamily="34" charset="0"/>
                <a:ea typeface="Montserrat" pitchFamily="34" charset="-122"/>
                <a:cs typeface="Montserrat" pitchFamily="34" charset="-120"/>
              </a:rPr>
              <a:t>
</a:t>
            </a:r>
            <a:pPr algn="l" indent="0" marL="0">
              <a:lnSpc>
                <a:spcPts val="4220"/>
              </a:lnSpc>
              <a:buNone/>
            </a:pPr>
            <a:r>
              <a:rPr lang="en-US" sz="4100" b="1" spc="-100" kern="0" dirty="0">
                <a:solidFill>
                  <a:srgbClr val="0C3452"/>
                </a:solidFill>
                <a:latin typeface="Montserrat" pitchFamily="34" charset="0"/>
                <a:ea typeface="Montserrat" pitchFamily="34" charset="-122"/>
                <a:cs typeface="Montserrat" pitchFamily="34" charset="-120"/>
              </a:rPr>
              <a:t>Te pido </a:t>
            </a:r>
            <a:pPr algn="l" indent="0" marL="0">
              <a:lnSpc>
                <a:spcPts val="4220"/>
              </a:lnSpc>
              <a:buNone/>
            </a:pPr>
            <a:r>
              <a:rPr lang="en-US" sz="4100" b="1" spc="-100" kern="0" dirty="0">
                <a:solidFill>
                  <a:srgbClr val="FF6602"/>
                </a:solidFill>
                <a:latin typeface="Montserrat" pitchFamily="34" charset="0"/>
                <a:ea typeface="Montserrat" pitchFamily="34" charset="-122"/>
                <a:cs typeface="Montserrat" pitchFamily="34" charset="-120"/>
              </a:rPr>
              <a:t>tu 1%</a:t>
            </a:r>
            <a:pPr algn="l" indent="0" marL="0">
              <a:lnSpc>
                <a:spcPts val="4220"/>
              </a:lnSpc>
              <a:buNone/>
            </a:pPr>
            <a:r>
              <a:rPr lang="en-US" sz="4100" b="1" spc="-100" kern="0" dirty="0">
                <a:solidFill>
                  <a:srgbClr val="0C3452"/>
                </a:solidFill>
                <a:latin typeface="Montserrat" pitchFamily="34" charset="0"/>
                <a:ea typeface="Montserrat" pitchFamily="34" charset="-122"/>
                <a:cs typeface="Montserrat" pitchFamily="34" charset="-120"/>
              </a:rPr>
              <a:t>.</a:t>
            </a:r>
            <a:endParaRPr lang="en-US" sz="4100" dirty="0"/>
          </a:p>
        </p:txBody>
      </p:sp>
      <p:sp>
        <p:nvSpPr>
          <p:cNvPr id="5" name="Text 2"/>
          <p:cNvSpPr txBox="1"/>
          <p:nvPr/>
        </p:nvSpPr>
        <p:spPr>
          <a:xfrm>
            <a:off x="698602" y="3377794"/>
            <a:ext cx="4876495" cy="977494"/>
          </a:xfrm>
          <a:prstGeom prst="rect">
            <a:avLst/>
          </a:prstGeom>
          <a:noFill/>
          <a:ln/>
        </p:spPr>
        <p:txBody>
          <a:bodyPr wrap="square" lIns="0" tIns="0" rIns="0" bIns="0" rtlCol="0" anchor="t"/>
          <a:lstStyle/>
          <a:p>
            <a:pPr algn="l" indent="0" marL="0">
              <a:lnSpc>
                <a:spcPts val="2460"/>
              </a:lnSpc>
              <a:buNone/>
            </a:pPr>
            <a:r>
              <a:rPr lang="en-US" sz="1700" dirty="0">
                <a:solidFill>
                  <a:srgbClr val="0C3452"/>
                </a:solidFill>
                <a:latin typeface="Open Sans" pitchFamily="34" charset="0"/>
                <a:ea typeface="Open Sans" pitchFamily="34" charset="-122"/>
                <a:cs typeface="Open Sans" pitchFamily="34" charset="-120"/>
              </a:rPr>
              <a:t>Escaneás el QR, respondés unas preguntas, elegís horario. Todo lo demás del camino que te mostré pasa solo.</a:t>
            </a:r>
            <a:endParaRPr lang="en-US" sz="1700" dirty="0"/>
          </a:p>
        </p:txBody>
      </p:sp>
      <p:sp>
        <p:nvSpPr>
          <p:cNvPr id="6" name="Text 3"/>
          <p:cNvSpPr txBox="1"/>
          <p:nvPr/>
        </p:nvSpPr>
        <p:spPr>
          <a:xfrm>
            <a:off x="698602" y="5256886"/>
            <a:ext cx="4496105" cy="676656"/>
          </a:xfrm>
          <a:prstGeom prst="rect">
            <a:avLst/>
          </a:prstGeom>
          <a:noFill/>
          <a:ln/>
        </p:spPr>
        <p:txBody>
          <a:bodyPr wrap="square" lIns="0" tIns="0" rIns="0" bIns="0" rtlCol="0" anchor="t"/>
          <a:lstStyle/>
          <a:p>
            <a:pPr algn="l" indent="0" marL="0">
              <a:lnSpc>
                <a:spcPts val="1810"/>
              </a:lnSpc>
              <a:buNone/>
            </a:pPr>
            <a:r>
              <a:rPr lang="en-US" sz="1250" b="1" dirty="0">
                <a:solidFill>
                  <a:srgbClr val="0C3452"/>
                </a:solidFill>
                <a:latin typeface="Open Sans" pitchFamily="34" charset="0"/>
                <a:ea typeface="Open Sans" pitchFamily="34" charset="-122"/>
                <a:cs typeface="Open Sans" pitchFamily="34" charset="-120"/>
              </a:rPr>
              <a:t>Entrevista de admisión.</a:t>
            </a:r>
            <a:pPr algn="l" indent="0" marL="0">
              <a:lnSpc>
                <a:spcPts val="1810"/>
              </a:lnSpc>
              <a:buNone/>
            </a:pPr>
            <a:r>
              <a:rPr lang="en-US" sz="1250" dirty="0">
                <a:solidFill>
                  <a:srgbClr val="0C3452"/>
                </a:solidFill>
                <a:latin typeface="Open Sans" pitchFamily="34" charset="0"/>
                <a:ea typeface="Open Sans" pitchFamily="34" charset="-122"/>
                <a:cs typeface="Open Sans" pitchFamily="34" charset="-120"/>
              </a:rPr>
              <a:t> Videollamada personal con nuestro Director de Admisiones.</a:t>
            </a:r>
            <a:endParaRPr lang="en-US" sz="1250" dirty="0"/>
          </a:p>
        </p:txBody>
      </p:sp>
      <p:sp>
        <p:nvSpPr>
          <p:cNvPr id="7" name="Text 4"/>
          <p:cNvSpPr txBox="1"/>
          <p:nvPr/>
        </p:nvSpPr>
        <p:spPr>
          <a:xfrm>
            <a:off x="8231429" y="5279746"/>
            <a:ext cx="2764231" cy="323698"/>
          </a:xfrm>
          <a:prstGeom prst="rect">
            <a:avLst/>
          </a:prstGeom>
          <a:noFill/>
          <a:ln/>
        </p:spPr>
        <p:txBody>
          <a:bodyPr wrap="square" lIns="0" tIns="0" rIns="0" bIns="0" rtlCol="0" anchor="t"/>
          <a:lstStyle/>
          <a:p>
            <a:pPr algn="l" indent="0" marL="0">
              <a:lnSpc>
                <a:spcPts val="2600"/>
              </a:lnSpc>
              <a:buNone/>
            </a:pPr>
            <a:r>
              <a:rPr lang="en-US" sz="2000" b="1" spc="-20" kern="0" dirty="0">
                <a:solidFill>
                  <a:srgbClr val="FF6602"/>
                </a:solidFill>
                <a:latin typeface="Montserrat" pitchFamily="34" charset="0"/>
                <a:ea typeface="Montserrat" pitchFamily="34" charset="-122"/>
                <a:cs typeface="Montserrat" pitchFamily="34" charset="-120"/>
              </a:rPr>
              <a:t>12 cupos esta semana.</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tmp/claude-0/-home-user-detodo/82f5030d-8aaf-57d2-9bf8-611f8273ee0c/scratchpad/pptx-hibrido/bg11.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5703" y="711403"/>
            <a:ext cx="8305495" cy="1022299"/>
          </a:xfrm>
          <a:prstGeom prst="rect">
            <a:avLst/>
          </a:prstGeom>
          <a:noFill/>
          <a:ln/>
        </p:spPr>
        <p:txBody>
          <a:bodyPr wrap="square" lIns="0" tIns="0" rIns="0" bIns="0" rtlCol="0" anchor="t"/>
          <a:lstStyle/>
          <a:p>
            <a:pPr algn="l" indent="0" marL="0">
              <a:lnSpc>
                <a:spcPts val="3880"/>
              </a:lnSpc>
              <a:buNone/>
            </a:pPr>
            <a:r>
              <a:rPr lang="en-US" sz="3800" b="1" spc="-80" kern="0" dirty="0">
                <a:solidFill>
                  <a:srgbClr val="0C3452"/>
                </a:solidFill>
                <a:latin typeface="Montserrat" pitchFamily="34" charset="0"/>
                <a:ea typeface="Montserrat" pitchFamily="34" charset="-122"/>
                <a:cs typeface="Montserrat" pitchFamily="34" charset="-120"/>
              </a:rPr>
              <a:t>Del otro lado</a:t>
            </a:r>
            <a:pPr algn="l" indent="0" marL="0">
              <a:lnSpc>
                <a:spcPts val="3880"/>
              </a:lnSpc>
              <a:buNone/>
            </a:pPr>
            <a:r>
              <a:rPr lang="en-US" sz="3800" b="1" spc="-80" kern="0" dirty="0">
                <a:solidFill>
                  <a:srgbClr val="0C3452"/>
                </a:solidFill>
                <a:latin typeface="Montserrat" pitchFamily="34" charset="0"/>
                <a:ea typeface="Montserrat" pitchFamily="34" charset="-122"/>
                <a:cs typeface="Montserrat" pitchFamily="34" charset="-120"/>
              </a:rPr>
              <a:t>
</a:t>
            </a:r>
            <a:pPr algn="l" indent="0" marL="0">
              <a:lnSpc>
                <a:spcPts val="3880"/>
              </a:lnSpc>
              <a:buNone/>
            </a:pPr>
            <a:r>
              <a:rPr lang="en-US" sz="3800" b="1" spc="-80" kern="0" dirty="0">
                <a:solidFill>
                  <a:srgbClr val="0C3452"/>
                </a:solidFill>
                <a:latin typeface="Montserrat" pitchFamily="34" charset="0"/>
                <a:ea typeface="Montserrat" pitchFamily="34" charset="-122"/>
                <a:cs typeface="Montserrat" pitchFamily="34" charset="-120"/>
              </a:rPr>
              <a:t>del camino.</a:t>
            </a:r>
            <a:endParaRPr lang="en-US" sz="3800" dirty="0"/>
          </a:p>
        </p:txBody>
      </p:sp>
      <p:sp>
        <p:nvSpPr>
          <p:cNvPr id="4" name="Text 1"/>
          <p:cNvSpPr txBox="1"/>
          <p:nvPr/>
        </p:nvSpPr>
        <p:spPr>
          <a:xfrm>
            <a:off x="825703" y="5898794"/>
            <a:ext cx="7352690" cy="285293"/>
          </a:xfrm>
          <a:prstGeom prst="rect">
            <a:avLst/>
          </a:prstGeom>
          <a:noFill/>
          <a:ln/>
        </p:spPr>
        <p:txBody>
          <a:bodyPr wrap="square" lIns="0" tIns="0" rIns="0" bIns="0" rtlCol="0" anchor="t"/>
          <a:lstStyle/>
          <a:p>
            <a:pPr algn="l" indent="0" marL="0">
              <a:lnSpc>
                <a:spcPts val="2210"/>
              </a:lnSpc>
              <a:buNone/>
            </a:pPr>
            <a:r>
              <a:rPr lang="en-US" sz="1700" b="1" dirty="0">
                <a:solidFill>
                  <a:srgbClr val="0C3452"/>
                </a:solidFill>
                <a:latin typeface="Open Sans" pitchFamily="34" charset="0"/>
                <a:ea typeface="Open Sans" pitchFamily="34" charset="-122"/>
                <a:cs typeface="Open Sans" pitchFamily="34" charset="-120"/>
              </a:rPr>
              <a:t>En febrero, este papel es evidencia de lo que cambió.</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Instituto de Productividad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mapa del 1%</dc:title>
  <dc:subject>PptxGenJS Presentation</dc:subject>
  <dc:creator>Instituto NFM</dc:creator>
  <cp:lastModifiedBy>Instituto NFM</cp:lastModifiedBy>
  <cp:revision>1</cp:revision>
  <dcterms:created xsi:type="dcterms:W3CDTF">2026-08-24T16:18:02Z</dcterms:created>
  <dcterms:modified xsi:type="dcterms:W3CDTF">2026-08-24T16:18:02Z</dcterms:modified>
</cp:coreProperties>
</file>