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tes del pitch" id="{3ea7fae6-4d26-ad60-debd-e782672bdd27}">
          <p14:sldIdLst>
            <p14:sldId id="256"/>
            <p14:sldId id="257"/>
          </p14:sldIdLst>
        </p14:section>
        <p14:section name="Puente" id="{8be40ad8-4fc7-148d-8e11-7d5a2b3838f8}">
          <p14:sldIdLst>
            <p14:sldId id="258"/>
            <p14:sldId id="259"/>
          </p14:sldIdLst>
        </p14:section>
        <p14:section name="El primer paso" id="{b48fc1da-6963-a52b-c156-159f1e4b8ce1}">
          <p14:sldIdLst>
            <p14:sldId id="260"/>
            <p14:sldId id="261"/>
            <p14:sldId id="262"/>
          </p14:sldIdLst>
        </p14:section>
        <p14:section name="Prueba" id="{251cad7a-202f-4edb-1b76-864536e0067e}">
          <p14:sldIdLst>
            <p14:sldId id="263"/>
            <p14:sldId id="264"/>
            <p14:sldId id="265"/>
          </p14:sldIdLst>
        </p14:section>
        <p14:section name="Precio" id="{eed64ccc-7938-6425-703d-ff59c593dbc5}">
          <p14:sldIdLst>
            <p14:sldId id="266"/>
            <p14:sldId id="267"/>
            <p14:sldId id="268"/>
          </p14:sldIdLst>
        </p14:section>
        <p14:section name="En vivo (se corta en el evergreen)" id="{7824f135-b975-2b34-3217-ad995d45fdc6}">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5 · Lo que se vuelve posible. No lo apures: acá nacen las ganas. Describí cómo se ve la vida con la semana ordenada antes de mostrar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6. «Esto es todo lo que hay dentro del Instituto: clases grupales, coaches 1 a 1, nutrición, psicología y los niveles siguientes. Es integral, porque ningún sistema funciona si no mira tu vida entera. Pero hoy te quiero traer una solución concreta para que puedas accionar. Podés con todo, pero no con todo al mismo tiempo.» Señalá el primer escalón: «Es lo único que depende de vos. Todo lo demás lo hacemos juntos y te guiamos adentro.» El 1 a 1 está en los escalones de arriba, nunca en la Comunidad.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7 · Puente, sin cambiar el tono. Dejá que cada uno se ubique solo en una de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Esperá los SÍ. En vivo podés leer algunos nombres; para la versión grabada alcanza con «veo que muchos me dicen que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Presentala como el primer escalón del Instituto: el lugar donde se hace todas las semanas lo que viste en la clase. La planificación la llevan los profesionales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8. «Lo primero que necesitás para organizarte y concentrarte son estos tres pilares.» Cada uno por lo que te da. Cerrá con la regla: una semana en modo supervivencia se recupera. [A CONFIRMAR con David: qué incluyen exactamente los sábados.]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cómo es por dentro. El cerebro rinde distinto cuando hay alguien del otro lado haciendo lo mismo, como correr acompañado.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Pierina está, que cuente en un par de minutos cómo arrancó.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9. Perfiles distintos para que cada uno se vea en alguno. Los casos los define Esteban: no se inventan.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10. «O seguís intentándolo solo, como venís haciendo, o lo hacés en conjunto. Esto no es para todos, porque no todos están dispuestos a accionar.» Nombrá las dos dudas aunque nadie las escriba: la segunda mata la venta en silencio.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11. Es una suscripción mensual, como Netflix. Pedí que escriban en el chat cuántas pagan.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un lado, lo que pagás sin que te sume. Del otro, lo que hace que tus cosas avancen. Hoy tus cosas reciben entre 0 y 2 horas por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Preguntá en el chat cuánto les sale un café donde viven. Recién después, el precio.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Desde acá, todo se corta en la versión grabada. Decí el precio y hacé silencio tres segundos. [A CONFIRMAR: cupo de 20 a USD 35 y después USD 50; la garantía «si no te sirve, no renovás», a validar con 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sola acción: el QR de su moneda. Cada ADENTRO en el chat, nombralo: «¡Estás adentro!». Mientras pagan, entra el caso de éxito que gestiona Esteban.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Repitch y preguntas: los 3 pilares, el precio y el QR otra vez. Medio de pago primero. Dejá esta slide en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731520" y="1097280"/>
            <a:ext cx="10728655"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pic>
        <p:nvPicPr>
          <p:cNvPr id="4" name="Image 0" descr="Instituto de Productividad">    </p:cNvPr>
          <p:cNvPicPr>
            <a:picLocks noChangeAspect="1"/>
          </p:cNvPicPr>
          <p:nvPr/>
        </p:nvPicPr>
        <p:blipFill>
          <a:blip r:embed="rId1"/>
          <a:stretch>
            <a:fillRect/>
          </a:stretch>
        </p:blipFill>
        <p:spPr>
          <a:xfrm>
            <a:off x="9722815" y="6093006"/>
            <a:ext cx="1737360" cy="35351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ar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731520" y="1097280"/>
            <a:ext cx="10728655" cy="100584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pic>
        <p:nvPicPr>
          <p:cNvPr id="4" name="Image 0" descr="Instituto de Productividad">    </p:cNvPr>
          <p:cNvPicPr>
            <a:picLocks noChangeAspect="1"/>
          </p:cNvPicPr>
          <p:nvPr/>
        </p:nvPicPr>
        <p:blipFill>
          <a:blip r:embed="rId1"/>
          <a:stretch>
            <a:fillRect/>
          </a:stretch>
        </p:blipFill>
        <p:spPr>
          <a:xfrm>
            <a:off x="9722815" y="6093006"/>
            <a:ext cx="1737360" cy="353514"/>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izquierda">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4114800"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731520" y="1097280"/>
            <a:ext cx="4114800" cy="27432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pic>
        <p:nvPicPr>
          <p:cNvPr id="4" name="Image 0" descr="Instituto de Productividad">    </p:cNvPr>
          <p:cNvPicPr>
            <a:picLocks noChangeAspect="1"/>
          </p:cNvPicPr>
          <p:nvPr/>
        </p:nvPicPr>
        <p:blipFill>
          <a:blip r:embed="rId1"/>
          <a:stretch>
            <a:fillRect/>
          </a:stretch>
        </p:blipFill>
        <p:spPr>
          <a:xfrm>
            <a:off x="9722815" y="6093006"/>
            <a:ext cx="1737360" cy="35351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scuro derecha">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577840" y="685800"/>
            <a:ext cx="5879592"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577840" y="1097280"/>
            <a:ext cx="5879592"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pic>
        <p:nvPicPr>
          <p:cNvPr id="4" name="Image 0" descr="Instituto de Productividad">    </p:cNvPr>
          <p:cNvPicPr>
            <a:picLocks noChangeAspect="1"/>
          </p:cNvPicPr>
          <p:nvPr/>
        </p:nvPicPr>
        <p:blipFill>
          <a:blip r:embed="rId1"/>
          <a:stretch>
            <a:fillRect/>
          </a:stretch>
        </p:blipFill>
        <p:spPr>
          <a:xfrm>
            <a:off x="9722815" y="6093006"/>
            <a:ext cx="1737360" cy="353514"/>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Oscuro centrad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365760"/>
          </a:xfrm>
          <a:prstGeom prst="rect">
            <a:avLst/>
          </a:prstGeom>
          <a:noFill/>
          <a:ln/>
        </p:spPr>
        <p:txBody>
          <a:bodyPr wrap="square" rtlCol="0"/>
          <a:lstStyle>
            <a:lvl1pPr algn="ctr" indent="0" marL="0">
              <a:buNone/>
              <a:defRPr lang="en-US" sz="1400" b="1" spc="300" kern="0" dirty="0">
                <a:solidFill>
                  <a:schemeClr val="accent1"/>
                </a:solidFill>
              </a:defRPr>
            </a:lvl1pPr>
          </a:lstStyle>
          <a:p>
            <a:pPr algn="ctr" indent="0" marL="0">
              <a:buNone/>
            </a:pPr>
            <a:endParaRPr lang="en-US" sz="1400" dirty="0"/>
          </a:p>
        </p:txBody>
      </p:sp>
      <p:sp>
        <p:nvSpPr>
          <p:cNvPr id="3" name="Text 0"/>
          <p:cNvSpPr/>
          <p:nvPr>
            <p:ph idx="101" type="title" hasCustomPrompt="1"/>
          </p:nvPr>
        </p:nvSpPr>
        <p:spPr>
          <a:xfrm>
            <a:off x="1280160" y="1828800"/>
            <a:ext cx="9631375" cy="2331720"/>
          </a:xfrm>
          <a:prstGeom prst="rect">
            <a:avLst/>
          </a:prstGeom>
          <a:noFill/>
          <a:ln/>
        </p:spPr>
        <p:txBody>
          <a:bodyPr wrap="square" rtlCol="0"/>
          <a:lstStyle>
            <a:lvl1pPr algn="ctr" indent="0" marL="0">
              <a:buNone/>
              <a:defRPr lang="en-US" sz="4800" b="1" dirty="0">
                <a:solidFill>
                  <a:schemeClr val="bg1"/>
                </a:solidFill>
              </a:defRPr>
            </a:lvl1pPr>
          </a:lstStyle>
          <a:p>
            <a:pPr algn="ctr" indent="0" marL="0">
              <a:buNone/>
            </a:pPr>
            <a:endParaRPr lang="en-US" sz="4800" dirty="0"/>
          </a:p>
        </p:txBody>
      </p:sp>
      <p:sp>
        <p:nvSpPr>
          <p:cNvPr id="4" name="Text 0"/>
          <p:cNvSpPr/>
          <p:nvPr>
            <p:ph idx="102" type="body" hasCustomPrompt="1"/>
          </p:nvPr>
        </p:nvSpPr>
        <p:spPr>
          <a:xfrm>
            <a:off x="1645920" y="4297680"/>
            <a:ext cx="8899855" cy="822960"/>
          </a:xfrm>
          <a:prstGeom prst="rect">
            <a:avLst/>
          </a:prstGeom>
          <a:noFill/>
          <a:ln/>
        </p:spPr>
        <p:txBody>
          <a:bodyPr wrap="square" rtlCol="0"/>
          <a:lstStyle>
            <a:lvl1pPr algn="ctr" indent="0" marL="0">
              <a:buNone/>
              <a:defRPr lang="en-US" sz="2200" dirty="0">
                <a:solidFill>
                  <a:schemeClr val="accent2"/>
                </a:solidFill>
              </a:defRPr>
            </a:lvl1pPr>
          </a:lstStyle>
          <a:p>
            <a:pPr algn="ctr" indent="0" marL="0">
              <a:buNone/>
            </a:pPr>
            <a:endParaRPr lang="en-US" sz="2200" dirty="0"/>
          </a:p>
        </p:txBody>
      </p:sp>
      <p:pic>
        <p:nvPicPr>
          <p:cNvPr id="5" name="Image 0" descr="Instituto de Productividad">    </p:cNvPr>
          <p:cNvPicPr>
            <a:picLocks noChangeAspect="1"/>
          </p:cNvPicPr>
          <p:nvPr/>
        </p:nvPicPr>
        <p:blipFill>
          <a:blip r:embed="rId1"/>
          <a:stretch>
            <a:fillRect/>
          </a:stretch>
        </p:blipFill>
        <p:spPr>
          <a:xfrm>
            <a:off x="9722815" y="6093006"/>
            <a:ext cx="1737360" cy="353514"/>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7.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7.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LO QUE SE VUELVE POSIBLE</a:t>
            </a:r>
            <a:endParaRPr lang="en-US" sz="1400" dirty="0"/>
          </a:p>
        </p:txBody>
      </p:sp>
      <p:sp>
        <p:nvSpPr>
          <p:cNvPr id="3" name="Text 0"/>
          <p:cNvSpPr/>
          <p:nvPr>
            <p:ph idx="101" type="title" hasCustomPrompt="1"/>
          </p:nvPr>
        </p:nvSpPr>
        <p:spPr>
          <a:xfrm>
            <a:off x="731520" y="1097280"/>
            <a:ext cx="10728655" cy="1005840"/>
          </a:xfrm>
          <a:prstGeom prst="rect">
            <a:avLst/>
          </a:prstGeom>
          <a:noFill/>
          <a:ln/>
        </p:spPr>
        <p:txBody>
          <a:bodyPr wrap="square" lIns="0" tIns="0" rIns="0" bIns="0" rtlCol="0" anchor="t"/>
          <a:lstStyle/>
          <a:p>
            <a:pPr algn="l" indent="0" marL="0">
              <a:buNone/>
            </a:pPr>
            <a:r>
              <a:rPr lang="en-US" sz="4000" b="1" dirty="0">
                <a:solidFill>
                  <a:schemeClr val="tx1"/>
                </a:solidFill>
              </a:rPr>
              <a:t>Imaginate tu semana ordenada</a:t>
            </a:r>
            <a:endParaRPr lang="en-US" sz="4000" dirty="0"/>
          </a:p>
        </p:txBody>
      </p:sp>
      <p:sp>
        <p:nvSpPr>
          <p:cNvPr id="4" name="Promesa"/>
          <p:cNvSpPr txBox="1"/>
          <p:nvPr/>
        </p:nvSpPr>
        <p:spPr>
          <a:xfrm>
            <a:off x="731520" y="2240280"/>
            <a:ext cx="4206240" cy="1005840"/>
          </a:xfrm>
          <a:prstGeom prst="rect">
            <a:avLst/>
          </a:prstGeom>
          <a:noFill/>
          <a:ln/>
        </p:spPr>
        <p:txBody>
          <a:bodyPr wrap="square" lIns="0" tIns="0" rIns="0" bIns="0" rtlCol="0" anchor="t"/>
          <a:lstStyle/>
          <a:p>
            <a:pPr indent="0" marL="0">
              <a:buNone/>
            </a:pPr>
            <a:r>
              <a:rPr lang="en-US" sz="2400" b="1" dirty="0">
                <a:solidFill>
                  <a:schemeClr val="tx1"/>
                </a:solidFill>
                <a:latin typeface="Montserrat" pitchFamily="34" charset="0"/>
                <a:ea typeface="Montserrat" pitchFamily="34" charset="-122"/>
                <a:cs typeface="Montserrat" pitchFamily="34" charset="-120"/>
              </a:rPr>
              <a:t>Tres bloques por semana pensados para vos.</a:t>
            </a:r>
            <a:endParaRPr lang="en-US" sz="2400" dirty="0"/>
          </a:p>
        </p:txBody>
      </p:sp>
      <p:sp>
        <p:nvSpPr>
          <p:cNvPr id="5" name="Detalle"/>
          <p:cNvSpPr txBox="1"/>
          <p:nvPr/>
        </p:nvSpPr>
        <p:spPr>
          <a:xfrm>
            <a:off x="731520" y="3429000"/>
            <a:ext cx="4206240" cy="1280160"/>
          </a:xfrm>
          <a:prstGeom prst="rect">
            <a:avLst/>
          </a:prstGeom>
          <a:noFill/>
          <a:ln/>
        </p:spPr>
        <p:txBody>
          <a:bodyPr wrap="square" lIns="0" tIns="0" rIns="0" bIns="0" rtlCol="0" anchor="t"/>
          <a:lstStyle/>
          <a:p>
            <a:pPr indent="0" marL="0">
              <a:buNone/>
            </a:pPr>
            <a:r>
              <a:rPr lang="en-US" sz="2000" dirty="0">
                <a:solidFill>
                  <a:schemeClr val="accent3"/>
                </a:solidFill>
              </a:rPr>
              <a:t>Tu proyecto avanza. Y cerrás el día con tiempo para tu familia, sin culpa.</a:t>
            </a:r>
            <a:endParaRPr lang="en-US" sz="2000" dirty="0"/>
          </a:p>
        </p:txBody>
      </p:sp>
      <p:sp>
        <p:nvSpPr>
          <p:cNvPr id="6" name="Día LUN"/>
          <p:cNvSpPr txBox="1"/>
          <p:nvPr/>
        </p:nvSpPr>
        <p:spPr>
          <a:xfrm>
            <a:off x="5440680" y="2240280"/>
            <a:ext cx="758952" cy="274320"/>
          </a:xfrm>
          <a:prstGeom prst="rect">
            <a:avLst/>
          </a:prstGeom>
          <a:noFill/>
          <a:ln/>
        </p:spPr>
        <p:txBody>
          <a:bodyPr wrap="square" lIns="0" tIns="0" rIns="0" bIns="0" rtlCol="0" anchor="t"/>
          <a:lstStyle/>
          <a:p>
            <a:pPr algn="ctr" indent="0" marL="0">
              <a:buNone/>
            </a:pPr>
            <a:r>
              <a:rPr lang="en-US" sz="1200" b="1" spc="100" kern="0" dirty="0">
                <a:solidFill>
                  <a:schemeClr val="accent3"/>
                </a:solidFill>
              </a:rPr>
              <a:t>LUN</a:t>
            </a:r>
            <a:endParaRPr lang="en-US" sz="1200" dirty="0"/>
          </a:p>
        </p:txBody>
      </p:sp>
      <p:sp>
        <p:nvSpPr>
          <p:cNvPr id="7" name="Bloque LUN 1"/>
          <p:cNvSpPr/>
          <p:nvPr/>
        </p:nvSpPr>
        <p:spPr>
          <a:xfrm>
            <a:off x="5440680" y="2624328"/>
            <a:ext cx="758952" cy="658368"/>
          </a:xfrm>
          <a:prstGeom prst="roundRect">
            <a:avLst>
              <a:gd name="adj" fmla="val 13889"/>
            </a:avLst>
          </a:prstGeom>
          <a:solidFill>
            <a:schemeClr val="accent4"/>
          </a:solidFill>
          <a:ln w="12700">
            <a:solidFill>
              <a:schemeClr val="accent4"/>
            </a:solidFill>
            <a:prstDash val="solid"/>
          </a:ln>
        </p:spPr>
      </p:sp>
      <p:sp>
        <p:nvSpPr>
          <p:cNvPr id="8" name="Bloque LUN 2"/>
          <p:cNvSpPr/>
          <p:nvPr/>
        </p:nvSpPr>
        <p:spPr>
          <a:xfrm>
            <a:off x="5440680" y="3374136"/>
            <a:ext cx="758952" cy="658368"/>
          </a:xfrm>
          <a:prstGeom prst="roundRect">
            <a:avLst>
              <a:gd name="adj" fmla="val 13889"/>
            </a:avLst>
          </a:prstGeom>
          <a:solidFill>
            <a:schemeClr val="accent4"/>
          </a:solidFill>
          <a:ln w="12700">
            <a:solidFill>
              <a:schemeClr val="accent4"/>
            </a:solidFill>
            <a:prstDash val="solid"/>
          </a:ln>
        </p:spPr>
      </p:sp>
      <p:sp>
        <p:nvSpPr>
          <p:cNvPr id="9" name="Bloque LUN 3"/>
          <p:cNvSpPr/>
          <p:nvPr/>
        </p:nvSpPr>
        <p:spPr>
          <a:xfrm>
            <a:off x="5440680" y="4123944"/>
            <a:ext cx="758952" cy="658368"/>
          </a:xfrm>
          <a:prstGeom prst="roundRect">
            <a:avLst>
              <a:gd name="adj" fmla="val 13889"/>
            </a:avLst>
          </a:prstGeom>
          <a:solidFill>
            <a:schemeClr val="accent4"/>
          </a:solidFill>
          <a:ln w="12700">
            <a:solidFill>
              <a:schemeClr val="accent4"/>
            </a:solidFill>
            <a:prstDash val="solid"/>
          </a:ln>
        </p:spPr>
      </p:sp>
      <p:sp>
        <p:nvSpPr>
          <p:cNvPr id="10" name="Bloque LUN 4"/>
          <p:cNvSpPr/>
          <p:nvPr/>
        </p:nvSpPr>
        <p:spPr>
          <a:xfrm>
            <a:off x="5440680" y="4873752"/>
            <a:ext cx="758952" cy="658368"/>
          </a:xfrm>
          <a:prstGeom prst="roundRect">
            <a:avLst>
              <a:gd name="adj" fmla="val 13889"/>
            </a:avLst>
          </a:prstGeom>
          <a:solidFill>
            <a:schemeClr val="accent4"/>
          </a:solidFill>
          <a:ln w="12700">
            <a:solidFill>
              <a:schemeClr val="accent4"/>
            </a:solidFill>
            <a:prstDash val="solid"/>
          </a:ln>
        </p:spPr>
      </p:sp>
      <p:sp>
        <p:nvSpPr>
          <p:cNvPr id="11" name="Día MAR"/>
          <p:cNvSpPr txBox="1"/>
          <p:nvPr/>
        </p:nvSpPr>
        <p:spPr>
          <a:xfrm>
            <a:off x="6318504" y="2240280"/>
            <a:ext cx="758952" cy="274320"/>
          </a:xfrm>
          <a:prstGeom prst="rect">
            <a:avLst/>
          </a:prstGeom>
          <a:noFill/>
          <a:ln/>
        </p:spPr>
        <p:txBody>
          <a:bodyPr wrap="square" lIns="0" tIns="0" rIns="0" bIns="0" rtlCol="0" anchor="t"/>
          <a:lstStyle/>
          <a:p>
            <a:pPr algn="ctr" indent="0" marL="0">
              <a:buNone/>
            </a:pPr>
            <a:r>
              <a:rPr lang="en-US" sz="1200" b="1" spc="100" kern="0" dirty="0">
                <a:solidFill>
                  <a:schemeClr val="accent3"/>
                </a:solidFill>
              </a:rPr>
              <a:t>MAR</a:t>
            </a:r>
            <a:endParaRPr lang="en-US" sz="1200" dirty="0"/>
          </a:p>
        </p:txBody>
      </p:sp>
      <p:sp>
        <p:nvSpPr>
          <p:cNvPr id="12" name="Bloque MAR 1"/>
          <p:cNvSpPr/>
          <p:nvPr/>
        </p:nvSpPr>
        <p:spPr>
          <a:xfrm>
            <a:off x="6318504" y="2624328"/>
            <a:ext cx="758952" cy="658368"/>
          </a:xfrm>
          <a:prstGeom prst="roundRect">
            <a:avLst>
              <a:gd name="adj" fmla="val 13889"/>
            </a:avLst>
          </a:prstGeom>
          <a:solidFill>
            <a:schemeClr val="accent1"/>
          </a:solidFill>
          <a:ln w="12700">
            <a:solidFill>
              <a:schemeClr val="accent1"/>
            </a:solidFill>
            <a:prstDash val="solid"/>
          </a:ln>
        </p:spPr>
      </p:sp>
      <p:sp>
        <p:nvSpPr>
          <p:cNvPr id="13" name="Bloque MAR 1 texto"/>
          <p:cNvSpPr txBox="1"/>
          <p:nvPr/>
        </p:nvSpPr>
        <p:spPr>
          <a:xfrm>
            <a:off x="6318504" y="2624328"/>
            <a:ext cx="758952" cy="658368"/>
          </a:xfrm>
          <a:prstGeom prst="rect">
            <a:avLst/>
          </a:prstGeom>
          <a:noFill/>
          <a:ln/>
        </p:spPr>
        <p:txBody>
          <a:bodyPr wrap="square" lIns="0" tIns="0" rIns="0" bIns="0" rtlCol="0" anchor="ctr"/>
          <a:lstStyle/>
          <a:p>
            <a:pPr algn="ctr" indent="0" marL="0">
              <a:buNone/>
            </a:pPr>
            <a:r>
              <a:rPr lang="en-US" sz="1000" b="1" dirty="0">
                <a:solidFill>
                  <a:schemeClr val="bg1"/>
                </a:solidFill>
              </a:rPr>
              <a:t>PARA</a:t>
            </a:r>
            <a:endParaRPr lang="en-US" sz="1000" dirty="0"/>
          </a:p>
          <a:p>
            <a:pPr algn="ctr" indent="0" marL="0">
              <a:buNone/>
            </a:pPr>
            <a:r>
              <a:rPr lang="en-US" sz="1000" b="1" dirty="0">
                <a:solidFill>
                  <a:schemeClr val="bg1"/>
                </a:solidFill>
              </a:rPr>
              <a:t>VOS</a:t>
            </a:r>
            <a:endParaRPr lang="en-US" sz="1000" dirty="0"/>
          </a:p>
        </p:txBody>
      </p:sp>
      <p:sp>
        <p:nvSpPr>
          <p:cNvPr id="14" name="Bloque MAR 2"/>
          <p:cNvSpPr/>
          <p:nvPr/>
        </p:nvSpPr>
        <p:spPr>
          <a:xfrm>
            <a:off x="6318504" y="3374136"/>
            <a:ext cx="758952" cy="658368"/>
          </a:xfrm>
          <a:prstGeom prst="roundRect">
            <a:avLst>
              <a:gd name="adj" fmla="val 13889"/>
            </a:avLst>
          </a:prstGeom>
          <a:solidFill>
            <a:schemeClr val="accent4"/>
          </a:solidFill>
          <a:ln w="12700">
            <a:solidFill>
              <a:schemeClr val="accent4"/>
            </a:solidFill>
            <a:prstDash val="solid"/>
          </a:ln>
        </p:spPr>
      </p:sp>
      <p:sp>
        <p:nvSpPr>
          <p:cNvPr id="15" name="Bloque MAR 3"/>
          <p:cNvSpPr/>
          <p:nvPr/>
        </p:nvSpPr>
        <p:spPr>
          <a:xfrm>
            <a:off x="6318504" y="4123944"/>
            <a:ext cx="758952" cy="658368"/>
          </a:xfrm>
          <a:prstGeom prst="roundRect">
            <a:avLst>
              <a:gd name="adj" fmla="val 13889"/>
            </a:avLst>
          </a:prstGeom>
          <a:solidFill>
            <a:schemeClr val="accent4"/>
          </a:solidFill>
          <a:ln w="12700">
            <a:solidFill>
              <a:schemeClr val="accent4"/>
            </a:solidFill>
            <a:prstDash val="solid"/>
          </a:ln>
        </p:spPr>
      </p:sp>
      <p:sp>
        <p:nvSpPr>
          <p:cNvPr id="16" name="Bloque MAR 4"/>
          <p:cNvSpPr/>
          <p:nvPr/>
        </p:nvSpPr>
        <p:spPr>
          <a:xfrm>
            <a:off x="6318504" y="4873752"/>
            <a:ext cx="758952" cy="658368"/>
          </a:xfrm>
          <a:prstGeom prst="roundRect">
            <a:avLst>
              <a:gd name="adj" fmla="val 13889"/>
            </a:avLst>
          </a:prstGeom>
          <a:solidFill>
            <a:schemeClr val="accent4"/>
          </a:solidFill>
          <a:ln w="12700">
            <a:solidFill>
              <a:schemeClr val="accent4"/>
            </a:solidFill>
            <a:prstDash val="solid"/>
          </a:ln>
        </p:spPr>
      </p:sp>
      <p:sp>
        <p:nvSpPr>
          <p:cNvPr id="17" name="Día MIÉ"/>
          <p:cNvSpPr txBox="1"/>
          <p:nvPr/>
        </p:nvSpPr>
        <p:spPr>
          <a:xfrm>
            <a:off x="7196328" y="2240280"/>
            <a:ext cx="758952" cy="274320"/>
          </a:xfrm>
          <a:prstGeom prst="rect">
            <a:avLst/>
          </a:prstGeom>
          <a:noFill/>
          <a:ln/>
        </p:spPr>
        <p:txBody>
          <a:bodyPr wrap="square" lIns="0" tIns="0" rIns="0" bIns="0" rtlCol="0" anchor="t"/>
          <a:lstStyle/>
          <a:p>
            <a:pPr algn="ctr" indent="0" marL="0">
              <a:buNone/>
            </a:pPr>
            <a:r>
              <a:rPr lang="en-US" sz="1200" b="1" spc="100" kern="0" dirty="0">
                <a:solidFill>
                  <a:schemeClr val="accent3"/>
                </a:solidFill>
              </a:rPr>
              <a:t>MIÉ</a:t>
            </a:r>
            <a:endParaRPr lang="en-US" sz="1200" dirty="0"/>
          </a:p>
        </p:txBody>
      </p:sp>
      <p:sp>
        <p:nvSpPr>
          <p:cNvPr id="18" name="Bloque MIÉ 1"/>
          <p:cNvSpPr/>
          <p:nvPr/>
        </p:nvSpPr>
        <p:spPr>
          <a:xfrm>
            <a:off x="7196328" y="2624328"/>
            <a:ext cx="758952" cy="658368"/>
          </a:xfrm>
          <a:prstGeom prst="roundRect">
            <a:avLst>
              <a:gd name="adj" fmla="val 13889"/>
            </a:avLst>
          </a:prstGeom>
          <a:solidFill>
            <a:schemeClr val="accent4"/>
          </a:solidFill>
          <a:ln w="12700">
            <a:solidFill>
              <a:schemeClr val="accent4"/>
            </a:solidFill>
            <a:prstDash val="solid"/>
          </a:ln>
        </p:spPr>
      </p:sp>
      <p:sp>
        <p:nvSpPr>
          <p:cNvPr id="19" name="Bloque MIÉ 2"/>
          <p:cNvSpPr/>
          <p:nvPr/>
        </p:nvSpPr>
        <p:spPr>
          <a:xfrm>
            <a:off x="7196328" y="3374136"/>
            <a:ext cx="758952" cy="658368"/>
          </a:xfrm>
          <a:prstGeom prst="roundRect">
            <a:avLst>
              <a:gd name="adj" fmla="val 13889"/>
            </a:avLst>
          </a:prstGeom>
          <a:solidFill>
            <a:schemeClr val="accent4"/>
          </a:solidFill>
          <a:ln w="12700">
            <a:solidFill>
              <a:schemeClr val="accent4"/>
            </a:solidFill>
            <a:prstDash val="solid"/>
          </a:ln>
        </p:spPr>
      </p:sp>
      <p:sp>
        <p:nvSpPr>
          <p:cNvPr id="20" name="Bloque MIÉ 3"/>
          <p:cNvSpPr/>
          <p:nvPr/>
        </p:nvSpPr>
        <p:spPr>
          <a:xfrm>
            <a:off x="7196328" y="4123944"/>
            <a:ext cx="758952" cy="658368"/>
          </a:xfrm>
          <a:prstGeom prst="roundRect">
            <a:avLst>
              <a:gd name="adj" fmla="val 13889"/>
            </a:avLst>
          </a:prstGeom>
          <a:solidFill>
            <a:schemeClr val="accent4"/>
          </a:solidFill>
          <a:ln w="12700">
            <a:solidFill>
              <a:schemeClr val="accent4"/>
            </a:solidFill>
            <a:prstDash val="solid"/>
          </a:ln>
        </p:spPr>
      </p:sp>
      <p:sp>
        <p:nvSpPr>
          <p:cNvPr id="21" name="Bloque MIÉ 4"/>
          <p:cNvSpPr/>
          <p:nvPr/>
        </p:nvSpPr>
        <p:spPr>
          <a:xfrm>
            <a:off x="7196328" y="4873752"/>
            <a:ext cx="758952" cy="658368"/>
          </a:xfrm>
          <a:prstGeom prst="roundRect">
            <a:avLst>
              <a:gd name="adj" fmla="val 13889"/>
            </a:avLst>
          </a:prstGeom>
          <a:solidFill>
            <a:schemeClr val="accent4"/>
          </a:solidFill>
          <a:ln w="12700">
            <a:solidFill>
              <a:schemeClr val="accent4"/>
            </a:solidFill>
            <a:prstDash val="solid"/>
          </a:ln>
        </p:spPr>
      </p:sp>
      <p:sp>
        <p:nvSpPr>
          <p:cNvPr id="22" name="Día JUE"/>
          <p:cNvSpPr txBox="1"/>
          <p:nvPr/>
        </p:nvSpPr>
        <p:spPr>
          <a:xfrm>
            <a:off x="8074152" y="2240280"/>
            <a:ext cx="758952" cy="274320"/>
          </a:xfrm>
          <a:prstGeom prst="rect">
            <a:avLst/>
          </a:prstGeom>
          <a:noFill/>
          <a:ln/>
        </p:spPr>
        <p:txBody>
          <a:bodyPr wrap="square" lIns="0" tIns="0" rIns="0" bIns="0" rtlCol="0" anchor="t"/>
          <a:lstStyle/>
          <a:p>
            <a:pPr algn="ctr" indent="0" marL="0">
              <a:buNone/>
            </a:pPr>
            <a:r>
              <a:rPr lang="en-US" sz="1200" b="1" spc="100" kern="0" dirty="0">
                <a:solidFill>
                  <a:schemeClr val="accent3"/>
                </a:solidFill>
              </a:rPr>
              <a:t>JUE</a:t>
            </a:r>
            <a:endParaRPr lang="en-US" sz="1200" dirty="0"/>
          </a:p>
        </p:txBody>
      </p:sp>
      <p:sp>
        <p:nvSpPr>
          <p:cNvPr id="23" name="Bloque JUE 1"/>
          <p:cNvSpPr/>
          <p:nvPr/>
        </p:nvSpPr>
        <p:spPr>
          <a:xfrm>
            <a:off x="8074152" y="2624328"/>
            <a:ext cx="758952" cy="658368"/>
          </a:xfrm>
          <a:prstGeom prst="roundRect">
            <a:avLst>
              <a:gd name="adj" fmla="val 13889"/>
            </a:avLst>
          </a:prstGeom>
          <a:solidFill>
            <a:schemeClr val="accent4"/>
          </a:solidFill>
          <a:ln w="12700">
            <a:solidFill>
              <a:schemeClr val="accent4"/>
            </a:solidFill>
            <a:prstDash val="solid"/>
          </a:ln>
        </p:spPr>
      </p:sp>
      <p:sp>
        <p:nvSpPr>
          <p:cNvPr id="24" name="Bloque JUE 2"/>
          <p:cNvSpPr/>
          <p:nvPr/>
        </p:nvSpPr>
        <p:spPr>
          <a:xfrm>
            <a:off x="8074152" y="3374136"/>
            <a:ext cx="758952" cy="658368"/>
          </a:xfrm>
          <a:prstGeom prst="roundRect">
            <a:avLst>
              <a:gd name="adj" fmla="val 13889"/>
            </a:avLst>
          </a:prstGeom>
          <a:solidFill>
            <a:schemeClr val="accent4"/>
          </a:solidFill>
          <a:ln w="12700">
            <a:solidFill>
              <a:schemeClr val="accent4"/>
            </a:solidFill>
            <a:prstDash val="solid"/>
          </a:ln>
        </p:spPr>
      </p:sp>
      <p:sp>
        <p:nvSpPr>
          <p:cNvPr id="25" name="Bloque JUE 3"/>
          <p:cNvSpPr/>
          <p:nvPr/>
        </p:nvSpPr>
        <p:spPr>
          <a:xfrm>
            <a:off x="8074152" y="4123944"/>
            <a:ext cx="758952" cy="658368"/>
          </a:xfrm>
          <a:prstGeom prst="roundRect">
            <a:avLst>
              <a:gd name="adj" fmla="val 13889"/>
            </a:avLst>
          </a:prstGeom>
          <a:solidFill>
            <a:schemeClr val="accent4"/>
          </a:solidFill>
          <a:ln w="12700">
            <a:solidFill>
              <a:schemeClr val="accent4"/>
            </a:solidFill>
            <a:prstDash val="solid"/>
          </a:ln>
        </p:spPr>
      </p:sp>
      <p:sp>
        <p:nvSpPr>
          <p:cNvPr id="26" name="Bloque JUE 4"/>
          <p:cNvSpPr/>
          <p:nvPr/>
        </p:nvSpPr>
        <p:spPr>
          <a:xfrm>
            <a:off x="8074152" y="4873752"/>
            <a:ext cx="758952" cy="658368"/>
          </a:xfrm>
          <a:prstGeom prst="roundRect">
            <a:avLst>
              <a:gd name="adj" fmla="val 13889"/>
            </a:avLst>
          </a:prstGeom>
          <a:solidFill>
            <a:schemeClr val="accent1"/>
          </a:solidFill>
          <a:ln w="12700">
            <a:solidFill>
              <a:schemeClr val="accent1"/>
            </a:solidFill>
            <a:prstDash val="solid"/>
          </a:ln>
        </p:spPr>
      </p:sp>
      <p:sp>
        <p:nvSpPr>
          <p:cNvPr id="27" name="Bloque JUE 4 texto"/>
          <p:cNvSpPr txBox="1"/>
          <p:nvPr/>
        </p:nvSpPr>
        <p:spPr>
          <a:xfrm>
            <a:off x="8074152" y="4873752"/>
            <a:ext cx="758952" cy="658368"/>
          </a:xfrm>
          <a:prstGeom prst="rect">
            <a:avLst/>
          </a:prstGeom>
          <a:noFill/>
          <a:ln/>
        </p:spPr>
        <p:txBody>
          <a:bodyPr wrap="square" lIns="0" tIns="0" rIns="0" bIns="0" rtlCol="0" anchor="ctr"/>
          <a:lstStyle/>
          <a:p>
            <a:pPr algn="ctr" indent="0" marL="0">
              <a:buNone/>
            </a:pPr>
            <a:r>
              <a:rPr lang="en-US" sz="1000" b="1" dirty="0">
                <a:solidFill>
                  <a:schemeClr val="bg1"/>
                </a:solidFill>
              </a:rPr>
              <a:t>PARA</a:t>
            </a:r>
            <a:endParaRPr lang="en-US" sz="1000" dirty="0"/>
          </a:p>
          <a:p>
            <a:pPr algn="ctr" indent="0" marL="0">
              <a:buNone/>
            </a:pPr>
            <a:r>
              <a:rPr lang="en-US" sz="1000" b="1" dirty="0">
                <a:solidFill>
                  <a:schemeClr val="bg1"/>
                </a:solidFill>
              </a:rPr>
              <a:t>VOS</a:t>
            </a:r>
            <a:endParaRPr lang="en-US" sz="1000" dirty="0"/>
          </a:p>
        </p:txBody>
      </p:sp>
      <p:sp>
        <p:nvSpPr>
          <p:cNvPr id="28" name="Día VIE"/>
          <p:cNvSpPr txBox="1"/>
          <p:nvPr/>
        </p:nvSpPr>
        <p:spPr>
          <a:xfrm>
            <a:off x="8951976" y="2240280"/>
            <a:ext cx="758952" cy="274320"/>
          </a:xfrm>
          <a:prstGeom prst="rect">
            <a:avLst/>
          </a:prstGeom>
          <a:noFill/>
          <a:ln/>
        </p:spPr>
        <p:txBody>
          <a:bodyPr wrap="square" lIns="0" tIns="0" rIns="0" bIns="0" rtlCol="0" anchor="t"/>
          <a:lstStyle/>
          <a:p>
            <a:pPr algn="ctr" indent="0" marL="0">
              <a:buNone/>
            </a:pPr>
            <a:r>
              <a:rPr lang="en-US" sz="1200" b="1" spc="100" kern="0" dirty="0">
                <a:solidFill>
                  <a:schemeClr val="accent3"/>
                </a:solidFill>
              </a:rPr>
              <a:t>VIE</a:t>
            </a:r>
            <a:endParaRPr lang="en-US" sz="1200" dirty="0"/>
          </a:p>
        </p:txBody>
      </p:sp>
      <p:sp>
        <p:nvSpPr>
          <p:cNvPr id="29" name="Bloque VIE 1"/>
          <p:cNvSpPr/>
          <p:nvPr/>
        </p:nvSpPr>
        <p:spPr>
          <a:xfrm>
            <a:off x="8951976" y="2624328"/>
            <a:ext cx="758952" cy="658368"/>
          </a:xfrm>
          <a:prstGeom prst="roundRect">
            <a:avLst>
              <a:gd name="adj" fmla="val 13889"/>
            </a:avLst>
          </a:prstGeom>
          <a:solidFill>
            <a:schemeClr val="accent4"/>
          </a:solidFill>
          <a:ln w="12700">
            <a:solidFill>
              <a:schemeClr val="accent4"/>
            </a:solidFill>
            <a:prstDash val="solid"/>
          </a:ln>
        </p:spPr>
      </p:sp>
      <p:sp>
        <p:nvSpPr>
          <p:cNvPr id="30" name="Bloque VIE 2"/>
          <p:cNvSpPr/>
          <p:nvPr/>
        </p:nvSpPr>
        <p:spPr>
          <a:xfrm>
            <a:off x="8951976" y="3374136"/>
            <a:ext cx="758952" cy="658368"/>
          </a:xfrm>
          <a:prstGeom prst="roundRect">
            <a:avLst>
              <a:gd name="adj" fmla="val 13889"/>
            </a:avLst>
          </a:prstGeom>
          <a:solidFill>
            <a:schemeClr val="accent4"/>
          </a:solidFill>
          <a:ln w="12700">
            <a:solidFill>
              <a:schemeClr val="accent4"/>
            </a:solidFill>
            <a:prstDash val="solid"/>
          </a:ln>
        </p:spPr>
      </p:sp>
      <p:sp>
        <p:nvSpPr>
          <p:cNvPr id="31" name="Bloque VIE 3"/>
          <p:cNvSpPr/>
          <p:nvPr/>
        </p:nvSpPr>
        <p:spPr>
          <a:xfrm>
            <a:off x="8951976" y="4123944"/>
            <a:ext cx="758952" cy="658368"/>
          </a:xfrm>
          <a:prstGeom prst="roundRect">
            <a:avLst>
              <a:gd name="adj" fmla="val 13889"/>
            </a:avLst>
          </a:prstGeom>
          <a:solidFill>
            <a:schemeClr val="accent4"/>
          </a:solidFill>
          <a:ln w="12700">
            <a:solidFill>
              <a:schemeClr val="accent4"/>
            </a:solidFill>
            <a:prstDash val="solid"/>
          </a:ln>
        </p:spPr>
      </p:sp>
      <p:sp>
        <p:nvSpPr>
          <p:cNvPr id="32" name="Bloque VIE 4"/>
          <p:cNvSpPr/>
          <p:nvPr/>
        </p:nvSpPr>
        <p:spPr>
          <a:xfrm>
            <a:off x="8951976" y="4873752"/>
            <a:ext cx="758952" cy="658368"/>
          </a:xfrm>
          <a:prstGeom prst="roundRect">
            <a:avLst>
              <a:gd name="adj" fmla="val 13889"/>
            </a:avLst>
          </a:prstGeom>
          <a:solidFill>
            <a:schemeClr val="accent4"/>
          </a:solidFill>
          <a:ln w="12700">
            <a:solidFill>
              <a:schemeClr val="accent4"/>
            </a:solidFill>
            <a:prstDash val="solid"/>
          </a:ln>
        </p:spPr>
      </p:sp>
      <p:sp>
        <p:nvSpPr>
          <p:cNvPr id="33" name="Día SÁB"/>
          <p:cNvSpPr txBox="1"/>
          <p:nvPr/>
        </p:nvSpPr>
        <p:spPr>
          <a:xfrm>
            <a:off x="9829800" y="2240280"/>
            <a:ext cx="758952" cy="274320"/>
          </a:xfrm>
          <a:prstGeom prst="rect">
            <a:avLst/>
          </a:prstGeom>
          <a:noFill/>
          <a:ln/>
        </p:spPr>
        <p:txBody>
          <a:bodyPr wrap="square" lIns="0" tIns="0" rIns="0" bIns="0" rtlCol="0" anchor="t"/>
          <a:lstStyle/>
          <a:p>
            <a:pPr algn="ctr" indent="0" marL="0">
              <a:buNone/>
            </a:pPr>
            <a:r>
              <a:rPr lang="en-US" sz="1200" b="1" spc="100" kern="0" dirty="0">
                <a:solidFill>
                  <a:schemeClr val="accent3"/>
                </a:solidFill>
              </a:rPr>
              <a:t>SÁB</a:t>
            </a:r>
            <a:endParaRPr lang="en-US" sz="1200" dirty="0"/>
          </a:p>
        </p:txBody>
      </p:sp>
      <p:sp>
        <p:nvSpPr>
          <p:cNvPr id="34" name="Bloque SÁB 1"/>
          <p:cNvSpPr/>
          <p:nvPr/>
        </p:nvSpPr>
        <p:spPr>
          <a:xfrm>
            <a:off x="9829800" y="2624328"/>
            <a:ext cx="758952" cy="658368"/>
          </a:xfrm>
          <a:prstGeom prst="roundRect">
            <a:avLst>
              <a:gd name="adj" fmla="val 13889"/>
            </a:avLst>
          </a:prstGeom>
          <a:solidFill>
            <a:schemeClr val="accent4"/>
          </a:solidFill>
          <a:ln w="12700">
            <a:solidFill>
              <a:schemeClr val="accent4"/>
            </a:solidFill>
            <a:prstDash val="solid"/>
          </a:ln>
        </p:spPr>
      </p:sp>
      <p:sp>
        <p:nvSpPr>
          <p:cNvPr id="35" name="Bloque SÁB 2"/>
          <p:cNvSpPr/>
          <p:nvPr/>
        </p:nvSpPr>
        <p:spPr>
          <a:xfrm>
            <a:off x="9829800" y="3374136"/>
            <a:ext cx="758952" cy="658368"/>
          </a:xfrm>
          <a:prstGeom prst="roundRect">
            <a:avLst>
              <a:gd name="adj" fmla="val 13889"/>
            </a:avLst>
          </a:prstGeom>
          <a:solidFill>
            <a:schemeClr val="accent1"/>
          </a:solidFill>
          <a:ln w="12700">
            <a:solidFill>
              <a:schemeClr val="accent1"/>
            </a:solidFill>
            <a:prstDash val="solid"/>
          </a:ln>
        </p:spPr>
      </p:sp>
      <p:sp>
        <p:nvSpPr>
          <p:cNvPr id="36" name="Bloque SÁB 2 texto"/>
          <p:cNvSpPr txBox="1"/>
          <p:nvPr/>
        </p:nvSpPr>
        <p:spPr>
          <a:xfrm>
            <a:off x="9829800" y="3374136"/>
            <a:ext cx="758952" cy="658368"/>
          </a:xfrm>
          <a:prstGeom prst="rect">
            <a:avLst/>
          </a:prstGeom>
          <a:noFill/>
          <a:ln/>
        </p:spPr>
        <p:txBody>
          <a:bodyPr wrap="square" lIns="0" tIns="0" rIns="0" bIns="0" rtlCol="0" anchor="ctr"/>
          <a:lstStyle/>
          <a:p>
            <a:pPr algn="ctr" indent="0" marL="0">
              <a:buNone/>
            </a:pPr>
            <a:r>
              <a:rPr lang="en-US" sz="1000" b="1" dirty="0">
                <a:solidFill>
                  <a:schemeClr val="bg1"/>
                </a:solidFill>
              </a:rPr>
              <a:t>PARA</a:t>
            </a:r>
            <a:endParaRPr lang="en-US" sz="1000" dirty="0"/>
          </a:p>
          <a:p>
            <a:pPr algn="ctr" indent="0" marL="0">
              <a:buNone/>
            </a:pPr>
            <a:r>
              <a:rPr lang="en-US" sz="1000" b="1" dirty="0">
                <a:solidFill>
                  <a:schemeClr val="bg1"/>
                </a:solidFill>
              </a:rPr>
              <a:t>VOS</a:t>
            </a:r>
            <a:endParaRPr lang="en-US" sz="1000" dirty="0"/>
          </a:p>
        </p:txBody>
      </p:sp>
      <p:sp>
        <p:nvSpPr>
          <p:cNvPr id="37" name="Día DOM"/>
          <p:cNvSpPr txBox="1"/>
          <p:nvPr/>
        </p:nvSpPr>
        <p:spPr>
          <a:xfrm>
            <a:off x="10707624" y="2240280"/>
            <a:ext cx="758952" cy="274320"/>
          </a:xfrm>
          <a:prstGeom prst="rect">
            <a:avLst/>
          </a:prstGeom>
          <a:noFill/>
          <a:ln/>
        </p:spPr>
        <p:txBody>
          <a:bodyPr wrap="square" lIns="0" tIns="0" rIns="0" bIns="0" rtlCol="0" anchor="t"/>
          <a:lstStyle/>
          <a:p>
            <a:pPr algn="ctr" indent="0" marL="0">
              <a:buNone/>
            </a:pPr>
            <a:r>
              <a:rPr lang="en-US" sz="1200" b="1" spc="100" kern="0" dirty="0">
                <a:solidFill>
                  <a:schemeClr val="accent3"/>
                </a:solidFill>
              </a:rPr>
              <a:t>DOM</a:t>
            </a:r>
            <a:endParaRPr lang="en-US" sz="1200" dirty="0"/>
          </a:p>
        </p:txBody>
      </p:sp>
      <p:sp>
        <p:nvSpPr>
          <p:cNvPr id="38" name="Bloque DOM 1"/>
          <p:cNvSpPr/>
          <p:nvPr/>
        </p:nvSpPr>
        <p:spPr>
          <a:xfrm>
            <a:off x="10707624" y="2624328"/>
            <a:ext cx="758952" cy="658368"/>
          </a:xfrm>
          <a:prstGeom prst="roundRect">
            <a:avLst>
              <a:gd name="adj" fmla="val 13889"/>
            </a:avLst>
          </a:prstGeom>
          <a:solidFill>
            <a:schemeClr val="accent4"/>
          </a:solidFill>
          <a:ln w="12700">
            <a:solidFill>
              <a:schemeClr val="accent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TODO LO QUE HAY ADENTRO</a:t>
            </a:r>
            <a:endParaRPr lang="en-US" sz="1400" dirty="0"/>
          </a:p>
        </p:txBody>
      </p:sp>
      <p:sp>
        <p:nvSpPr>
          <p:cNvPr id="3" name="Text 0"/>
          <p:cNvSpPr/>
          <p:nvPr>
            <p:ph idx="101" type="title" hasCustomPrompt="1"/>
          </p:nvPr>
        </p:nvSpPr>
        <p:spPr>
          <a:xfrm>
            <a:off x="731520" y="1097280"/>
            <a:ext cx="10728655" cy="1005840"/>
          </a:xfrm>
          <a:prstGeom prst="rect">
            <a:avLst/>
          </a:prstGeom>
          <a:noFill/>
          <a:ln/>
        </p:spPr>
        <p:txBody>
          <a:bodyPr wrap="square" lIns="0" tIns="0" rIns="0" bIns="0" rtlCol="0" anchor="t"/>
          <a:lstStyle/>
          <a:p>
            <a:pPr algn="l" indent="0" marL="0">
              <a:buNone/>
            </a:pPr>
            <a:r>
              <a:rPr lang="en-US" sz="4000" b="1" dirty="0">
                <a:solidFill>
                  <a:schemeClr val="tx1"/>
                </a:solidFill>
              </a:rPr>
              <a:t>El Instituto completo</a:t>
            </a:r>
            <a:endParaRPr lang="en-US" sz="4000" dirty="0"/>
          </a:p>
        </p:txBody>
      </p:sp>
      <p:sp>
        <p:nvSpPr>
          <p:cNvPr id="4" name="Frase 1"/>
          <p:cNvSpPr txBox="1"/>
          <p:nvPr/>
        </p:nvSpPr>
        <p:spPr>
          <a:xfrm>
            <a:off x="731520" y="2240280"/>
            <a:ext cx="4114800" cy="548640"/>
          </a:xfrm>
          <a:prstGeom prst="rect">
            <a:avLst/>
          </a:prstGeom>
          <a:noFill/>
          <a:ln/>
        </p:spPr>
        <p:txBody>
          <a:bodyPr wrap="square" lIns="0" tIns="0" rIns="0" bIns="0" rtlCol="0" anchor="t"/>
          <a:lstStyle/>
          <a:p>
            <a:pPr indent="0" marL="0">
              <a:buNone/>
            </a:pPr>
            <a:r>
              <a:rPr lang="en-US" sz="2600" b="1" dirty="0">
                <a:solidFill>
                  <a:schemeClr val="tx1"/>
                </a:solidFill>
                <a:latin typeface="Montserrat" pitchFamily="34" charset="0"/>
                <a:ea typeface="Montserrat" pitchFamily="34" charset="-122"/>
                <a:cs typeface="Montserrat" pitchFamily="34" charset="-120"/>
              </a:rPr>
              <a:t>Podés con todo.</a:t>
            </a:r>
            <a:endParaRPr lang="en-US" sz="2600" dirty="0"/>
          </a:p>
        </p:txBody>
      </p:sp>
      <p:sp>
        <p:nvSpPr>
          <p:cNvPr id="5" name="Frase 2"/>
          <p:cNvSpPr txBox="1"/>
          <p:nvPr/>
        </p:nvSpPr>
        <p:spPr>
          <a:xfrm>
            <a:off x="731520" y="2788920"/>
            <a:ext cx="4114800" cy="914400"/>
          </a:xfrm>
          <a:prstGeom prst="rect">
            <a:avLst/>
          </a:prstGeom>
          <a:noFill/>
          <a:ln/>
        </p:spPr>
        <p:txBody>
          <a:bodyPr wrap="square" lIns="0" tIns="0" rIns="0" bIns="0" rtlCol="0" anchor="t"/>
          <a:lstStyle/>
          <a:p>
            <a:pPr indent="0" marL="0">
              <a:buNone/>
            </a:pPr>
            <a:r>
              <a:rPr lang="en-US" sz="2600" b="1" dirty="0">
                <a:solidFill>
                  <a:schemeClr val="accent1"/>
                </a:solidFill>
                <a:latin typeface="Montserrat" pitchFamily="34" charset="0"/>
                <a:ea typeface="Montserrat" pitchFamily="34" charset="-122"/>
                <a:cs typeface="Montserrat" pitchFamily="34" charset="-120"/>
              </a:rPr>
              <a:t>Pero no con todo al mismo tiempo.</a:t>
            </a:r>
            <a:endParaRPr lang="en-US" sz="2600" dirty="0"/>
          </a:p>
        </p:txBody>
      </p:sp>
      <p:sp>
        <p:nvSpPr>
          <p:cNvPr id="6" name="Primer paso"/>
          <p:cNvSpPr txBox="1"/>
          <p:nvPr/>
        </p:nvSpPr>
        <p:spPr>
          <a:xfrm>
            <a:off x="731520" y="3977640"/>
            <a:ext cx="4114800" cy="1097280"/>
          </a:xfrm>
          <a:prstGeom prst="rect">
            <a:avLst/>
          </a:prstGeom>
          <a:noFill/>
          <a:ln/>
        </p:spPr>
        <p:txBody>
          <a:bodyPr wrap="square" lIns="0" tIns="0" rIns="0" bIns="0" rtlCol="0" anchor="t"/>
          <a:lstStyle/>
          <a:p>
            <a:pPr indent="0" marL="0">
              <a:buNone/>
            </a:pPr>
            <a:r>
              <a:rPr lang="en-US" sz="1800" dirty="0">
                <a:solidFill>
                  <a:schemeClr val="accent3"/>
                </a:solidFill>
              </a:rPr>
              <a:t>El primer paso es el único que depende de vos. Todo lo demás lo hacemos juntos.</a:t>
            </a:r>
            <a:endParaRPr lang="en-US" sz="1800" dirty="0"/>
          </a:p>
        </p:txBody>
      </p:sp>
      <p:sp>
        <p:nvSpPr>
          <p:cNvPr id="7" name="Escalón 1"/>
          <p:cNvSpPr/>
          <p:nvPr/>
        </p:nvSpPr>
        <p:spPr>
          <a:xfrm>
            <a:off x="5074920" y="4160520"/>
            <a:ext cx="2103120" cy="1737360"/>
          </a:xfrm>
          <a:prstGeom prst="roundRect">
            <a:avLst>
              <a:gd name="adj" fmla="val 9474"/>
            </a:avLst>
          </a:prstGeom>
          <a:solidFill>
            <a:schemeClr val="accent1"/>
          </a:solidFill>
          <a:ln w="12700">
            <a:solidFill>
              <a:schemeClr val="accent1"/>
            </a:solidFill>
            <a:prstDash val="solid"/>
          </a:ln>
        </p:spPr>
      </p:sp>
      <p:sp>
        <p:nvSpPr>
          <p:cNvPr id="8" name="Escalón 1 número"/>
          <p:cNvSpPr txBox="1"/>
          <p:nvPr/>
        </p:nvSpPr>
        <p:spPr>
          <a:xfrm>
            <a:off x="5303520" y="4343400"/>
            <a:ext cx="548640" cy="411480"/>
          </a:xfrm>
          <a:prstGeom prst="rect">
            <a:avLst/>
          </a:prstGeom>
          <a:noFill/>
          <a:ln/>
        </p:spPr>
        <p:txBody>
          <a:bodyPr wrap="square" lIns="0" tIns="0" rIns="0" bIns="0" rtlCol="0" anchor="t"/>
          <a:lstStyle/>
          <a:p>
            <a:pPr indent="0" marL="0">
              <a:buNone/>
            </a:pPr>
            <a:r>
              <a:rPr lang="en-US" sz="2400" b="1" dirty="0">
                <a:solidFill>
                  <a:schemeClr val="bg1"/>
                </a:solidFill>
                <a:latin typeface="Montserrat" pitchFamily="34" charset="0"/>
                <a:ea typeface="Montserrat" pitchFamily="34" charset="-122"/>
                <a:cs typeface="Montserrat" pitchFamily="34" charset="-120"/>
              </a:rPr>
              <a:t>1</a:t>
            </a:r>
            <a:endParaRPr lang="en-US" sz="2400" dirty="0"/>
          </a:p>
        </p:txBody>
      </p:sp>
      <p:sp>
        <p:nvSpPr>
          <p:cNvPr id="9" name="Escalón 1 nombre"/>
          <p:cNvSpPr txBox="1"/>
          <p:nvPr/>
        </p:nvSpPr>
        <p:spPr>
          <a:xfrm>
            <a:off x="5303520" y="4754880"/>
            <a:ext cx="1737360" cy="685800"/>
          </a:xfrm>
          <a:prstGeom prst="rect">
            <a:avLst/>
          </a:prstGeom>
          <a:noFill/>
          <a:ln/>
        </p:spPr>
        <p:txBody>
          <a:bodyPr wrap="square" lIns="0" tIns="0" rIns="0" bIns="0" rtlCol="0" anchor="t"/>
          <a:lstStyle/>
          <a:p>
            <a:pPr indent="0" marL="0">
              <a:buNone/>
            </a:pPr>
            <a:r>
              <a:rPr lang="en-US" sz="1600" b="1" dirty="0">
                <a:solidFill>
                  <a:schemeClr val="bg1"/>
                </a:solidFill>
                <a:latin typeface="Montserrat" pitchFamily="34" charset="0"/>
                <a:ea typeface="Montserrat" pitchFamily="34" charset="-122"/>
                <a:cs typeface="Montserrat" pitchFamily="34" charset="-120"/>
              </a:rPr>
              <a:t>Comunidad Productiva</a:t>
            </a:r>
            <a:endParaRPr lang="en-US" sz="1600" dirty="0"/>
          </a:p>
        </p:txBody>
      </p:sp>
      <p:sp>
        <p:nvSpPr>
          <p:cNvPr id="10" name="Escalón 1 detalle"/>
          <p:cNvSpPr txBox="1"/>
          <p:nvPr/>
        </p:nvSpPr>
        <p:spPr>
          <a:xfrm>
            <a:off x="5303520" y="5422392"/>
            <a:ext cx="1737360" cy="365760"/>
          </a:xfrm>
          <a:prstGeom prst="rect">
            <a:avLst/>
          </a:prstGeom>
          <a:noFill/>
          <a:ln/>
        </p:spPr>
        <p:txBody>
          <a:bodyPr wrap="square" lIns="0" tIns="0" rIns="0" bIns="0" rtlCol="0" anchor="t"/>
          <a:lstStyle/>
          <a:p>
            <a:pPr indent="0" marL="0">
              <a:buNone/>
            </a:pPr>
            <a:r>
              <a:rPr lang="en-US" sz="1300" dirty="0">
                <a:solidFill>
                  <a:schemeClr val="bg1"/>
                </a:solidFill>
              </a:rPr>
              <a:t>Las bases</a:t>
            </a:r>
            <a:endParaRPr lang="en-US" sz="1300" dirty="0"/>
          </a:p>
        </p:txBody>
      </p:sp>
      <p:sp>
        <p:nvSpPr>
          <p:cNvPr id="11" name="Hoy"/>
          <p:cNvSpPr/>
          <p:nvPr/>
        </p:nvSpPr>
        <p:spPr>
          <a:xfrm>
            <a:off x="6217920" y="4343400"/>
            <a:ext cx="777240" cy="329184"/>
          </a:xfrm>
          <a:prstGeom prst="roundRect">
            <a:avLst>
              <a:gd name="adj" fmla="val 50000"/>
            </a:avLst>
          </a:prstGeom>
          <a:solidFill>
            <a:schemeClr val="bg1"/>
          </a:solidFill>
          <a:ln w="12700">
            <a:solidFill>
              <a:schemeClr val="bg1"/>
            </a:solidFill>
            <a:prstDash val="solid"/>
          </a:ln>
        </p:spPr>
      </p:sp>
      <p:sp>
        <p:nvSpPr>
          <p:cNvPr id="12" name="Hoy (texto)"/>
          <p:cNvSpPr txBox="1"/>
          <p:nvPr/>
        </p:nvSpPr>
        <p:spPr>
          <a:xfrm>
            <a:off x="6217920" y="4343400"/>
            <a:ext cx="777240" cy="32918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HOY</a:t>
            </a:r>
            <a:endParaRPr lang="en-US" sz="1100" dirty="0"/>
          </a:p>
        </p:txBody>
      </p:sp>
      <p:pic>
        <p:nvPicPr>
          <p:cNvPr id="13" name="Escalón 2 (borroso)" descr="Escalón 2 del Instituto, todavía bloqueado">    </p:cNvPr>
          <p:cNvPicPr>
            <a:picLocks noChangeAspect="1"/>
          </p:cNvPicPr>
          <p:nvPr/>
        </p:nvPicPr>
        <p:blipFill>
          <a:blip r:embed="rId1"/>
          <a:stretch>
            <a:fillRect/>
          </a:stretch>
        </p:blipFill>
        <p:spPr>
          <a:xfrm>
            <a:off x="7059168" y="2926080"/>
            <a:ext cx="2560320" cy="3200400"/>
          </a:xfrm>
          <a:prstGeom prst="rect">
            <a:avLst/>
          </a:prstGeom>
        </p:spPr>
      </p:pic>
      <p:pic>
        <p:nvPicPr>
          <p:cNvPr id="14" name="Escalón 3 (borroso)" descr="Escalón 3 del Instituto, todavía bloqueado">    </p:cNvPr>
          <p:cNvPicPr>
            <a:picLocks noChangeAspect="1"/>
          </p:cNvPicPr>
          <p:nvPr/>
        </p:nvPicPr>
        <p:blipFill>
          <a:blip r:embed="rId2"/>
          <a:stretch>
            <a:fillRect/>
          </a:stretch>
        </p:blipFill>
        <p:spPr>
          <a:xfrm>
            <a:off x="9272016" y="1920240"/>
            <a:ext cx="2560320" cy="4206240"/>
          </a:xfrm>
          <a:prstGeom prst="rect">
            <a:avLst/>
          </a:prstGeom>
        </p:spPr>
      </p:pic>
      <p:sp>
        <p:nvSpPr>
          <p:cNvPr id="15" name="Espacio Mini Nico"/>
          <p:cNvSpPr/>
          <p:nvPr/>
        </p:nvSpPr>
        <p:spPr>
          <a:xfrm>
            <a:off x="5074920" y="2148840"/>
            <a:ext cx="2103120" cy="1874520"/>
          </a:xfrm>
          <a:prstGeom prst="roundRect">
            <a:avLst>
              <a:gd name="adj" fmla="val 8780"/>
            </a:avLst>
          </a:prstGeom>
          <a:solidFill>
            <a:schemeClr val="bg2"/>
          </a:solidFill>
          <a:ln w="19050">
            <a:solidFill>
              <a:schemeClr val="accent3"/>
            </a:solidFill>
            <a:prstDash val="dash"/>
          </a:ln>
        </p:spPr>
      </p:sp>
      <p:sp>
        <p:nvSpPr>
          <p:cNvPr id="16" name="Espacio Mini Nico (texto)"/>
          <p:cNvSpPr txBox="1"/>
          <p:nvPr/>
        </p:nvSpPr>
        <p:spPr>
          <a:xfrm>
            <a:off x="5349240" y="2148840"/>
            <a:ext cx="1554480" cy="1874520"/>
          </a:xfrm>
          <a:prstGeom prst="rect">
            <a:avLst/>
          </a:prstGeom>
          <a:noFill/>
          <a:ln/>
        </p:spPr>
        <p:txBody>
          <a:bodyPr wrap="square" lIns="0" tIns="0" rIns="0" bIns="0" rtlCol="0" anchor="ctr"/>
          <a:lstStyle/>
          <a:p>
            <a:pPr algn="ctr" indent="0" marL="0">
              <a:buNone/>
            </a:pPr>
            <a:r>
              <a:rPr lang="en-US" sz="1300" b="1" spc="200" kern="0" dirty="0">
                <a:solidFill>
                  <a:schemeClr val="accent3"/>
                </a:solidFill>
              </a:rPr>
              <a:t>MINI NICO</a:t>
            </a:r>
            <a:endParaRPr lang="en-US" sz="1300" dirty="0"/>
          </a:p>
          <a:p>
            <a:pPr algn="ctr" indent="0" marL="0">
              <a:buNone/>
            </a:pPr>
            <a:r>
              <a:rPr lang="en-US" sz="1300" b="1" spc="200" kern="0" dirty="0">
                <a:solidFill>
                  <a:schemeClr val="accent3"/>
                </a:solidFill>
              </a:rPr>
              <a:t>subiendo el primer escalón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AHORA YA LO SABÉS</a:t>
            </a:r>
            <a:endParaRPr lang="en-US" sz="1400" dirty="0"/>
          </a:p>
        </p:txBody>
      </p:sp>
      <p:sp>
        <p:nvSpPr>
          <p:cNvPr id="3" name="Text 0"/>
          <p:cNvSpPr/>
          <p:nvPr>
            <p:ph idx="101" type="title" hasCustomPrompt="1"/>
          </p:nvPr>
        </p:nvSpPr>
        <p:spPr>
          <a:xfrm>
            <a:off x="731520" y="1097280"/>
            <a:ext cx="10728655" cy="1371600"/>
          </a:xfrm>
          <a:prstGeom prst="rect">
            <a:avLst/>
          </a:prstGeom>
          <a:noFill/>
          <a:ln/>
        </p:spPr>
        <p:txBody>
          <a:bodyPr wrap="square" lIns="0" tIns="0" rIns="0" bIns="0" rtlCol="0" anchor="t"/>
          <a:lstStyle/>
          <a:p>
            <a:pPr algn="l" indent="0" marL="0">
              <a:buNone/>
            </a:pPr>
            <a:r>
              <a:rPr lang="en-US" sz="4000" b="1" dirty="0">
                <a:solidFill>
                  <a:schemeClr val="bg1"/>
                </a:solidFill>
              </a:rPr>
              <a:t>Hay dos tipos de personas</a:t>
            </a:r>
            <a:endParaRPr lang="en-US" sz="4000" dirty="0"/>
          </a:p>
        </p:txBody>
      </p:sp>
      <p:sp>
        <p:nvSpPr>
          <p:cNvPr id="4" name="Tipo 1"/>
          <p:cNvSpPr/>
          <p:nvPr/>
        </p:nvSpPr>
        <p:spPr>
          <a:xfrm>
            <a:off x="731520" y="2331720"/>
            <a:ext cx="5181448" cy="2651760"/>
          </a:xfrm>
          <a:prstGeom prst="roundRect">
            <a:avLst>
              <a:gd name="adj" fmla="val 6207"/>
            </a:avLst>
          </a:prstGeom>
          <a:solidFill>
            <a:schemeClr val="tx2"/>
          </a:solidFill>
          <a:ln w="12700">
            <a:solidFill>
              <a:schemeClr val="tx2"/>
            </a:solidFill>
            <a:prstDash val="solid"/>
          </a:ln>
        </p:spPr>
      </p:sp>
      <p:sp>
        <p:nvSpPr>
          <p:cNvPr id="5" name="Tipo 1 etiqueta"/>
          <p:cNvSpPr txBox="1"/>
          <p:nvPr/>
        </p:nvSpPr>
        <p:spPr>
          <a:xfrm>
            <a:off x="1143000" y="2743200"/>
            <a:ext cx="4358488" cy="365760"/>
          </a:xfrm>
          <a:prstGeom prst="rect">
            <a:avLst/>
          </a:prstGeom>
          <a:noFill/>
          <a:ln/>
        </p:spPr>
        <p:txBody>
          <a:bodyPr wrap="square" lIns="0" tIns="0" rIns="0" bIns="0" rtlCol="0" anchor="t"/>
          <a:lstStyle/>
          <a:p>
            <a:pPr indent="0" marL="0">
              <a:buNone/>
            </a:pPr>
            <a:r>
              <a:rPr lang="en-US" sz="1400" b="1" spc="300" kern="0" dirty="0">
                <a:solidFill>
                  <a:schemeClr val="accent2"/>
                </a:solidFill>
              </a:rPr>
              <a:t>SOLAS</a:t>
            </a:r>
            <a:endParaRPr lang="en-US" sz="1400" dirty="0"/>
          </a:p>
        </p:txBody>
      </p:sp>
      <p:sp>
        <p:nvSpPr>
          <p:cNvPr id="6" name="Tipo 1 texto"/>
          <p:cNvSpPr txBox="1"/>
          <p:nvPr/>
        </p:nvSpPr>
        <p:spPr>
          <a:xfrm>
            <a:off x="1143000" y="3246120"/>
            <a:ext cx="4358488" cy="1463040"/>
          </a:xfrm>
          <a:prstGeom prst="rect">
            <a:avLst/>
          </a:prstGeom>
          <a:noFill/>
          <a:ln/>
        </p:spPr>
        <p:txBody>
          <a:bodyPr wrap="square" lIns="0" tIns="0" rIns="0" bIns="0" rtlCol="0" anchor="t"/>
          <a:lstStyle/>
          <a:p>
            <a:pPr indent="0" marL="0">
              <a:buNone/>
            </a:pPr>
            <a:r>
              <a:rPr lang="en-US" sz="2400" b="1" dirty="0">
                <a:solidFill>
                  <a:schemeClr val="bg1"/>
                </a:solidFill>
                <a:latin typeface="Montserrat" pitchFamily="34" charset="0"/>
                <a:ea typeface="Montserrat" pitchFamily="34" charset="-122"/>
                <a:cs typeface="Montserrat" pitchFamily="34" charset="-120"/>
              </a:rPr>
              <a:t>Las que agarran estos conceptos y lo intentan solas, como venían haciendo.</a:t>
            </a:r>
            <a:endParaRPr lang="en-US" sz="2400" dirty="0"/>
          </a:p>
        </p:txBody>
      </p:sp>
      <p:sp>
        <p:nvSpPr>
          <p:cNvPr id="7" name="Tipo 2"/>
          <p:cNvSpPr/>
          <p:nvPr/>
        </p:nvSpPr>
        <p:spPr>
          <a:xfrm>
            <a:off x="6278728" y="2331720"/>
            <a:ext cx="5181448" cy="2651760"/>
          </a:xfrm>
          <a:prstGeom prst="roundRect">
            <a:avLst>
              <a:gd name="adj" fmla="val 6207"/>
            </a:avLst>
          </a:prstGeom>
          <a:solidFill>
            <a:schemeClr val="accent1"/>
          </a:solidFill>
          <a:ln w="12700">
            <a:solidFill>
              <a:schemeClr val="accent1"/>
            </a:solidFill>
            <a:prstDash val="solid"/>
          </a:ln>
        </p:spPr>
      </p:sp>
      <p:sp>
        <p:nvSpPr>
          <p:cNvPr id="8" name="Tipo 2 etiqueta"/>
          <p:cNvSpPr txBox="1"/>
          <p:nvPr/>
        </p:nvSpPr>
        <p:spPr>
          <a:xfrm>
            <a:off x="6690208" y="2743200"/>
            <a:ext cx="4358488" cy="365760"/>
          </a:xfrm>
          <a:prstGeom prst="rect">
            <a:avLst/>
          </a:prstGeom>
          <a:noFill/>
          <a:ln/>
        </p:spPr>
        <p:txBody>
          <a:bodyPr wrap="square" lIns="0" tIns="0" rIns="0" bIns="0" rtlCol="0" anchor="t"/>
          <a:lstStyle/>
          <a:p>
            <a:pPr indent="0" marL="0">
              <a:buNone/>
            </a:pPr>
            <a:r>
              <a:rPr lang="en-US" sz="1400" b="1" spc="300" kern="0" dirty="0">
                <a:solidFill>
                  <a:schemeClr val="bg1"/>
                </a:solidFill>
              </a:rPr>
              <a:t>ACOMPAÑADAS</a:t>
            </a:r>
            <a:endParaRPr lang="en-US" sz="1400" dirty="0"/>
          </a:p>
        </p:txBody>
      </p:sp>
      <p:sp>
        <p:nvSpPr>
          <p:cNvPr id="9" name="Tipo 2 texto"/>
          <p:cNvSpPr txBox="1"/>
          <p:nvPr/>
        </p:nvSpPr>
        <p:spPr>
          <a:xfrm>
            <a:off x="6690208" y="3246120"/>
            <a:ext cx="4358488" cy="1463040"/>
          </a:xfrm>
          <a:prstGeom prst="rect">
            <a:avLst/>
          </a:prstGeom>
          <a:noFill/>
          <a:ln/>
        </p:spPr>
        <p:txBody>
          <a:bodyPr wrap="square" lIns="0" tIns="0" rIns="0" bIns="0" rtlCol="0" anchor="t"/>
          <a:lstStyle/>
          <a:p>
            <a:pPr indent="0" marL="0">
              <a:buNone/>
            </a:pPr>
            <a:r>
              <a:rPr lang="en-US" sz="2400" b="1" dirty="0">
                <a:solidFill>
                  <a:schemeClr val="bg1"/>
                </a:solidFill>
                <a:latin typeface="Montserrat" pitchFamily="34" charset="0"/>
                <a:ea typeface="Montserrat" pitchFamily="34" charset="-122"/>
                <a:cs typeface="Montserrat" pitchFamily="34" charset="-120"/>
              </a:rPr>
              <a:t>Las que eligen el camino simple y lo hacen acompañadas.</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365760"/>
          </a:xfrm>
          <a:prstGeom prst="rect">
            <a:avLst/>
          </a:prstGeom>
          <a:noFill/>
          <a:ln/>
        </p:spPr>
        <p:txBody>
          <a:bodyPr wrap="square" lIns="0" tIns="0" rIns="0" bIns="0" rtlCol="0" anchor="ctr"/>
          <a:lstStyle/>
          <a:p>
            <a:pPr algn="ctr" indent="0" marL="0">
              <a:buNone/>
            </a:pPr>
            <a:r>
              <a:rPr lang="en-US" sz="1400" b="1" spc="300" kern="0" dirty="0">
                <a:solidFill>
                  <a:schemeClr val="accent1"/>
                </a:solidFill>
              </a:rPr>
              <a:t>PARA ORGANIZARTE Y CONCENTRARTE</a:t>
            </a:r>
            <a:endParaRPr lang="en-US" sz="1400" dirty="0"/>
          </a:p>
        </p:txBody>
      </p:sp>
      <p:sp>
        <p:nvSpPr>
          <p:cNvPr id="3" name="Text 0"/>
          <p:cNvSpPr/>
          <p:nvPr>
            <p:ph idx="101" type="title" hasCustomPrompt="1"/>
          </p:nvPr>
        </p:nvSpPr>
        <p:spPr>
          <a:xfrm>
            <a:off x="1280160" y="1828800"/>
            <a:ext cx="9631375" cy="2331720"/>
          </a:xfrm>
          <a:prstGeom prst="rect">
            <a:avLst/>
          </a:prstGeom>
          <a:noFill/>
          <a:ln/>
        </p:spPr>
        <p:txBody>
          <a:bodyPr wrap="square" lIns="0" tIns="0" rIns="0" bIns="0" rtlCol="0" anchor="ctr"/>
          <a:lstStyle/>
          <a:p>
            <a:pPr algn="ctr" indent="0" marL="0">
              <a:buNone/>
            </a:pPr>
            <a:r>
              <a:rPr lang="en-US" sz="4800" b="1" dirty="0">
                <a:solidFill>
                  <a:schemeClr val="bg1"/>
                </a:solidFill>
              </a:rPr>
              <a:t>¿Querés que te muestre el único paso concreto que podés dar hoy?</a:t>
            </a:r>
            <a:endParaRPr lang="en-US" sz="4800" dirty="0"/>
          </a:p>
        </p:txBody>
      </p:sp>
      <p:sp>
        <p:nvSpPr>
          <p:cNvPr id="4" name="Pedido al chat"/>
          <p:cNvSpPr/>
          <p:nvPr/>
        </p:nvSpPr>
        <p:spPr>
          <a:xfrm>
            <a:off x="3901288" y="4526280"/>
            <a:ext cx="4389120" cy="685800"/>
          </a:xfrm>
          <a:prstGeom prst="roundRect">
            <a:avLst>
              <a:gd name="adj" fmla="val 50000"/>
            </a:avLst>
          </a:prstGeom>
          <a:solidFill>
            <a:schemeClr val="accent1"/>
          </a:solidFill>
          <a:ln w="12700">
            <a:solidFill>
              <a:schemeClr val="accent1"/>
            </a:solidFill>
            <a:prstDash val="solid"/>
          </a:ln>
        </p:spPr>
      </p:sp>
      <p:sp>
        <p:nvSpPr>
          <p:cNvPr id="5" name="Pedido al chat (texto)"/>
          <p:cNvSpPr txBox="1"/>
          <p:nvPr/>
        </p:nvSpPr>
        <p:spPr>
          <a:xfrm>
            <a:off x="3901288" y="4526280"/>
            <a:ext cx="4389120" cy="685800"/>
          </a:xfrm>
          <a:prstGeom prst="rect">
            <a:avLst/>
          </a:prstGeom>
          <a:noFill/>
          <a:ln/>
        </p:spPr>
        <p:txBody>
          <a:bodyPr wrap="square" lIns="0" tIns="0" rIns="0" bIns="0" rtlCol="0" anchor="ctr"/>
          <a:lstStyle/>
          <a:p>
            <a:pPr algn="ctr" indent="0" marL="0">
              <a:buNone/>
            </a:pPr>
            <a:r>
              <a:rPr lang="en-US" sz="1800" b="1" spc="200" kern="0" dirty="0">
                <a:solidFill>
                  <a:schemeClr val="bg1"/>
                </a:solidFill>
              </a:rPr>
              <a:t>ESCRIBÍ SÍ EN EL CHAT</a:t>
            </a:r>
            <a:endParaRPr lang="en-US" sz="1800" dirty="0"/>
          </a:p>
        </p:txBody>
      </p:sp>
      <p:sp>
        <p:nvSpPr>
          <p:cNvPr id="7" name="Text 0"/>
          <p:cNvSpPr/>
          <p:nvPr>
            <p:ph idx="102" type="body" hasCustomPrompt="1"/>
          </p:nvPr>
        </p:nvSpPr>
        <p:spPr>
          <a:xfrm>
            <a:off x="1645920" y="4297680"/>
            <a:ext cx="8899855" cy="822960"/>
          </a:xfrm>
          <a:prstGeom prst="rect">
            <a:avLst/>
          </a:prstGeom>
          <a:noFill/>
          <a:ln/>
        </p:spPr>
        <p:txBody>
          <a:bodyPr wrap="square" lIns="0" tIns="0" rIns="0" bIns="0" rtlCol="0" anchor="t"/>
          <a:lstStyle/>
          <a:p>
            <a:pPr algn="ctr" indent="0" marL="0">
              <a:buNone/>
            </a:pP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Logo" descr="Instituto de Productividad">    </p:cNvPr>
          <p:cNvPicPr>
            <a:picLocks noChangeAspect="1"/>
          </p:cNvPicPr>
          <p:nvPr/>
        </p:nvPicPr>
        <p:blipFill>
          <a:blip r:embed="rId1"/>
          <a:stretch>
            <a:fillRect/>
          </a:stretch>
        </p:blipFill>
        <p:spPr>
          <a:xfrm>
            <a:off x="4449928" y="1143000"/>
            <a:ext cx="3291840" cy="669816"/>
          </a:xfrm>
          <a:prstGeom prst="rect">
            <a:avLst/>
          </a:prstGeom>
        </p:spPr>
      </p:pic>
      <p:sp>
        <p:nvSpPr>
          <p:cNvPr id="3" name="Kicker"/>
          <p:cNvSpPr txBox="1"/>
          <p:nvPr/>
        </p:nvSpPr>
        <p:spPr>
          <a:xfrm>
            <a:off x="731520" y="2286000"/>
            <a:ext cx="10728655" cy="365760"/>
          </a:xfrm>
          <a:prstGeom prst="rect">
            <a:avLst/>
          </a:prstGeom>
          <a:noFill/>
          <a:ln/>
        </p:spPr>
        <p:txBody>
          <a:bodyPr wrap="square" lIns="0" tIns="0" rIns="0" bIns="0" rtlCol="0" anchor="t"/>
          <a:lstStyle/>
          <a:p>
            <a:pPr algn="ctr" indent="0" marL="0">
              <a:buNone/>
            </a:pPr>
            <a:r>
              <a:rPr lang="en-US" sz="1500" b="1" spc="300" kern="0" dirty="0">
                <a:solidFill>
                  <a:schemeClr val="accent1"/>
                </a:solidFill>
              </a:rPr>
              <a:t>EL PRIMER ESCALÓN DEL INSTITUTO</a:t>
            </a:r>
            <a:endParaRPr lang="en-US" sz="1500" dirty="0"/>
          </a:p>
        </p:txBody>
      </p:sp>
      <p:sp>
        <p:nvSpPr>
          <p:cNvPr id="4" name="Nombre"/>
          <p:cNvSpPr txBox="1"/>
          <p:nvPr/>
        </p:nvSpPr>
        <p:spPr>
          <a:xfrm>
            <a:off x="731520" y="2743200"/>
            <a:ext cx="10728655" cy="1097280"/>
          </a:xfrm>
          <a:prstGeom prst="rect">
            <a:avLst/>
          </a:prstGeom>
          <a:noFill/>
          <a:ln/>
        </p:spPr>
        <p:txBody>
          <a:bodyPr wrap="square" lIns="0" tIns="0" rIns="0" bIns="0" rtlCol="0" anchor="ctr"/>
          <a:lstStyle/>
          <a:p>
            <a:pPr algn="ctr" indent="0" marL="0">
              <a:buNone/>
            </a:pPr>
            <a:r>
              <a:rPr lang="en-US" sz="6000" b="1" dirty="0">
                <a:solidFill>
                  <a:schemeClr val="bg1"/>
                </a:solidFill>
                <a:latin typeface="Montserrat" pitchFamily="34" charset="0"/>
                <a:ea typeface="Montserrat" pitchFamily="34" charset="-122"/>
                <a:cs typeface="Montserrat" pitchFamily="34" charset="-120"/>
              </a:rPr>
              <a:t>Comunidad Productiva</a:t>
            </a:r>
            <a:endParaRPr lang="en-US" sz="6000" dirty="0"/>
          </a:p>
        </p:txBody>
      </p:sp>
      <p:sp>
        <p:nvSpPr>
          <p:cNvPr id="5" name="Tagline"/>
          <p:cNvSpPr txBox="1"/>
          <p:nvPr/>
        </p:nvSpPr>
        <p:spPr>
          <a:xfrm>
            <a:off x="731520" y="3931920"/>
            <a:ext cx="10728655" cy="548640"/>
          </a:xfrm>
          <a:prstGeom prst="rect">
            <a:avLst/>
          </a:prstGeom>
          <a:noFill/>
          <a:ln/>
        </p:spPr>
        <p:txBody>
          <a:bodyPr wrap="square" lIns="0" tIns="0" rIns="0" bIns="0" rtlCol="0" anchor="t"/>
          <a:lstStyle/>
          <a:p>
            <a:pPr algn="ctr" indent="0" marL="0">
              <a:buNone/>
            </a:pPr>
            <a:r>
              <a:rPr lang="en-US" sz="2600" i="1" dirty="0">
                <a:solidFill>
                  <a:schemeClr val="accent1"/>
                </a:solidFill>
              </a:rPr>
              <a:t>Avanzá sin dejar la vida en el intento.</a:t>
            </a:r>
            <a:endParaRPr lang="en-US" sz="2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LO PRIMERO QUE NECESITÁS</a:t>
            </a:r>
            <a:endParaRPr lang="en-US" sz="1400" dirty="0"/>
          </a:p>
        </p:txBody>
      </p:sp>
      <p:sp>
        <p:nvSpPr>
          <p:cNvPr id="3" name="Text 0"/>
          <p:cNvSpPr/>
          <p:nvPr>
            <p:ph idx="101" type="title" hasCustomPrompt="1"/>
          </p:nvPr>
        </p:nvSpPr>
        <p:spPr>
          <a:xfrm>
            <a:off x="731520" y="1097280"/>
            <a:ext cx="10728655" cy="1005840"/>
          </a:xfrm>
          <a:prstGeom prst="rect">
            <a:avLst/>
          </a:prstGeom>
          <a:noFill/>
          <a:ln/>
        </p:spPr>
        <p:txBody>
          <a:bodyPr wrap="square" lIns="0" tIns="0" rIns="0" bIns="0" rtlCol="0" anchor="t"/>
          <a:lstStyle/>
          <a:p>
            <a:pPr algn="l" indent="0" marL="0">
              <a:buNone/>
            </a:pPr>
            <a:r>
              <a:rPr lang="en-US" sz="4000" b="1" dirty="0">
                <a:solidFill>
                  <a:schemeClr val="tx1"/>
                </a:solidFill>
              </a:rPr>
              <a:t>Los 3 pilares del primer paso</a:t>
            </a:r>
            <a:endParaRPr lang="en-US" sz="4000" dirty="0"/>
          </a:p>
        </p:txBody>
      </p:sp>
      <p:sp>
        <p:nvSpPr>
          <p:cNvPr id="4" name="Pilar 1"/>
          <p:cNvSpPr/>
          <p:nvPr/>
        </p:nvSpPr>
        <p:spPr>
          <a:xfrm>
            <a:off x="731520" y="2103120"/>
            <a:ext cx="3362858" cy="2971800"/>
          </a:xfrm>
          <a:prstGeom prst="roundRect">
            <a:avLst>
              <a:gd name="adj" fmla="val 5538"/>
            </a:avLst>
          </a:prstGeom>
          <a:solidFill>
            <a:schemeClr val="bg2"/>
          </a:solidFill>
          <a:ln w="12700">
            <a:solidFill>
              <a:schemeClr val="bg2"/>
            </a:solidFill>
            <a:prstDash val="solid"/>
          </a:ln>
        </p:spPr>
      </p:sp>
      <p:sp>
        <p:nvSpPr>
          <p:cNvPr id="5" name="Pilar 1 círculo"/>
          <p:cNvSpPr/>
          <p:nvPr/>
        </p:nvSpPr>
        <p:spPr>
          <a:xfrm>
            <a:off x="1051560" y="2395728"/>
            <a:ext cx="457200" cy="457200"/>
          </a:xfrm>
          <a:prstGeom prst="ellipse">
            <a:avLst/>
          </a:prstGeom>
          <a:solidFill>
            <a:schemeClr val="accent1"/>
          </a:solidFill>
          <a:ln w="12700">
            <a:solidFill>
              <a:schemeClr val="accent1"/>
            </a:solidFill>
            <a:prstDash val="solid"/>
          </a:ln>
        </p:spPr>
      </p:sp>
      <p:sp>
        <p:nvSpPr>
          <p:cNvPr id="6" name="Pilar 1 número"/>
          <p:cNvSpPr txBox="1"/>
          <p:nvPr/>
        </p:nvSpPr>
        <p:spPr>
          <a:xfrm>
            <a:off x="1051560" y="23957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Montserrat" pitchFamily="34" charset="0"/>
                <a:ea typeface="Montserrat" pitchFamily="34" charset="-122"/>
                <a:cs typeface="Montserrat" pitchFamily="34" charset="-120"/>
              </a:rPr>
              <a:t>1</a:t>
            </a:r>
            <a:endParaRPr lang="en-US" sz="1600" dirty="0"/>
          </a:p>
        </p:txBody>
      </p:sp>
      <p:sp>
        <p:nvSpPr>
          <p:cNvPr id="7" name="Pilar 1 nombre"/>
          <p:cNvSpPr txBox="1"/>
          <p:nvPr/>
        </p:nvSpPr>
        <p:spPr>
          <a:xfrm>
            <a:off x="1645920" y="2395728"/>
            <a:ext cx="2174138" cy="457200"/>
          </a:xfrm>
          <a:prstGeom prst="rect">
            <a:avLst/>
          </a:prstGeom>
          <a:noFill/>
          <a:ln/>
        </p:spPr>
        <p:txBody>
          <a:bodyPr wrap="square" lIns="0" tIns="0" rIns="0" bIns="0" rtlCol="0" anchor="ctr"/>
          <a:lstStyle/>
          <a:p>
            <a:pPr indent="0" marL="0">
              <a:buNone/>
            </a:pPr>
            <a:r>
              <a:rPr lang="en-US" sz="1400" b="1" spc="200" kern="0" dirty="0">
                <a:solidFill>
                  <a:schemeClr val="accent1"/>
                </a:solidFill>
              </a:rPr>
              <a:t>LAS BASES</a:t>
            </a:r>
            <a:endParaRPr lang="en-US" sz="1400" dirty="0"/>
          </a:p>
        </p:txBody>
      </p:sp>
      <p:sp>
        <p:nvSpPr>
          <p:cNvPr id="8" name="Pilar 1 qué"/>
          <p:cNvSpPr txBox="1"/>
          <p:nvPr/>
        </p:nvSpPr>
        <p:spPr>
          <a:xfrm>
            <a:off x="1051560" y="3063240"/>
            <a:ext cx="2722778" cy="1097280"/>
          </a:xfrm>
          <a:prstGeom prst="rect">
            <a:avLst/>
          </a:prstGeom>
          <a:noFill/>
          <a:ln/>
        </p:spPr>
        <p:txBody>
          <a:bodyPr wrap="square" lIns="0" tIns="0" rIns="0" bIns="0" rtlCol="0" anchor="t"/>
          <a:lstStyle/>
          <a:p>
            <a:pPr indent="0" marL="0">
              <a:buNone/>
            </a:pPr>
            <a:r>
              <a:rPr lang="en-US" sz="1900" b="1" dirty="0">
                <a:solidFill>
                  <a:schemeClr val="tx1"/>
                </a:solidFill>
                <a:latin typeface="Montserrat" pitchFamily="34" charset="0"/>
                <a:ea typeface="Montserrat" pitchFamily="34" charset="-122"/>
                <a:cs typeface="Montserrat" pitchFamily="34" charset="-120"/>
              </a:rPr>
              <a:t>El conocimiento de cómo funciona tu cerebro, destilado</a:t>
            </a:r>
            <a:endParaRPr lang="en-US" sz="1900" dirty="0"/>
          </a:p>
        </p:txBody>
      </p:sp>
      <p:sp>
        <p:nvSpPr>
          <p:cNvPr id="9" name="Pilar 1 para qué"/>
          <p:cNvSpPr txBox="1"/>
          <p:nvPr/>
        </p:nvSpPr>
        <p:spPr>
          <a:xfrm>
            <a:off x="1051560" y="4206240"/>
            <a:ext cx="2722778" cy="731520"/>
          </a:xfrm>
          <a:prstGeom prst="rect">
            <a:avLst/>
          </a:prstGeom>
          <a:noFill/>
          <a:ln/>
        </p:spPr>
        <p:txBody>
          <a:bodyPr wrap="square" lIns="0" tIns="0" rIns="0" bIns="0" rtlCol="0" anchor="t"/>
          <a:lstStyle/>
          <a:p>
            <a:pPr indent="0" marL="0">
              <a:buNone/>
            </a:pPr>
            <a:r>
              <a:rPr lang="en-US" sz="1600" dirty="0">
                <a:solidFill>
                  <a:schemeClr val="accent3"/>
                </a:solidFill>
              </a:rPr>
              <a:t>Para dejar de pelearte con tu cerebro y entender por qué procrastinás.</a:t>
            </a:r>
            <a:endParaRPr lang="en-US" sz="1600" dirty="0"/>
          </a:p>
        </p:txBody>
      </p:sp>
      <p:sp>
        <p:nvSpPr>
          <p:cNvPr id="10" name="Pilar 2"/>
          <p:cNvSpPr/>
          <p:nvPr/>
        </p:nvSpPr>
        <p:spPr>
          <a:xfrm>
            <a:off x="4414418" y="2103120"/>
            <a:ext cx="3362858" cy="2971800"/>
          </a:xfrm>
          <a:prstGeom prst="roundRect">
            <a:avLst>
              <a:gd name="adj" fmla="val 5538"/>
            </a:avLst>
          </a:prstGeom>
          <a:solidFill>
            <a:schemeClr val="bg2"/>
          </a:solidFill>
          <a:ln w="12700">
            <a:solidFill>
              <a:schemeClr val="bg2"/>
            </a:solidFill>
            <a:prstDash val="solid"/>
          </a:ln>
        </p:spPr>
      </p:sp>
      <p:sp>
        <p:nvSpPr>
          <p:cNvPr id="11" name="Pilar 2 círculo"/>
          <p:cNvSpPr/>
          <p:nvPr/>
        </p:nvSpPr>
        <p:spPr>
          <a:xfrm>
            <a:off x="4734458" y="2395728"/>
            <a:ext cx="457200" cy="457200"/>
          </a:xfrm>
          <a:prstGeom prst="ellipse">
            <a:avLst/>
          </a:prstGeom>
          <a:solidFill>
            <a:schemeClr val="accent1"/>
          </a:solidFill>
          <a:ln w="12700">
            <a:solidFill>
              <a:schemeClr val="accent1"/>
            </a:solidFill>
            <a:prstDash val="solid"/>
          </a:ln>
        </p:spPr>
      </p:sp>
      <p:sp>
        <p:nvSpPr>
          <p:cNvPr id="12" name="Pilar 2 número"/>
          <p:cNvSpPr txBox="1"/>
          <p:nvPr/>
        </p:nvSpPr>
        <p:spPr>
          <a:xfrm>
            <a:off x="4734458" y="23957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Montserrat" pitchFamily="34" charset="0"/>
                <a:ea typeface="Montserrat" pitchFamily="34" charset="-122"/>
                <a:cs typeface="Montserrat" pitchFamily="34" charset="-120"/>
              </a:rPr>
              <a:t>2</a:t>
            </a:r>
            <a:endParaRPr lang="en-US" sz="1600" dirty="0"/>
          </a:p>
        </p:txBody>
      </p:sp>
      <p:sp>
        <p:nvSpPr>
          <p:cNvPr id="13" name="Pilar 2 nombre"/>
          <p:cNvSpPr txBox="1"/>
          <p:nvPr/>
        </p:nvSpPr>
        <p:spPr>
          <a:xfrm>
            <a:off x="5328818" y="2395728"/>
            <a:ext cx="2174138" cy="457200"/>
          </a:xfrm>
          <a:prstGeom prst="rect">
            <a:avLst/>
          </a:prstGeom>
          <a:noFill/>
          <a:ln/>
        </p:spPr>
        <p:txBody>
          <a:bodyPr wrap="square" lIns="0" tIns="0" rIns="0" bIns="0" rtlCol="0" anchor="ctr"/>
          <a:lstStyle/>
          <a:p>
            <a:pPr indent="0" marL="0">
              <a:buNone/>
            </a:pPr>
            <a:r>
              <a:rPr lang="en-US" sz="1400" b="1" spc="200" kern="0" dirty="0">
                <a:solidFill>
                  <a:schemeClr val="accent1"/>
                </a:solidFill>
              </a:rPr>
              <a:t>LA PLANIFICACIÓN</a:t>
            </a:r>
            <a:endParaRPr lang="en-US" sz="1400" dirty="0"/>
          </a:p>
        </p:txBody>
      </p:sp>
      <p:sp>
        <p:nvSpPr>
          <p:cNvPr id="14" name="Pilar 2 qué"/>
          <p:cNvSpPr txBox="1"/>
          <p:nvPr/>
        </p:nvSpPr>
        <p:spPr>
          <a:xfrm>
            <a:off x="4734458" y="3063240"/>
            <a:ext cx="2722778" cy="1097280"/>
          </a:xfrm>
          <a:prstGeom prst="rect">
            <a:avLst/>
          </a:prstGeom>
          <a:noFill/>
          <a:ln/>
        </p:spPr>
        <p:txBody>
          <a:bodyPr wrap="square" lIns="0" tIns="0" rIns="0" bIns="0" rtlCol="0" anchor="t"/>
          <a:lstStyle/>
          <a:p>
            <a:pPr indent="0" marL="0">
              <a:buNone/>
            </a:pPr>
            <a:r>
              <a:rPr lang="en-US" sz="1900" b="1" dirty="0">
                <a:solidFill>
                  <a:schemeClr val="tx1"/>
                </a:solidFill>
                <a:latin typeface="Montserrat" pitchFamily="34" charset="0"/>
                <a:ea typeface="Montserrat" pitchFamily="34" charset="-122"/>
                <a:cs typeface="Montserrat" pitchFamily="34" charset="-120"/>
              </a:rPr>
              <a:t>Los sábados a la mañana, en vivo, planificás tu semana</a:t>
            </a:r>
            <a:endParaRPr lang="en-US" sz="1900" dirty="0"/>
          </a:p>
        </p:txBody>
      </p:sp>
      <p:sp>
        <p:nvSpPr>
          <p:cNvPr id="15" name="Pilar 2 para qué"/>
          <p:cNvSpPr txBox="1"/>
          <p:nvPr/>
        </p:nvSpPr>
        <p:spPr>
          <a:xfrm>
            <a:off x="4734458" y="4206240"/>
            <a:ext cx="2722778" cy="731520"/>
          </a:xfrm>
          <a:prstGeom prst="rect">
            <a:avLst/>
          </a:prstGeom>
          <a:noFill/>
          <a:ln/>
        </p:spPr>
        <p:txBody>
          <a:bodyPr wrap="square" lIns="0" tIns="0" rIns="0" bIns="0" rtlCol="0" anchor="t"/>
          <a:lstStyle/>
          <a:p>
            <a:pPr indent="0" marL="0">
              <a:buNone/>
            </a:pPr>
            <a:r>
              <a:rPr lang="en-US" sz="1600" dirty="0">
                <a:solidFill>
                  <a:schemeClr val="accent3"/>
                </a:solidFill>
              </a:rPr>
              <a:t>Para arrancar el lunes sabiendo qué hacer y que tus cosas tengan lugar.</a:t>
            </a:r>
            <a:endParaRPr lang="en-US" sz="1600" dirty="0"/>
          </a:p>
        </p:txBody>
      </p:sp>
      <p:sp>
        <p:nvSpPr>
          <p:cNvPr id="16" name="Pilar 3"/>
          <p:cNvSpPr/>
          <p:nvPr/>
        </p:nvSpPr>
        <p:spPr>
          <a:xfrm>
            <a:off x="8097317" y="2103120"/>
            <a:ext cx="3362858" cy="2971800"/>
          </a:xfrm>
          <a:prstGeom prst="roundRect">
            <a:avLst>
              <a:gd name="adj" fmla="val 5538"/>
            </a:avLst>
          </a:prstGeom>
          <a:solidFill>
            <a:schemeClr val="bg2"/>
          </a:solidFill>
          <a:ln w="12700">
            <a:solidFill>
              <a:schemeClr val="bg2"/>
            </a:solidFill>
            <a:prstDash val="solid"/>
          </a:ln>
        </p:spPr>
      </p:sp>
      <p:sp>
        <p:nvSpPr>
          <p:cNvPr id="17" name="Pilar 3 círculo"/>
          <p:cNvSpPr/>
          <p:nvPr/>
        </p:nvSpPr>
        <p:spPr>
          <a:xfrm>
            <a:off x="8417357" y="2395728"/>
            <a:ext cx="457200" cy="457200"/>
          </a:xfrm>
          <a:prstGeom prst="ellipse">
            <a:avLst/>
          </a:prstGeom>
          <a:solidFill>
            <a:schemeClr val="accent1"/>
          </a:solidFill>
          <a:ln w="12700">
            <a:solidFill>
              <a:schemeClr val="accent1"/>
            </a:solidFill>
            <a:prstDash val="solid"/>
          </a:ln>
        </p:spPr>
      </p:sp>
      <p:sp>
        <p:nvSpPr>
          <p:cNvPr id="18" name="Pilar 3 número"/>
          <p:cNvSpPr txBox="1"/>
          <p:nvPr/>
        </p:nvSpPr>
        <p:spPr>
          <a:xfrm>
            <a:off x="8417357" y="23957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Montserrat" pitchFamily="34" charset="0"/>
                <a:ea typeface="Montserrat" pitchFamily="34" charset="-122"/>
                <a:cs typeface="Montserrat" pitchFamily="34" charset="-120"/>
              </a:rPr>
              <a:t>3</a:t>
            </a:r>
            <a:endParaRPr lang="en-US" sz="1600" dirty="0"/>
          </a:p>
        </p:txBody>
      </p:sp>
      <p:sp>
        <p:nvSpPr>
          <p:cNvPr id="19" name="Pilar 3 nombre"/>
          <p:cNvSpPr txBox="1"/>
          <p:nvPr/>
        </p:nvSpPr>
        <p:spPr>
          <a:xfrm>
            <a:off x="9011717" y="2395728"/>
            <a:ext cx="2174138" cy="457200"/>
          </a:xfrm>
          <a:prstGeom prst="rect">
            <a:avLst/>
          </a:prstGeom>
          <a:noFill/>
          <a:ln/>
        </p:spPr>
        <p:txBody>
          <a:bodyPr wrap="square" lIns="0" tIns="0" rIns="0" bIns="0" rtlCol="0" anchor="ctr"/>
          <a:lstStyle/>
          <a:p>
            <a:pPr indent="0" marL="0">
              <a:buNone/>
            </a:pPr>
            <a:r>
              <a:rPr lang="en-US" sz="1400" b="1" spc="200" kern="0" dirty="0">
                <a:solidFill>
                  <a:schemeClr val="accent1"/>
                </a:solidFill>
              </a:rPr>
              <a:t>EL CO-WORK</a:t>
            </a:r>
            <a:endParaRPr lang="en-US" sz="1400" dirty="0"/>
          </a:p>
        </p:txBody>
      </p:sp>
      <p:sp>
        <p:nvSpPr>
          <p:cNvPr id="20" name="Pilar 3 qué"/>
          <p:cNvSpPr txBox="1"/>
          <p:nvPr/>
        </p:nvSpPr>
        <p:spPr>
          <a:xfrm>
            <a:off x="8417357" y="3063240"/>
            <a:ext cx="2722778" cy="1097280"/>
          </a:xfrm>
          <a:prstGeom prst="rect">
            <a:avLst/>
          </a:prstGeom>
          <a:noFill/>
          <a:ln/>
        </p:spPr>
        <p:txBody>
          <a:bodyPr wrap="square" lIns="0" tIns="0" rIns="0" bIns="0" rtlCol="0" anchor="t"/>
          <a:lstStyle/>
          <a:p>
            <a:pPr indent="0" marL="0">
              <a:buNone/>
            </a:pPr>
            <a:r>
              <a:rPr lang="en-US" sz="1900" b="1" dirty="0">
                <a:solidFill>
                  <a:schemeClr val="tx1"/>
                </a:solidFill>
                <a:latin typeface="Montserrat" pitchFamily="34" charset="0"/>
                <a:ea typeface="Montserrat" pitchFamily="34" charset="-122"/>
                <a:cs typeface="Montserrat" pitchFamily="34" charset="-120"/>
              </a:rPr>
              <a:t>Bloques de foco en vivo, de lunes a viernes</a:t>
            </a:r>
            <a:endParaRPr lang="en-US" sz="1900" dirty="0"/>
          </a:p>
        </p:txBody>
      </p:sp>
      <p:sp>
        <p:nvSpPr>
          <p:cNvPr id="21" name="Pilar 3 para qué"/>
          <p:cNvSpPr txBox="1"/>
          <p:nvPr/>
        </p:nvSpPr>
        <p:spPr>
          <a:xfrm>
            <a:off x="8417357" y="4206240"/>
            <a:ext cx="2722778" cy="731520"/>
          </a:xfrm>
          <a:prstGeom prst="rect">
            <a:avLst/>
          </a:prstGeom>
          <a:noFill/>
          <a:ln/>
        </p:spPr>
        <p:txBody>
          <a:bodyPr wrap="square" lIns="0" tIns="0" rIns="0" bIns="0" rtlCol="0" anchor="t"/>
          <a:lstStyle/>
          <a:p>
            <a:pPr indent="0" marL="0">
              <a:buNone/>
            </a:pPr>
            <a:r>
              <a:rPr lang="en-US" sz="1600" dirty="0">
                <a:solidFill>
                  <a:schemeClr val="accent3"/>
                </a:solidFill>
              </a:rPr>
              <a:t>Para hacer lo que venías postergando, al lado de gente en la misma.</a:t>
            </a:r>
            <a:endParaRPr lang="en-US" sz="1600" dirty="0"/>
          </a:p>
        </p:txBody>
      </p:sp>
      <p:sp>
        <p:nvSpPr>
          <p:cNvPr id="22" name="La regla"/>
          <p:cNvSpPr/>
          <p:nvPr/>
        </p:nvSpPr>
        <p:spPr>
          <a:xfrm>
            <a:off x="731520" y="5349240"/>
            <a:ext cx="7040880" cy="566928"/>
          </a:xfrm>
          <a:prstGeom prst="roundRect">
            <a:avLst>
              <a:gd name="adj" fmla="val 50000"/>
            </a:avLst>
          </a:prstGeom>
          <a:solidFill>
            <a:schemeClr val="tx1"/>
          </a:solidFill>
          <a:ln w="12700">
            <a:solidFill>
              <a:schemeClr val="tx1"/>
            </a:solidFill>
            <a:prstDash val="solid"/>
          </a:ln>
        </p:spPr>
      </p:sp>
      <p:sp>
        <p:nvSpPr>
          <p:cNvPr id="23" name="La regla (texto)"/>
          <p:cNvSpPr txBox="1"/>
          <p:nvPr/>
        </p:nvSpPr>
        <p:spPr>
          <a:xfrm>
            <a:off x="731520" y="5349240"/>
            <a:ext cx="7040880" cy="566928"/>
          </a:xfrm>
          <a:prstGeom prst="rect">
            <a:avLst/>
          </a:prstGeom>
          <a:noFill/>
          <a:ln/>
        </p:spPr>
        <p:txBody>
          <a:bodyPr wrap="square" lIns="0" tIns="0" rIns="0" bIns="0" rtlCol="0" anchor="ctr"/>
          <a:lstStyle/>
          <a:p>
            <a:pPr algn="ctr" indent="0" marL="0">
              <a:buNone/>
            </a:pPr>
            <a:r>
              <a:rPr lang="en-US" sz="1400" b="1" spc="200" kern="0" dirty="0">
                <a:solidFill>
                  <a:schemeClr val="bg1"/>
                </a:solidFill>
              </a:rPr>
              <a:t>LA REGLA: PODÉS DESAPARECER UNA SEMANA. DOS, NO.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411480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ASÍ SE VE POR DENTRO</a:t>
            </a:r>
            <a:endParaRPr lang="en-US" sz="1400" dirty="0"/>
          </a:p>
        </p:txBody>
      </p:sp>
      <p:sp>
        <p:nvSpPr>
          <p:cNvPr id="3" name="Text 0"/>
          <p:cNvSpPr/>
          <p:nvPr>
            <p:ph idx="101" type="title" hasCustomPrompt="1"/>
          </p:nvPr>
        </p:nvSpPr>
        <p:spPr>
          <a:xfrm>
            <a:off x="731520" y="1097280"/>
            <a:ext cx="4114800" cy="2743200"/>
          </a:xfrm>
          <a:prstGeom prst="rect">
            <a:avLst/>
          </a:prstGeom>
          <a:noFill/>
          <a:ln/>
        </p:spPr>
        <p:txBody>
          <a:bodyPr wrap="square" lIns="0" tIns="0" rIns="0" bIns="0" rtlCol="0" anchor="t"/>
          <a:lstStyle/>
          <a:p>
            <a:pPr algn="l" indent="0" marL="0">
              <a:buNone/>
            </a:pPr>
            <a:r>
              <a:rPr lang="en-US" sz="3600" b="1" dirty="0">
                <a:solidFill>
                  <a:schemeClr val="bg1"/>
                </a:solidFill>
              </a:rPr>
              <a:t>Son las 9 y un grupo prende la cámara</a:t>
            </a:r>
            <a:endParaRPr lang="en-US" sz="3600" dirty="0"/>
          </a:p>
        </p:txBody>
      </p:sp>
      <p:sp>
        <p:nvSpPr>
          <p:cNvPr id="4" name="Texto"/>
          <p:cNvSpPr txBox="1"/>
          <p:nvPr/>
        </p:nvSpPr>
        <p:spPr>
          <a:xfrm>
            <a:off x="731520" y="3429000"/>
            <a:ext cx="4114800" cy="1280160"/>
          </a:xfrm>
          <a:prstGeom prst="rect">
            <a:avLst/>
          </a:prstGeom>
          <a:noFill/>
          <a:ln/>
        </p:spPr>
        <p:txBody>
          <a:bodyPr wrap="square" lIns="0" tIns="0" rIns="0" bIns="0" rtlCol="0" anchor="t"/>
          <a:lstStyle/>
          <a:p>
            <a:pPr indent="0" marL="0">
              <a:buNone/>
            </a:pPr>
            <a:r>
              <a:rPr lang="en-US" sz="2000" dirty="0">
                <a:solidFill>
                  <a:schemeClr val="accent2"/>
                </a:solidFill>
              </a:rPr>
              <a:t>Para hacer lo que venía postergando, al lado de otros que están en lo mismo.</a:t>
            </a:r>
            <a:endParaRPr lang="en-US" sz="2000" dirty="0"/>
          </a:p>
        </p:txBody>
      </p:sp>
      <p:sp>
        <p:nvSpPr>
          <p:cNvPr id="5" name="Espacio captura co-work"/>
          <p:cNvSpPr/>
          <p:nvPr/>
        </p:nvSpPr>
        <p:spPr>
          <a:xfrm>
            <a:off x="5440680" y="685800"/>
            <a:ext cx="6016752" cy="5074920"/>
          </a:xfrm>
          <a:prstGeom prst="roundRect">
            <a:avLst>
              <a:gd name="adj" fmla="val 3243"/>
            </a:avLst>
          </a:prstGeom>
          <a:solidFill>
            <a:schemeClr val="tx2"/>
          </a:solidFill>
          <a:ln w="19050">
            <a:solidFill>
              <a:schemeClr val="accent2"/>
            </a:solidFill>
            <a:prstDash val="dash"/>
          </a:ln>
        </p:spPr>
      </p:sp>
      <p:sp>
        <p:nvSpPr>
          <p:cNvPr id="6" name="Espacio captura co-work (texto)"/>
          <p:cNvSpPr txBox="1"/>
          <p:nvPr/>
        </p:nvSpPr>
        <p:spPr>
          <a:xfrm>
            <a:off x="5715000" y="685800"/>
            <a:ext cx="5468112" cy="5074920"/>
          </a:xfrm>
          <a:prstGeom prst="rect">
            <a:avLst/>
          </a:prstGeom>
          <a:noFill/>
          <a:ln/>
        </p:spPr>
        <p:txBody>
          <a:bodyPr wrap="square" lIns="0" tIns="0" rIns="0" bIns="0" rtlCol="0" anchor="ctr"/>
          <a:lstStyle/>
          <a:p>
            <a:pPr algn="ctr" indent="0" marL="0">
              <a:buNone/>
            </a:pPr>
            <a:r>
              <a:rPr lang="en-US" sz="1300" b="1" spc="200" kern="0" dirty="0">
                <a:solidFill>
                  <a:schemeClr val="accent2"/>
                </a:solidFill>
              </a:rPr>
              <a:t>CAPTURA</a:t>
            </a:r>
            <a:endParaRPr lang="en-US" sz="1300" dirty="0"/>
          </a:p>
          <a:p>
            <a:pPr algn="ctr" indent="0" marL="0">
              <a:buNone/>
            </a:pPr>
            <a:r>
              <a:rPr lang="en-US" sz="1300" b="1" spc="200" kern="0" dirty="0">
                <a:solidFill>
                  <a:schemeClr val="accent2"/>
                </a:solidFill>
              </a:rPr>
              <a:t>grilla del co-work con las cámaras prendidas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spacio foto Pierina"/>
          <p:cNvSpPr/>
          <p:nvPr/>
        </p:nvSpPr>
        <p:spPr>
          <a:xfrm>
            <a:off x="731520" y="685800"/>
            <a:ext cx="4206240" cy="5074920"/>
          </a:xfrm>
          <a:prstGeom prst="roundRect">
            <a:avLst>
              <a:gd name="adj" fmla="val 3913"/>
            </a:avLst>
          </a:prstGeom>
          <a:solidFill>
            <a:schemeClr val="tx2"/>
          </a:solidFill>
          <a:ln w="19050">
            <a:solidFill>
              <a:schemeClr val="accent2"/>
            </a:solidFill>
            <a:prstDash val="dash"/>
          </a:ln>
        </p:spPr>
      </p:sp>
      <p:sp>
        <p:nvSpPr>
          <p:cNvPr id="3" name="Espacio foto Pierina (texto)"/>
          <p:cNvSpPr txBox="1"/>
          <p:nvPr/>
        </p:nvSpPr>
        <p:spPr>
          <a:xfrm>
            <a:off x="1005840" y="685800"/>
            <a:ext cx="3657600" cy="5074920"/>
          </a:xfrm>
          <a:prstGeom prst="rect">
            <a:avLst/>
          </a:prstGeom>
          <a:noFill/>
          <a:ln/>
        </p:spPr>
        <p:txBody>
          <a:bodyPr wrap="square" lIns="0" tIns="0" rIns="0" bIns="0" rtlCol="0" anchor="ctr"/>
          <a:lstStyle/>
          <a:p>
            <a:pPr algn="ctr" indent="0" marL="0">
              <a:buNone/>
            </a:pPr>
            <a:r>
              <a:rPr lang="en-US" sz="1300" b="1" spc="200" kern="0" dirty="0">
                <a:solidFill>
                  <a:schemeClr val="accent2"/>
                </a:solidFill>
              </a:rPr>
              <a:t>FOTO</a:t>
            </a:r>
            <a:endParaRPr lang="en-US" sz="1300" dirty="0"/>
          </a:p>
          <a:p>
            <a:pPr algn="ctr" indent="0" marL="0">
              <a:buNone/>
            </a:pPr>
            <a:r>
              <a:rPr lang="en-US" sz="1300" b="1" spc="200" kern="0" dirty="0">
                <a:solidFill>
                  <a:schemeClr val="accent2"/>
                </a:solidFill>
              </a:rPr>
              <a:t>Pierina</a:t>
            </a:r>
            <a:endParaRPr lang="en-US" sz="1300" dirty="0"/>
          </a:p>
        </p:txBody>
      </p:sp>
      <p:sp>
        <p:nvSpPr>
          <p:cNvPr id="4" name="Text 0"/>
          <p:cNvSpPr/>
          <p:nvPr>
            <p:ph idx="100" type="body" hasCustomPrompt="1"/>
          </p:nvPr>
        </p:nvSpPr>
        <p:spPr>
          <a:xfrm>
            <a:off x="5577840" y="685800"/>
            <a:ext cx="5879592"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ESTUVO DE TU LADO</a:t>
            </a:r>
            <a:endParaRPr lang="en-US" sz="1400" dirty="0"/>
          </a:p>
        </p:txBody>
      </p:sp>
      <p:sp>
        <p:nvSpPr>
          <p:cNvPr id="5" name="Text 0"/>
          <p:cNvSpPr/>
          <p:nvPr>
            <p:ph idx="101" type="title" hasCustomPrompt="1"/>
          </p:nvPr>
        </p:nvSpPr>
        <p:spPr>
          <a:xfrm>
            <a:off x="5577840" y="1097280"/>
            <a:ext cx="5879592" cy="822960"/>
          </a:xfrm>
          <a:prstGeom prst="rect">
            <a:avLst/>
          </a:prstGeom>
          <a:noFill/>
          <a:ln/>
        </p:spPr>
        <p:txBody>
          <a:bodyPr wrap="square" lIns="0" tIns="0" rIns="0" bIns="0" rtlCol="0" anchor="t"/>
          <a:lstStyle/>
          <a:p>
            <a:pPr algn="l" indent="0" marL="0">
              <a:buNone/>
            </a:pPr>
            <a:r>
              <a:rPr lang="en-US" sz="4000" b="1" dirty="0">
                <a:solidFill>
                  <a:schemeClr val="bg1"/>
                </a:solidFill>
              </a:rPr>
              <a:t>Pierina</a:t>
            </a:r>
            <a:endParaRPr lang="en-US" sz="4000" dirty="0"/>
          </a:p>
        </p:txBody>
      </p:sp>
      <p:sp>
        <p:nvSpPr>
          <p:cNvPr id="6" name="Historia"/>
          <p:cNvSpPr txBox="1"/>
          <p:nvPr/>
        </p:nvSpPr>
        <p:spPr>
          <a:xfrm>
            <a:off x="5577840" y="2057400"/>
            <a:ext cx="5852160" cy="1188720"/>
          </a:xfrm>
          <a:prstGeom prst="rect">
            <a:avLst/>
          </a:prstGeom>
          <a:noFill/>
          <a:ln/>
        </p:spPr>
        <p:txBody>
          <a:bodyPr wrap="square" lIns="0" tIns="0" rIns="0" bIns="0" rtlCol="0" anchor="t"/>
          <a:lstStyle/>
          <a:p>
            <a:pPr indent="0" marL="0">
              <a:buNone/>
            </a:pPr>
            <a:r>
              <a:rPr lang="en-US" sz="2100" dirty="0">
                <a:solidFill>
                  <a:schemeClr val="bg1"/>
                </a:solidFill>
              </a:rPr>
              <a:t>Entró al Instituto como alumna. Hoy es parte del equipo y coautora del nuevo libro de Nico.</a:t>
            </a:r>
            <a:endParaRPr lang="en-US" sz="2100" dirty="0"/>
          </a:p>
        </p:txBody>
      </p:sp>
      <p:sp>
        <p:nvSpPr>
          <p:cNvPr id="7" name="Cita"/>
          <p:cNvSpPr txBox="1"/>
          <p:nvPr/>
        </p:nvSpPr>
        <p:spPr>
          <a:xfrm>
            <a:off x="5577840" y="3520440"/>
            <a:ext cx="5852160" cy="1463040"/>
          </a:xfrm>
          <a:prstGeom prst="rect">
            <a:avLst/>
          </a:prstGeom>
          <a:noFill/>
          <a:ln/>
        </p:spPr>
        <p:txBody>
          <a:bodyPr wrap="square" lIns="0" tIns="0" rIns="0" bIns="0" rtlCol="0" anchor="t"/>
          <a:lstStyle/>
          <a:p>
            <a:pPr indent="0" marL="0">
              <a:buNone/>
            </a:pPr>
            <a:r>
              <a:rPr lang="en-US" sz="2400" b="1" i="1" dirty="0">
                <a:solidFill>
                  <a:schemeClr val="accent1"/>
                </a:solidFill>
                <a:latin typeface="Montserrat" pitchFamily="34" charset="0"/>
                <a:ea typeface="Montserrat" pitchFamily="34" charset="-122"/>
                <a:cs typeface="Montserrat" pitchFamily="34" charset="-120"/>
              </a:rPr>
              <a:t>“Tal vez el precio más alto no sea cambiar. Tal vez sea quedarnos tal cual estamos.”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FUNCIONA PARA ALGUIEN COMO VOS</a:t>
            </a:r>
            <a:endParaRPr lang="en-US" sz="1400" dirty="0"/>
          </a:p>
        </p:txBody>
      </p:sp>
      <p:sp>
        <p:nvSpPr>
          <p:cNvPr id="3" name="Text 0"/>
          <p:cNvSpPr/>
          <p:nvPr>
            <p:ph idx="101" type="title" hasCustomPrompt="1"/>
          </p:nvPr>
        </p:nvSpPr>
        <p:spPr>
          <a:xfrm>
            <a:off x="731520" y="1097280"/>
            <a:ext cx="10728655" cy="1005840"/>
          </a:xfrm>
          <a:prstGeom prst="rect">
            <a:avLst/>
          </a:prstGeom>
          <a:noFill/>
          <a:ln/>
        </p:spPr>
        <p:txBody>
          <a:bodyPr wrap="square" lIns="0" tIns="0" rIns="0" bIns="0" rtlCol="0" anchor="t"/>
          <a:lstStyle/>
          <a:p>
            <a:pPr algn="l" indent="0" marL="0">
              <a:buNone/>
            </a:pPr>
            <a:r>
              <a:rPr lang="en-US" sz="4000" b="1" dirty="0">
                <a:solidFill>
                  <a:schemeClr val="tx1"/>
                </a:solidFill>
              </a:rPr>
              <a:t>Gente como vos</a:t>
            </a:r>
            <a:endParaRPr lang="en-US" sz="4000" dirty="0"/>
          </a:p>
        </p:txBody>
      </p:sp>
      <p:sp>
        <p:nvSpPr>
          <p:cNvPr id="4" name="Caso 1"/>
          <p:cNvSpPr/>
          <p:nvPr/>
        </p:nvSpPr>
        <p:spPr>
          <a:xfrm>
            <a:off x="731520" y="2148840"/>
            <a:ext cx="2476424" cy="3200400"/>
          </a:xfrm>
          <a:prstGeom prst="roundRect">
            <a:avLst>
              <a:gd name="adj" fmla="val 6646"/>
            </a:avLst>
          </a:prstGeom>
          <a:solidFill>
            <a:schemeClr val="bg2"/>
          </a:solidFill>
          <a:ln w="12700">
            <a:solidFill>
              <a:schemeClr val="bg2"/>
            </a:solidFill>
            <a:prstDash val="solid"/>
          </a:ln>
        </p:spPr>
      </p:sp>
      <p:sp>
        <p:nvSpPr>
          <p:cNvPr id="5" name="Caso 1 foto"/>
          <p:cNvSpPr/>
          <p:nvPr/>
        </p:nvSpPr>
        <p:spPr>
          <a:xfrm>
            <a:off x="1421092" y="2468880"/>
            <a:ext cx="1097280" cy="1097280"/>
          </a:xfrm>
          <a:prstGeom prst="ellipse">
            <a:avLst/>
          </a:prstGeom>
          <a:solidFill>
            <a:schemeClr val="bg1"/>
          </a:solidFill>
          <a:ln w="15875">
            <a:solidFill>
              <a:schemeClr val="accent3"/>
            </a:solidFill>
            <a:prstDash val="dash"/>
          </a:ln>
        </p:spPr>
      </p:sp>
      <p:sp>
        <p:nvSpPr>
          <p:cNvPr id="6" name="Caso 1 foto (texto)"/>
          <p:cNvSpPr txBox="1"/>
          <p:nvPr/>
        </p:nvSpPr>
        <p:spPr>
          <a:xfrm>
            <a:off x="1421092" y="2468880"/>
            <a:ext cx="1097280" cy="1097280"/>
          </a:xfrm>
          <a:prstGeom prst="rect">
            <a:avLst/>
          </a:prstGeom>
          <a:noFill/>
          <a:ln/>
        </p:spPr>
        <p:txBody>
          <a:bodyPr wrap="square" lIns="0" tIns="0" rIns="0" bIns="0" rtlCol="0" anchor="ctr"/>
          <a:lstStyle/>
          <a:p>
            <a:pPr algn="ctr" indent="0" marL="0">
              <a:buNone/>
            </a:pPr>
            <a:r>
              <a:rPr lang="en-US" sz="1100" b="1" spc="200" kern="0" dirty="0">
                <a:solidFill>
                  <a:schemeClr val="accent3"/>
                </a:solidFill>
              </a:rPr>
              <a:t>FOTO</a:t>
            </a:r>
            <a:endParaRPr lang="en-US" sz="1100" dirty="0"/>
          </a:p>
        </p:txBody>
      </p:sp>
      <p:sp>
        <p:nvSpPr>
          <p:cNvPr id="7" name="Caso 1 perfil"/>
          <p:cNvSpPr txBox="1"/>
          <p:nvPr/>
        </p:nvSpPr>
        <p:spPr>
          <a:xfrm>
            <a:off x="960120" y="3749040"/>
            <a:ext cx="2019224" cy="548640"/>
          </a:xfrm>
          <a:prstGeom prst="rect">
            <a:avLst/>
          </a:prstGeom>
          <a:noFill/>
          <a:ln/>
        </p:spPr>
        <p:txBody>
          <a:bodyPr wrap="square" lIns="0" tIns="0" rIns="0" bIns="0" rtlCol="0" anchor="ctr"/>
          <a:lstStyle/>
          <a:p>
            <a:pPr algn="ctr" indent="0" marL="0">
              <a:buNone/>
            </a:pPr>
            <a:r>
              <a:rPr lang="en-US" sz="1300" b="1" spc="100" kern="0" dirty="0">
                <a:solidFill>
                  <a:schemeClr val="accent1"/>
                </a:solidFill>
              </a:rPr>
              <a:t>CON EMPLEADOS</a:t>
            </a:r>
            <a:endParaRPr lang="en-US" sz="1300" dirty="0"/>
          </a:p>
        </p:txBody>
      </p:sp>
      <p:sp>
        <p:nvSpPr>
          <p:cNvPr id="8" name="Caso 1 historia"/>
          <p:cNvSpPr txBox="1"/>
          <p:nvPr/>
        </p:nvSpPr>
        <p:spPr>
          <a:xfrm>
            <a:off x="960120" y="4389120"/>
            <a:ext cx="2019224" cy="731520"/>
          </a:xfrm>
          <a:prstGeom prst="rect">
            <a:avLst/>
          </a:prstGeom>
          <a:noFill/>
          <a:ln/>
        </p:spPr>
        <p:txBody>
          <a:bodyPr wrap="square" lIns="0" tIns="0" rIns="0" bIns="0" rtlCol="0" anchor="t"/>
          <a:lstStyle/>
          <a:p>
            <a:pPr algn="ctr" indent="0" marL="0">
              <a:buNone/>
            </a:pPr>
            <a:r>
              <a:rPr lang="en-US" sz="1500" dirty="0">
                <a:solidFill>
                  <a:schemeClr val="accent3"/>
                </a:solidFill>
              </a:rPr>
              <a:t>[A CONFIRMAR: caso de Esteban]</a:t>
            </a:r>
            <a:endParaRPr lang="en-US" sz="1500" dirty="0"/>
          </a:p>
        </p:txBody>
      </p:sp>
      <p:sp>
        <p:nvSpPr>
          <p:cNvPr id="9" name="Caso 2"/>
          <p:cNvSpPr/>
          <p:nvPr/>
        </p:nvSpPr>
        <p:spPr>
          <a:xfrm>
            <a:off x="3482264" y="2148840"/>
            <a:ext cx="2476424" cy="3200400"/>
          </a:xfrm>
          <a:prstGeom prst="roundRect">
            <a:avLst>
              <a:gd name="adj" fmla="val 6646"/>
            </a:avLst>
          </a:prstGeom>
          <a:solidFill>
            <a:schemeClr val="bg2"/>
          </a:solidFill>
          <a:ln w="12700">
            <a:solidFill>
              <a:schemeClr val="bg2"/>
            </a:solidFill>
            <a:prstDash val="solid"/>
          </a:ln>
        </p:spPr>
      </p:sp>
      <p:sp>
        <p:nvSpPr>
          <p:cNvPr id="10" name="Caso 2 foto"/>
          <p:cNvSpPr/>
          <p:nvPr/>
        </p:nvSpPr>
        <p:spPr>
          <a:xfrm>
            <a:off x="4171836" y="2468880"/>
            <a:ext cx="1097280" cy="1097280"/>
          </a:xfrm>
          <a:prstGeom prst="ellipse">
            <a:avLst/>
          </a:prstGeom>
          <a:solidFill>
            <a:schemeClr val="bg1"/>
          </a:solidFill>
          <a:ln w="15875">
            <a:solidFill>
              <a:schemeClr val="accent3"/>
            </a:solidFill>
            <a:prstDash val="dash"/>
          </a:ln>
        </p:spPr>
      </p:sp>
      <p:sp>
        <p:nvSpPr>
          <p:cNvPr id="11" name="Caso 2 foto (texto)"/>
          <p:cNvSpPr txBox="1"/>
          <p:nvPr/>
        </p:nvSpPr>
        <p:spPr>
          <a:xfrm>
            <a:off x="4171836" y="2468880"/>
            <a:ext cx="1097280" cy="1097280"/>
          </a:xfrm>
          <a:prstGeom prst="rect">
            <a:avLst/>
          </a:prstGeom>
          <a:noFill/>
          <a:ln/>
        </p:spPr>
        <p:txBody>
          <a:bodyPr wrap="square" lIns="0" tIns="0" rIns="0" bIns="0" rtlCol="0" anchor="ctr"/>
          <a:lstStyle/>
          <a:p>
            <a:pPr algn="ctr" indent="0" marL="0">
              <a:buNone/>
            </a:pPr>
            <a:r>
              <a:rPr lang="en-US" sz="1100" b="1" spc="200" kern="0" dirty="0">
                <a:solidFill>
                  <a:schemeClr val="accent3"/>
                </a:solidFill>
              </a:rPr>
              <a:t>FOTO</a:t>
            </a:r>
            <a:endParaRPr lang="en-US" sz="1100" dirty="0"/>
          </a:p>
        </p:txBody>
      </p:sp>
      <p:sp>
        <p:nvSpPr>
          <p:cNvPr id="12" name="Caso 2 perfil"/>
          <p:cNvSpPr txBox="1"/>
          <p:nvPr/>
        </p:nvSpPr>
        <p:spPr>
          <a:xfrm>
            <a:off x="3710864" y="3749040"/>
            <a:ext cx="2019224" cy="548640"/>
          </a:xfrm>
          <a:prstGeom prst="rect">
            <a:avLst/>
          </a:prstGeom>
          <a:noFill/>
          <a:ln/>
        </p:spPr>
        <p:txBody>
          <a:bodyPr wrap="square" lIns="0" tIns="0" rIns="0" bIns="0" rtlCol="0" anchor="ctr"/>
          <a:lstStyle/>
          <a:p>
            <a:pPr algn="ctr" indent="0" marL="0">
              <a:buNone/>
            </a:pPr>
            <a:r>
              <a:rPr lang="en-US" sz="1300" b="1" spc="100" kern="0" dirty="0">
                <a:solidFill>
                  <a:schemeClr val="accent1"/>
                </a:solidFill>
              </a:rPr>
              <a:t>MAMÁ QUE TRABAJA</a:t>
            </a:r>
            <a:endParaRPr lang="en-US" sz="1300" dirty="0"/>
          </a:p>
        </p:txBody>
      </p:sp>
      <p:sp>
        <p:nvSpPr>
          <p:cNvPr id="13" name="Caso 2 historia"/>
          <p:cNvSpPr txBox="1"/>
          <p:nvPr/>
        </p:nvSpPr>
        <p:spPr>
          <a:xfrm>
            <a:off x="3710864" y="4389120"/>
            <a:ext cx="2019224" cy="731520"/>
          </a:xfrm>
          <a:prstGeom prst="rect">
            <a:avLst/>
          </a:prstGeom>
          <a:noFill/>
          <a:ln/>
        </p:spPr>
        <p:txBody>
          <a:bodyPr wrap="square" lIns="0" tIns="0" rIns="0" bIns="0" rtlCol="0" anchor="t"/>
          <a:lstStyle/>
          <a:p>
            <a:pPr algn="ctr" indent="0" marL="0">
              <a:buNone/>
            </a:pPr>
            <a:r>
              <a:rPr lang="en-US" sz="1500" dirty="0">
                <a:solidFill>
                  <a:schemeClr val="accent3"/>
                </a:solidFill>
              </a:rPr>
              <a:t>[A CONFIRMAR: caso de Esteban]</a:t>
            </a:r>
            <a:endParaRPr lang="en-US" sz="1500" dirty="0"/>
          </a:p>
        </p:txBody>
      </p:sp>
      <p:sp>
        <p:nvSpPr>
          <p:cNvPr id="14" name="Caso 3"/>
          <p:cNvSpPr/>
          <p:nvPr/>
        </p:nvSpPr>
        <p:spPr>
          <a:xfrm>
            <a:off x="6233008" y="2148840"/>
            <a:ext cx="2476424" cy="3200400"/>
          </a:xfrm>
          <a:prstGeom prst="roundRect">
            <a:avLst>
              <a:gd name="adj" fmla="val 6646"/>
            </a:avLst>
          </a:prstGeom>
          <a:solidFill>
            <a:schemeClr val="bg2"/>
          </a:solidFill>
          <a:ln w="12700">
            <a:solidFill>
              <a:schemeClr val="bg2"/>
            </a:solidFill>
            <a:prstDash val="solid"/>
          </a:ln>
        </p:spPr>
      </p:sp>
      <p:sp>
        <p:nvSpPr>
          <p:cNvPr id="15" name="Caso 3 foto"/>
          <p:cNvSpPr/>
          <p:nvPr/>
        </p:nvSpPr>
        <p:spPr>
          <a:xfrm>
            <a:off x="6922580" y="2468880"/>
            <a:ext cx="1097280" cy="1097280"/>
          </a:xfrm>
          <a:prstGeom prst="ellipse">
            <a:avLst/>
          </a:prstGeom>
          <a:solidFill>
            <a:schemeClr val="bg1"/>
          </a:solidFill>
          <a:ln w="15875">
            <a:solidFill>
              <a:schemeClr val="accent3"/>
            </a:solidFill>
            <a:prstDash val="dash"/>
          </a:ln>
        </p:spPr>
      </p:sp>
      <p:sp>
        <p:nvSpPr>
          <p:cNvPr id="16" name="Caso 3 foto (texto)"/>
          <p:cNvSpPr txBox="1"/>
          <p:nvPr/>
        </p:nvSpPr>
        <p:spPr>
          <a:xfrm>
            <a:off x="6922580" y="2468880"/>
            <a:ext cx="1097280" cy="1097280"/>
          </a:xfrm>
          <a:prstGeom prst="rect">
            <a:avLst/>
          </a:prstGeom>
          <a:noFill/>
          <a:ln/>
        </p:spPr>
        <p:txBody>
          <a:bodyPr wrap="square" lIns="0" tIns="0" rIns="0" bIns="0" rtlCol="0" anchor="ctr"/>
          <a:lstStyle/>
          <a:p>
            <a:pPr algn="ctr" indent="0" marL="0">
              <a:buNone/>
            </a:pPr>
            <a:r>
              <a:rPr lang="en-US" sz="1100" b="1" spc="200" kern="0" dirty="0">
                <a:solidFill>
                  <a:schemeClr val="accent3"/>
                </a:solidFill>
              </a:rPr>
              <a:t>FOTO</a:t>
            </a:r>
            <a:endParaRPr lang="en-US" sz="1100" dirty="0"/>
          </a:p>
        </p:txBody>
      </p:sp>
      <p:sp>
        <p:nvSpPr>
          <p:cNvPr id="17" name="Caso 3 perfil"/>
          <p:cNvSpPr txBox="1"/>
          <p:nvPr/>
        </p:nvSpPr>
        <p:spPr>
          <a:xfrm>
            <a:off x="6461608" y="3749040"/>
            <a:ext cx="2019224" cy="548640"/>
          </a:xfrm>
          <a:prstGeom prst="rect">
            <a:avLst/>
          </a:prstGeom>
          <a:noFill/>
          <a:ln/>
        </p:spPr>
        <p:txBody>
          <a:bodyPr wrap="square" lIns="0" tIns="0" rIns="0" bIns="0" rtlCol="0" anchor="ctr"/>
          <a:lstStyle/>
          <a:p>
            <a:pPr algn="ctr" indent="0" marL="0">
              <a:buNone/>
            </a:pPr>
            <a:r>
              <a:rPr lang="en-US" sz="1300" b="1" spc="100" kern="0" dirty="0">
                <a:solidFill>
                  <a:schemeClr val="accent1"/>
                </a:solidFill>
              </a:rPr>
              <a:t>ESTUDIA Y TRABAJA</a:t>
            </a:r>
            <a:endParaRPr lang="en-US" sz="1300" dirty="0"/>
          </a:p>
        </p:txBody>
      </p:sp>
      <p:sp>
        <p:nvSpPr>
          <p:cNvPr id="18" name="Caso 3 historia"/>
          <p:cNvSpPr txBox="1"/>
          <p:nvPr/>
        </p:nvSpPr>
        <p:spPr>
          <a:xfrm>
            <a:off x="6461608" y="4389120"/>
            <a:ext cx="2019224" cy="731520"/>
          </a:xfrm>
          <a:prstGeom prst="rect">
            <a:avLst/>
          </a:prstGeom>
          <a:noFill/>
          <a:ln/>
        </p:spPr>
        <p:txBody>
          <a:bodyPr wrap="square" lIns="0" tIns="0" rIns="0" bIns="0" rtlCol="0" anchor="t"/>
          <a:lstStyle/>
          <a:p>
            <a:pPr algn="ctr" indent="0" marL="0">
              <a:buNone/>
            </a:pPr>
            <a:r>
              <a:rPr lang="en-US" sz="1500" dirty="0">
                <a:solidFill>
                  <a:schemeClr val="accent3"/>
                </a:solidFill>
              </a:rPr>
              <a:t>[A CONFIRMAR: caso de Esteban]</a:t>
            </a:r>
            <a:endParaRPr lang="en-US" sz="1500" dirty="0"/>
          </a:p>
        </p:txBody>
      </p:sp>
      <p:sp>
        <p:nvSpPr>
          <p:cNvPr id="19" name="Caso 4"/>
          <p:cNvSpPr/>
          <p:nvPr/>
        </p:nvSpPr>
        <p:spPr>
          <a:xfrm>
            <a:off x="8983751" y="2148840"/>
            <a:ext cx="2476424" cy="3200400"/>
          </a:xfrm>
          <a:prstGeom prst="roundRect">
            <a:avLst>
              <a:gd name="adj" fmla="val 6646"/>
            </a:avLst>
          </a:prstGeom>
          <a:solidFill>
            <a:schemeClr val="bg2"/>
          </a:solidFill>
          <a:ln w="12700">
            <a:solidFill>
              <a:schemeClr val="bg2"/>
            </a:solidFill>
            <a:prstDash val="solid"/>
          </a:ln>
        </p:spPr>
      </p:sp>
      <p:sp>
        <p:nvSpPr>
          <p:cNvPr id="20" name="Caso 4 foto"/>
          <p:cNvSpPr/>
          <p:nvPr/>
        </p:nvSpPr>
        <p:spPr>
          <a:xfrm>
            <a:off x="9673323" y="2468880"/>
            <a:ext cx="1097280" cy="1097280"/>
          </a:xfrm>
          <a:prstGeom prst="ellipse">
            <a:avLst/>
          </a:prstGeom>
          <a:solidFill>
            <a:schemeClr val="bg1"/>
          </a:solidFill>
          <a:ln w="15875">
            <a:solidFill>
              <a:schemeClr val="accent3"/>
            </a:solidFill>
            <a:prstDash val="dash"/>
          </a:ln>
        </p:spPr>
      </p:sp>
      <p:sp>
        <p:nvSpPr>
          <p:cNvPr id="21" name="Caso 4 foto (texto)"/>
          <p:cNvSpPr txBox="1"/>
          <p:nvPr/>
        </p:nvSpPr>
        <p:spPr>
          <a:xfrm>
            <a:off x="9673323" y="2468880"/>
            <a:ext cx="1097280" cy="1097280"/>
          </a:xfrm>
          <a:prstGeom prst="rect">
            <a:avLst/>
          </a:prstGeom>
          <a:noFill/>
          <a:ln/>
        </p:spPr>
        <p:txBody>
          <a:bodyPr wrap="square" lIns="0" tIns="0" rIns="0" bIns="0" rtlCol="0" anchor="ctr"/>
          <a:lstStyle/>
          <a:p>
            <a:pPr algn="ctr" indent="0" marL="0">
              <a:buNone/>
            </a:pPr>
            <a:r>
              <a:rPr lang="en-US" sz="1100" b="1" spc="200" kern="0" dirty="0">
                <a:solidFill>
                  <a:schemeClr val="accent3"/>
                </a:solidFill>
              </a:rPr>
              <a:t>FOTO</a:t>
            </a:r>
            <a:endParaRPr lang="en-US" sz="1100" dirty="0"/>
          </a:p>
        </p:txBody>
      </p:sp>
      <p:sp>
        <p:nvSpPr>
          <p:cNvPr id="22" name="Caso 4 perfil"/>
          <p:cNvSpPr txBox="1"/>
          <p:nvPr/>
        </p:nvSpPr>
        <p:spPr>
          <a:xfrm>
            <a:off x="9212351" y="3749040"/>
            <a:ext cx="2019224" cy="548640"/>
          </a:xfrm>
          <a:prstGeom prst="rect">
            <a:avLst/>
          </a:prstGeom>
          <a:noFill/>
          <a:ln/>
        </p:spPr>
        <p:txBody>
          <a:bodyPr wrap="square" lIns="0" tIns="0" rIns="0" bIns="0" rtlCol="0" anchor="ctr"/>
          <a:lstStyle/>
          <a:p>
            <a:pPr algn="ctr" indent="0" marL="0">
              <a:buNone/>
            </a:pPr>
            <a:r>
              <a:rPr lang="en-US" sz="1300" b="1" spc="100" kern="0" dirty="0">
                <a:solidFill>
                  <a:schemeClr val="accent1"/>
                </a:solidFill>
              </a:rPr>
              <a:t>CON UN PROYECTO PROPIO</a:t>
            </a:r>
            <a:endParaRPr lang="en-US" sz="1300" dirty="0"/>
          </a:p>
        </p:txBody>
      </p:sp>
      <p:sp>
        <p:nvSpPr>
          <p:cNvPr id="23" name="Caso 4 historia"/>
          <p:cNvSpPr txBox="1"/>
          <p:nvPr/>
        </p:nvSpPr>
        <p:spPr>
          <a:xfrm>
            <a:off x="9212351" y="4389120"/>
            <a:ext cx="2019224" cy="731520"/>
          </a:xfrm>
          <a:prstGeom prst="rect">
            <a:avLst/>
          </a:prstGeom>
          <a:noFill/>
          <a:ln/>
        </p:spPr>
        <p:txBody>
          <a:bodyPr wrap="square" lIns="0" tIns="0" rIns="0" bIns="0" rtlCol="0" anchor="t"/>
          <a:lstStyle/>
          <a:p>
            <a:pPr algn="ctr" indent="0" marL="0">
              <a:buNone/>
            </a:pPr>
            <a:r>
              <a:rPr lang="en-US" sz="1500" dirty="0">
                <a:solidFill>
                  <a:schemeClr val="accent3"/>
                </a:solidFill>
              </a:rPr>
              <a:t>[A CONFIRMAR: caso de Esteban]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ANTES DE DECIDIR</a:t>
            </a:r>
            <a:endParaRPr lang="en-US" sz="1400" dirty="0"/>
          </a:p>
        </p:txBody>
      </p:sp>
      <p:sp>
        <p:nvSpPr>
          <p:cNvPr id="3" name="Text 0"/>
          <p:cNvSpPr/>
          <p:nvPr>
            <p:ph idx="101" type="title" hasCustomPrompt="1"/>
          </p:nvPr>
        </p:nvSpPr>
        <p:spPr>
          <a:xfrm>
            <a:off x="731520" y="1097280"/>
            <a:ext cx="10728655" cy="1005840"/>
          </a:xfrm>
          <a:prstGeom prst="rect">
            <a:avLst/>
          </a:prstGeom>
          <a:noFill/>
          <a:ln/>
        </p:spPr>
        <p:txBody>
          <a:bodyPr wrap="square" lIns="0" tIns="0" rIns="0" bIns="0" rtlCol="0" anchor="t"/>
          <a:lstStyle/>
          <a:p>
            <a:pPr algn="l" indent="0" marL="0">
              <a:buNone/>
            </a:pPr>
            <a:r>
              <a:rPr lang="en-US" sz="4000" b="1" dirty="0">
                <a:solidFill>
                  <a:schemeClr val="tx1"/>
                </a:solidFill>
              </a:rPr>
              <a:t>Las dos dudas de siempre</a:t>
            </a:r>
            <a:endParaRPr lang="en-US" sz="4000" dirty="0"/>
          </a:p>
        </p:txBody>
      </p:sp>
      <p:sp>
        <p:nvSpPr>
          <p:cNvPr id="4" name="Duda 1"/>
          <p:cNvSpPr/>
          <p:nvPr/>
        </p:nvSpPr>
        <p:spPr>
          <a:xfrm>
            <a:off x="731520" y="2240280"/>
            <a:ext cx="5181448" cy="3108960"/>
          </a:xfrm>
          <a:prstGeom prst="roundRect">
            <a:avLst>
              <a:gd name="adj" fmla="val 5294"/>
            </a:avLst>
          </a:prstGeom>
          <a:solidFill>
            <a:schemeClr val="bg2"/>
          </a:solidFill>
          <a:ln w="12700">
            <a:solidFill>
              <a:schemeClr val="bg2"/>
            </a:solidFill>
            <a:prstDash val="solid"/>
          </a:ln>
        </p:spPr>
      </p:sp>
      <p:sp>
        <p:nvSpPr>
          <p:cNvPr id="5" name="Duda 1 pregunta"/>
          <p:cNvSpPr txBox="1"/>
          <p:nvPr/>
        </p:nvSpPr>
        <p:spPr>
          <a:xfrm>
            <a:off x="1143000" y="2651760"/>
            <a:ext cx="4358488" cy="1188720"/>
          </a:xfrm>
          <a:prstGeom prst="rect">
            <a:avLst/>
          </a:prstGeom>
          <a:noFill/>
          <a:ln/>
        </p:spPr>
        <p:txBody>
          <a:bodyPr wrap="square" lIns="0" tIns="0" rIns="0" bIns="0" rtlCol="0" anchor="t"/>
          <a:lstStyle/>
          <a:p>
            <a:pPr indent="0" marL="0">
              <a:buNone/>
            </a:pPr>
            <a:r>
              <a:rPr lang="en-US" sz="2600" b="1" dirty="0">
                <a:solidFill>
                  <a:schemeClr val="tx1"/>
                </a:solidFill>
                <a:latin typeface="Montserrat" pitchFamily="34" charset="0"/>
                <a:ea typeface="Montserrat" pitchFamily="34" charset="-122"/>
                <a:cs typeface="Montserrat" pitchFamily="34" charset="-120"/>
              </a:rPr>
              <a:t>¿Otro curso más que no voy a usar?</a:t>
            </a:r>
            <a:endParaRPr lang="en-US" sz="2600" dirty="0"/>
          </a:p>
        </p:txBody>
      </p:sp>
      <p:sp>
        <p:nvSpPr>
          <p:cNvPr id="6" name="Duda 1 respuesta"/>
          <p:cNvSpPr txBox="1"/>
          <p:nvPr/>
        </p:nvSpPr>
        <p:spPr>
          <a:xfrm>
            <a:off x="1143000" y="3931920"/>
            <a:ext cx="4358488" cy="1188720"/>
          </a:xfrm>
          <a:prstGeom prst="rect">
            <a:avLst/>
          </a:prstGeom>
          <a:noFill/>
          <a:ln/>
        </p:spPr>
        <p:txBody>
          <a:bodyPr wrap="square" lIns="0" tIns="0" rIns="0" bIns="0" rtlCol="0" anchor="t"/>
          <a:lstStyle/>
          <a:p>
            <a:pPr indent="0" marL="0">
              <a:buNone/>
            </a:pPr>
            <a:r>
              <a:rPr lang="en-US" sz="1900" dirty="0">
                <a:solidFill>
                  <a:schemeClr val="tx1"/>
                </a:solidFill>
              </a:rPr>
              <a:t>Es un ritmo semanal en vivo, con gente, todos los sábados.</a:t>
            </a:r>
            <a:endParaRPr lang="en-US" sz="1900" dirty="0"/>
          </a:p>
        </p:txBody>
      </p:sp>
      <p:sp>
        <p:nvSpPr>
          <p:cNvPr id="7" name="Duda 2"/>
          <p:cNvSpPr/>
          <p:nvPr/>
        </p:nvSpPr>
        <p:spPr>
          <a:xfrm>
            <a:off x="6278728" y="2240280"/>
            <a:ext cx="5181448" cy="3108960"/>
          </a:xfrm>
          <a:prstGeom prst="roundRect">
            <a:avLst>
              <a:gd name="adj" fmla="val 5294"/>
            </a:avLst>
          </a:prstGeom>
          <a:solidFill>
            <a:schemeClr val="bg2"/>
          </a:solidFill>
          <a:ln w="12700">
            <a:solidFill>
              <a:schemeClr val="bg2"/>
            </a:solidFill>
            <a:prstDash val="solid"/>
          </a:ln>
        </p:spPr>
      </p:sp>
      <p:sp>
        <p:nvSpPr>
          <p:cNvPr id="8" name="Duda 2 pregunta"/>
          <p:cNvSpPr txBox="1"/>
          <p:nvPr/>
        </p:nvSpPr>
        <p:spPr>
          <a:xfrm>
            <a:off x="6690208" y="2651760"/>
            <a:ext cx="4358488" cy="1188720"/>
          </a:xfrm>
          <a:prstGeom prst="rect">
            <a:avLst/>
          </a:prstGeom>
          <a:noFill/>
          <a:ln/>
        </p:spPr>
        <p:txBody>
          <a:bodyPr wrap="square" lIns="0" tIns="0" rIns="0" bIns="0" rtlCol="0" anchor="t"/>
          <a:lstStyle/>
          <a:p>
            <a:pPr indent="0" marL="0">
              <a:buNone/>
            </a:pPr>
            <a:r>
              <a:rPr lang="en-US" sz="2600" b="1" dirty="0">
                <a:solidFill>
                  <a:schemeClr val="tx1"/>
                </a:solidFill>
                <a:latin typeface="Montserrat" pitchFamily="34" charset="0"/>
                <a:ea typeface="Montserrat" pitchFamily="34" charset="-122"/>
                <a:cs typeface="Montserrat" pitchFamily="34" charset="-120"/>
              </a:rPr>
              <a:t>¿Y si no lo puedo sostener?</a:t>
            </a:r>
            <a:endParaRPr lang="en-US" sz="2600" dirty="0"/>
          </a:p>
        </p:txBody>
      </p:sp>
      <p:sp>
        <p:nvSpPr>
          <p:cNvPr id="9" name="Duda 2 respuesta"/>
          <p:cNvSpPr txBox="1"/>
          <p:nvPr/>
        </p:nvSpPr>
        <p:spPr>
          <a:xfrm>
            <a:off x="6690208" y="3931920"/>
            <a:ext cx="4358488" cy="1188720"/>
          </a:xfrm>
          <a:prstGeom prst="rect">
            <a:avLst/>
          </a:prstGeom>
          <a:noFill/>
          <a:ln/>
        </p:spPr>
        <p:txBody>
          <a:bodyPr wrap="square" lIns="0" tIns="0" rIns="0" bIns="0" rtlCol="0" anchor="t"/>
          <a:lstStyle/>
          <a:p>
            <a:pPr indent="0" marL="0">
              <a:buNone/>
            </a:pPr>
            <a:r>
              <a:rPr lang="en-US" sz="1900" dirty="0">
                <a:solidFill>
                  <a:schemeClr val="tx1"/>
                </a:solidFill>
              </a:rPr>
              <a:t>Está pensada para semanas que se desarman. Podés desaparecer una semana, dos no.</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365760"/>
          </a:xfrm>
          <a:prstGeom prst="rect">
            <a:avLst/>
          </a:prstGeom>
          <a:noFill/>
          <a:ln/>
        </p:spPr>
        <p:txBody>
          <a:bodyPr wrap="square" lIns="0" tIns="0" rIns="0" bIns="0" rtlCol="0" anchor="ctr"/>
          <a:lstStyle/>
          <a:p>
            <a:pPr algn="ctr" indent="0" marL="0">
              <a:buNone/>
            </a:pPr>
            <a:r>
              <a:rPr lang="en-US" sz="1400" b="1" spc="300" kern="0" dirty="0">
                <a:solidFill>
                  <a:schemeClr val="accent1"/>
                </a:solidFill>
              </a:rPr>
              <a:t>UNA PREGUNTA</a:t>
            </a:r>
            <a:endParaRPr lang="en-US" sz="1400" dirty="0"/>
          </a:p>
        </p:txBody>
      </p:sp>
      <p:sp>
        <p:nvSpPr>
          <p:cNvPr id="3" name="Text 0"/>
          <p:cNvSpPr/>
          <p:nvPr>
            <p:ph idx="101" type="title" hasCustomPrompt="1"/>
          </p:nvPr>
        </p:nvSpPr>
        <p:spPr>
          <a:xfrm>
            <a:off x="1280160" y="1828800"/>
            <a:ext cx="9631375" cy="2331720"/>
          </a:xfrm>
          <a:prstGeom prst="rect">
            <a:avLst/>
          </a:prstGeom>
          <a:noFill/>
          <a:ln/>
        </p:spPr>
        <p:txBody>
          <a:bodyPr wrap="square" lIns="0" tIns="0" rIns="0" bIns="0" rtlCol="0" anchor="ctr"/>
          <a:lstStyle/>
          <a:p>
            <a:pPr algn="ctr" indent="0" marL="0">
              <a:buNone/>
            </a:pPr>
            <a:r>
              <a:rPr lang="en-US" sz="4800" b="1" dirty="0">
                <a:solidFill>
                  <a:schemeClr val="bg1"/>
                </a:solidFill>
              </a:rPr>
              <a:t>¿Cuántas suscripciones pagás todos los meses?</a:t>
            </a:r>
            <a:endParaRPr lang="en-US" sz="4800" dirty="0"/>
          </a:p>
        </p:txBody>
      </p:sp>
      <p:sp>
        <p:nvSpPr>
          <p:cNvPr id="4" name="Text 0"/>
          <p:cNvSpPr/>
          <p:nvPr>
            <p:ph idx="102" type="body" hasCustomPrompt="1"/>
          </p:nvPr>
        </p:nvSpPr>
        <p:spPr>
          <a:xfrm>
            <a:off x="1645920" y="4297680"/>
            <a:ext cx="8899855" cy="822960"/>
          </a:xfrm>
          <a:prstGeom prst="rect">
            <a:avLst/>
          </a:prstGeom>
          <a:noFill/>
          <a:ln/>
        </p:spPr>
        <p:txBody>
          <a:bodyPr wrap="square" lIns="0" tIns="0" rIns="0" bIns="0" rtlCol="0" anchor="t"/>
          <a:lstStyle/>
          <a:p>
            <a:pPr algn="ctr" indent="0" marL="0">
              <a:buNone/>
            </a:pPr>
            <a:r>
              <a:rPr lang="en-US" sz="2200" dirty="0">
                <a:solidFill>
                  <a:schemeClr val="accent2"/>
                </a:solidFill>
              </a:rPr>
              <a:t>¿Y cuántas te suman a tu bienestar o a tus objetivos?</a:t>
            </a:r>
            <a:endParaRPr lang="en-US" sz="2200" dirty="0"/>
          </a:p>
        </p:txBody>
      </p:sp>
      <p:sp>
        <p:nvSpPr>
          <p:cNvPr id="5" name="Suscripción 1"/>
          <p:cNvSpPr/>
          <p:nvPr/>
        </p:nvSpPr>
        <p:spPr>
          <a:xfrm>
            <a:off x="1066648" y="5257800"/>
            <a:ext cx="1709928" cy="502920"/>
          </a:xfrm>
          <a:prstGeom prst="roundRect">
            <a:avLst>
              <a:gd name="adj" fmla="val 50000"/>
            </a:avLst>
          </a:prstGeom>
          <a:solidFill>
            <a:schemeClr val="tx2"/>
          </a:solidFill>
          <a:ln w="12700">
            <a:solidFill>
              <a:schemeClr val="tx2"/>
            </a:solidFill>
            <a:prstDash val="solid"/>
          </a:ln>
        </p:spPr>
      </p:sp>
      <p:sp>
        <p:nvSpPr>
          <p:cNvPr id="6" name="Suscripción 1 (texto)"/>
          <p:cNvSpPr txBox="1"/>
          <p:nvPr/>
        </p:nvSpPr>
        <p:spPr>
          <a:xfrm>
            <a:off x="1066648" y="5257800"/>
            <a:ext cx="1709928" cy="502920"/>
          </a:xfrm>
          <a:prstGeom prst="rect">
            <a:avLst/>
          </a:prstGeom>
          <a:noFill/>
          <a:ln/>
        </p:spPr>
        <p:txBody>
          <a:bodyPr wrap="square" lIns="0" tIns="0" rIns="0" bIns="0" rtlCol="0" anchor="ctr"/>
          <a:lstStyle/>
          <a:p>
            <a:pPr algn="ctr" indent="0" marL="0">
              <a:buNone/>
            </a:pPr>
            <a:r>
              <a:rPr lang="en-US" sz="1400" b="1" spc="200" kern="0" dirty="0">
                <a:solidFill>
                  <a:schemeClr val="accent2"/>
                </a:solidFill>
              </a:rPr>
              <a:t>Streaming</a:t>
            </a:r>
            <a:endParaRPr lang="en-US" sz="1400" dirty="0"/>
          </a:p>
        </p:txBody>
      </p:sp>
      <p:sp>
        <p:nvSpPr>
          <p:cNvPr id="7" name="Suscripción 2"/>
          <p:cNvSpPr/>
          <p:nvPr/>
        </p:nvSpPr>
        <p:spPr>
          <a:xfrm>
            <a:off x="3005176" y="5257800"/>
            <a:ext cx="1353312" cy="502920"/>
          </a:xfrm>
          <a:prstGeom prst="roundRect">
            <a:avLst>
              <a:gd name="adj" fmla="val 50000"/>
            </a:avLst>
          </a:prstGeom>
          <a:solidFill>
            <a:schemeClr val="tx2"/>
          </a:solidFill>
          <a:ln w="12700">
            <a:solidFill>
              <a:schemeClr val="tx2"/>
            </a:solidFill>
            <a:prstDash val="solid"/>
          </a:ln>
        </p:spPr>
      </p:sp>
      <p:sp>
        <p:nvSpPr>
          <p:cNvPr id="8" name="Suscripción 2 (texto)"/>
          <p:cNvSpPr txBox="1"/>
          <p:nvPr/>
        </p:nvSpPr>
        <p:spPr>
          <a:xfrm>
            <a:off x="3005176" y="5257800"/>
            <a:ext cx="1353312" cy="502920"/>
          </a:xfrm>
          <a:prstGeom prst="rect">
            <a:avLst/>
          </a:prstGeom>
          <a:noFill/>
          <a:ln/>
        </p:spPr>
        <p:txBody>
          <a:bodyPr wrap="square" lIns="0" tIns="0" rIns="0" bIns="0" rtlCol="0" anchor="ctr"/>
          <a:lstStyle/>
          <a:p>
            <a:pPr algn="ctr" indent="0" marL="0">
              <a:buNone/>
            </a:pPr>
            <a:r>
              <a:rPr lang="en-US" sz="1400" b="1" spc="200" kern="0" dirty="0">
                <a:solidFill>
                  <a:schemeClr val="accent2"/>
                </a:solidFill>
              </a:rPr>
              <a:t>Música</a:t>
            </a:r>
            <a:endParaRPr lang="en-US" sz="1400" dirty="0"/>
          </a:p>
        </p:txBody>
      </p:sp>
      <p:sp>
        <p:nvSpPr>
          <p:cNvPr id="9" name="Suscripción 3"/>
          <p:cNvSpPr/>
          <p:nvPr/>
        </p:nvSpPr>
        <p:spPr>
          <a:xfrm>
            <a:off x="4587088" y="5257800"/>
            <a:ext cx="2660904" cy="502920"/>
          </a:xfrm>
          <a:prstGeom prst="roundRect">
            <a:avLst>
              <a:gd name="adj" fmla="val 50000"/>
            </a:avLst>
          </a:prstGeom>
          <a:solidFill>
            <a:schemeClr val="tx2"/>
          </a:solidFill>
          <a:ln w="12700">
            <a:solidFill>
              <a:schemeClr val="tx2"/>
            </a:solidFill>
            <a:prstDash val="solid"/>
          </a:ln>
        </p:spPr>
      </p:sp>
      <p:sp>
        <p:nvSpPr>
          <p:cNvPr id="10" name="Suscripción 3 (texto)"/>
          <p:cNvSpPr txBox="1"/>
          <p:nvPr/>
        </p:nvSpPr>
        <p:spPr>
          <a:xfrm>
            <a:off x="4587088" y="5257800"/>
            <a:ext cx="2660904" cy="502920"/>
          </a:xfrm>
          <a:prstGeom prst="rect">
            <a:avLst/>
          </a:prstGeom>
          <a:noFill/>
          <a:ln/>
        </p:spPr>
        <p:txBody>
          <a:bodyPr wrap="square" lIns="0" tIns="0" rIns="0" bIns="0" rtlCol="0" anchor="ctr"/>
          <a:lstStyle/>
          <a:p>
            <a:pPr algn="ctr" indent="0" marL="0">
              <a:buNone/>
            </a:pPr>
            <a:r>
              <a:rPr lang="en-US" sz="1400" b="1" spc="200" kern="0" dirty="0">
                <a:solidFill>
                  <a:schemeClr val="accent2"/>
                </a:solidFill>
              </a:rPr>
              <a:t>Apps que no abrís</a:t>
            </a:r>
            <a:endParaRPr lang="en-US" sz="1400" dirty="0"/>
          </a:p>
        </p:txBody>
      </p:sp>
      <p:sp>
        <p:nvSpPr>
          <p:cNvPr id="11" name="Suscripción 4"/>
          <p:cNvSpPr/>
          <p:nvPr/>
        </p:nvSpPr>
        <p:spPr>
          <a:xfrm>
            <a:off x="7476592" y="5257800"/>
            <a:ext cx="1472184" cy="502920"/>
          </a:xfrm>
          <a:prstGeom prst="roundRect">
            <a:avLst>
              <a:gd name="adj" fmla="val 50000"/>
            </a:avLst>
          </a:prstGeom>
          <a:solidFill>
            <a:schemeClr val="tx2"/>
          </a:solidFill>
          <a:ln w="12700">
            <a:solidFill>
              <a:schemeClr val="tx2"/>
            </a:solidFill>
            <a:prstDash val="solid"/>
          </a:ln>
        </p:spPr>
      </p:sp>
      <p:sp>
        <p:nvSpPr>
          <p:cNvPr id="12" name="Suscripción 4 (texto)"/>
          <p:cNvSpPr txBox="1"/>
          <p:nvPr/>
        </p:nvSpPr>
        <p:spPr>
          <a:xfrm>
            <a:off x="7476592" y="5257800"/>
            <a:ext cx="1472184" cy="502920"/>
          </a:xfrm>
          <a:prstGeom prst="rect">
            <a:avLst/>
          </a:prstGeom>
          <a:noFill/>
          <a:ln/>
        </p:spPr>
        <p:txBody>
          <a:bodyPr wrap="square" lIns="0" tIns="0" rIns="0" bIns="0" rtlCol="0" anchor="ctr"/>
          <a:lstStyle/>
          <a:p>
            <a:pPr algn="ctr" indent="0" marL="0">
              <a:buNone/>
            </a:pPr>
            <a:r>
              <a:rPr lang="en-US" sz="1400" b="1" spc="200" kern="0" dirty="0">
                <a:solidFill>
                  <a:schemeClr val="accent2"/>
                </a:solidFill>
              </a:rPr>
              <a:t>La nube</a:t>
            </a:r>
            <a:endParaRPr lang="en-US" sz="1400" dirty="0"/>
          </a:p>
        </p:txBody>
      </p:sp>
      <p:sp>
        <p:nvSpPr>
          <p:cNvPr id="13" name="Suscripción 5"/>
          <p:cNvSpPr/>
          <p:nvPr/>
        </p:nvSpPr>
        <p:spPr>
          <a:xfrm>
            <a:off x="9177376" y="5257800"/>
            <a:ext cx="1947672" cy="502920"/>
          </a:xfrm>
          <a:prstGeom prst="roundRect">
            <a:avLst>
              <a:gd name="adj" fmla="val 50000"/>
            </a:avLst>
          </a:prstGeom>
          <a:solidFill>
            <a:schemeClr val="tx2"/>
          </a:solidFill>
          <a:ln w="12700">
            <a:solidFill>
              <a:schemeClr val="tx2"/>
            </a:solidFill>
            <a:prstDash val="solid"/>
          </a:ln>
        </p:spPr>
      </p:sp>
      <p:sp>
        <p:nvSpPr>
          <p:cNvPr id="14" name="Suscripción 5 (texto)"/>
          <p:cNvSpPr txBox="1"/>
          <p:nvPr/>
        </p:nvSpPr>
        <p:spPr>
          <a:xfrm>
            <a:off x="9177376" y="5257800"/>
            <a:ext cx="1947672" cy="502920"/>
          </a:xfrm>
          <a:prstGeom prst="rect">
            <a:avLst/>
          </a:prstGeom>
          <a:noFill/>
          <a:ln/>
        </p:spPr>
        <p:txBody>
          <a:bodyPr wrap="square" lIns="0" tIns="0" rIns="0" bIns="0" rtlCol="0" anchor="ctr"/>
          <a:lstStyle/>
          <a:p>
            <a:pPr algn="ctr" indent="0" marL="0">
              <a:buNone/>
            </a:pPr>
            <a:r>
              <a:rPr lang="en-US" sz="1400" b="1" spc="200" kern="0" dirty="0">
                <a:solidFill>
                  <a:schemeClr val="accent2"/>
                </a:solidFill>
              </a:rPr>
              <a:t>El gimnasio</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LA BALANZA</a:t>
            </a:r>
            <a:endParaRPr lang="en-US" sz="1400" dirty="0"/>
          </a:p>
        </p:txBody>
      </p:sp>
      <p:sp>
        <p:nvSpPr>
          <p:cNvPr id="3" name="Text 0"/>
          <p:cNvSpPr/>
          <p:nvPr>
            <p:ph idx="101" type="title" hasCustomPrompt="1"/>
          </p:nvPr>
        </p:nvSpPr>
        <p:spPr>
          <a:xfrm>
            <a:off x="731520" y="1097280"/>
            <a:ext cx="10728655" cy="1005840"/>
          </a:xfrm>
          <a:prstGeom prst="rect">
            <a:avLst/>
          </a:prstGeom>
          <a:noFill/>
          <a:ln/>
        </p:spPr>
        <p:txBody>
          <a:bodyPr wrap="square" lIns="0" tIns="0" rIns="0" bIns="0" rtlCol="0" anchor="t"/>
          <a:lstStyle/>
          <a:p>
            <a:pPr algn="l" indent="0" marL="0">
              <a:buNone/>
            </a:pPr>
            <a:r>
              <a:rPr lang="en-US" sz="4000" b="1" dirty="0">
                <a:solidFill>
                  <a:schemeClr val="tx1"/>
                </a:solidFill>
              </a:rPr>
              <a:t>¿Qué pesa más?</a:t>
            </a:r>
            <a:endParaRPr lang="en-US" sz="4000" dirty="0"/>
          </a:p>
        </p:txBody>
      </p:sp>
      <p:sp>
        <p:nvSpPr>
          <p:cNvPr id="4" name="Balanza poste"/>
          <p:cNvSpPr/>
          <p:nvPr/>
        </p:nvSpPr>
        <p:spPr>
          <a:xfrm>
            <a:off x="6031840" y="2514600"/>
            <a:ext cx="128016" cy="2926080"/>
          </a:xfrm>
          <a:prstGeom prst="rect">
            <a:avLst/>
          </a:prstGeom>
          <a:solidFill>
            <a:schemeClr val="tx1"/>
          </a:solidFill>
          <a:ln w="12700">
            <a:solidFill>
              <a:schemeClr val="tx1"/>
            </a:solidFill>
            <a:prstDash val="solid"/>
          </a:ln>
        </p:spPr>
      </p:sp>
      <p:sp>
        <p:nvSpPr>
          <p:cNvPr id="5" name="Balanza base"/>
          <p:cNvSpPr/>
          <p:nvPr/>
        </p:nvSpPr>
        <p:spPr>
          <a:xfrm>
            <a:off x="5181448" y="5394960"/>
            <a:ext cx="1828800" cy="182880"/>
          </a:xfrm>
          <a:prstGeom prst="roundRect">
            <a:avLst>
              <a:gd name="adj" fmla="val 50000"/>
            </a:avLst>
          </a:prstGeom>
          <a:solidFill>
            <a:schemeClr val="tx1"/>
          </a:solidFill>
          <a:ln w="12700">
            <a:solidFill>
              <a:schemeClr val="tx1"/>
            </a:solidFill>
            <a:prstDash val="solid"/>
          </a:ln>
        </p:spPr>
      </p:sp>
      <p:sp>
        <p:nvSpPr>
          <p:cNvPr id="6" name="Balanza brazo"/>
          <p:cNvSpPr/>
          <p:nvPr/>
        </p:nvSpPr>
        <p:spPr>
          <a:xfrm rot="300000">
            <a:off x="2438248" y="2459736"/>
            <a:ext cx="7315200" cy="109728"/>
          </a:xfrm>
          <a:prstGeom prst="roundRect">
            <a:avLst>
              <a:gd name="adj" fmla="val 50000"/>
            </a:avLst>
          </a:prstGeom>
          <a:solidFill>
            <a:schemeClr val="tx1"/>
          </a:solidFill>
          <a:ln w="12700">
            <a:solidFill>
              <a:schemeClr val="tx1"/>
            </a:solidFill>
            <a:prstDash val="solid"/>
          </a:ln>
        </p:spPr>
      </p:sp>
      <p:sp>
        <p:nvSpPr>
          <p:cNvPr id="7" name="Balanza eje"/>
          <p:cNvSpPr/>
          <p:nvPr/>
        </p:nvSpPr>
        <p:spPr>
          <a:xfrm>
            <a:off x="5940400" y="2359152"/>
            <a:ext cx="310896" cy="310896"/>
          </a:xfrm>
          <a:prstGeom prst="ellipse">
            <a:avLst/>
          </a:prstGeom>
          <a:solidFill>
            <a:schemeClr val="accent1"/>
          </a:solidFill>
          <a:ln w="12700">
            <a:solidFill>
              <a:schemeClr val="accent1"/>
            </a:solidFill>
            <a:prstDash val="solid"/>
          </a:ln>
        </p:spPr>
      </p:sp>
      <p:sp>
        <p:nvSpPr>
          <p:cNvPr id="8" name="Balanza hilo 1"/>
          <p:cNvSpPr/>
          <p:nvPr/>
        </p:nvSpPr>
        <p:spPr>
          <a:xfrm>
            <a:off x="2452166" y="2195819"/>
            <a:ext cx="0" cy="320040"/>
          </a:xfrm>
          <a:prstGeom prst="line">
            <a:avLst/>
          </a:prstGeom>
          <a:noFill/>
          <a:ln w="19050">
            <a:solidFill>
              <a:schemeClr val="tx1"/>
            </a:solidFill>
            <a:prstDash val="solid"/>
          </a:ln>
        </p:spPr>
      </p:sp>
      <p:sp>
        <p:nvSpPr>
          <p:cNvPr id="9" name="Platillo 1"/>
          <p:cNvSpPr/>
          <p:nvPr/>
        </p:nvSpPr>
        <p:spPr>
          <a:xfrm>
            <a:off x="806246" y="2515859"/>
            <a:ext cx="3291840" cy="1417320"/>
          </a:xfrm>
          <a:prstGeom prst="roundRect">
            <a:avLst>
              <a:gd name="adj" fmla="val 11613"/>
            </a:avLst>
          </a:prstGeom>
          <a:solidFill>
            <a:schemeClr val="bg2"/>
          </a:solidFill>
          <a:ln w="12700">
            <a:solidFill>
              <a:schemeClr val="bg2"/>
            </a:solidFill>
            <a:prstDash val="solid"/>
          </a:ln>
        </p:spPr>
      </p:sp>
      <p:sp>
        <p:nvSpPr>
          <p:cNvPr id="10" name="Platillo 1 texto"/>
          <p:cNvSpPr txBox="1"/>
          <p:nvPr/>
        </p:nvSpPr>
        <p:spPr>
          <a:xfrm>
            <a:off x="1080566" y="2515859"/>
            <a:ext cx="2743200" cy="1417320"/>
          </a:xfrm>
          <a:prstGeom prst="rect">
            <a:avLst/>
          </a:prstGeom>
          <a:noFill/>
          <a:ln/>
        </p:spPr>
        <p:txBody>
          <a:bodyPr wrap="square" lIns="0" tIns="0" rIns="0" bIns="0" rtlCol="0" anchor="ctr"/>
          <a:lstStyle/>
          <a:p>
            <a:pPr algn="ctr" indent="0" marL="0">
              <a:buNone/>
            </a:pPr>
            <a:r>
              <a:rPr lang="en-US" sz="1800" b="1" dirty="0">
                <a:solidFill>
                  <a:schemeClr val="tx1"/>
                </a:solidFill>
                <a:latin typeface="Montserrat" pitchFamily="34" charset="0"/>
                <a:ea typeface="Montserrat" pitchFamily="34" charset="-122"/>
                <a:cs typeface="Montserrat" pitchFamily="34" charset="-120"/>
              </a:rPr>
              <a:t>Lo que pagás todos los meses sin que te sume</a:t>
            </a:r>
            <a:endParaRPr lang="en-US" sz="1800" dirty="0"/>
          </a:p>
        </p:txBody>
      </p:sp>
      <p:sp>
        <p:nvSpPr>
          <p:cNvPr id="11" name="Balanza hilo 2"/>
          <p:cNvSpPr/>
          <p:nvPr/>
        </p:nvSpPr>
        <p:spPr>
          <a:xfrm>
            <a:off x="9739529" y="2833381"/>
            <a:ext cx="0" cy="320040"/>
          </a:xfrm>
          <a:prstGeom prst="line">
            <a:avLst/>
          </a:prstGeom>
          <a:noFill/>
          <a:ln w="19050">
            <a:solidFill>
              <a:schemeClr val="tx1"/>
            </a:solidFill>
            <a:prstDash val="solid"/>
          </a:ln>
        </p:spPr>
      </p:sp>
      <p:sp>
        <p:nvSpPr>
          <p:cNvPr id="12" name="Platillo 2"/>
          <p:cNvSpPr/>
          <p:nvPr/>
        </p:nvSpPr>
        <p:spPr>
          <a:xfrm>
            <a:off x="8093609" y="3153421"/>
            <a:ext cx="3291840" cy="1417320"/>
          </a:xfrm>
          <a:prstGeom prst="roundRect">
            <a:avLst>
              <a:gd name="adj" fmla="val 11613"/>
            </a:avLst>
          </a:prstGeom>
          <a:solidFill>
            <a:schemeClr val="accent1"/>
          </a:solidFill>
          <a:ln w="12700">
            <a:solidFill>
              <a:schemeClr val="accent1"/>
            </a:solidFill>
            <a:prstDash val="solid"/>
          </a:ln>
        </p:spPr>
      </p:sp>
      <p:sp>
        <p:nvSpPr>
          <p:cNvPr id="13" name="Platillo 2 texto"/>
          <p:cNvSpPr txBox="1"/>
          <p:nvPr/>
        </p:nvSpPr>
        <p:spPr>
          <a:xfrm>
            <a:off x="8367929" y="3153421"/>
            <a:ext cx="2743200" cy="1417320"/>
          </a:xfrm>
          <a:prstGeom prst="rect">
            <a:avLst/>
          </a:prstGeom>
          <a:noFill/>
          <a:ln/>
        </p:spPr>
        <p:txBody>
          <a:bodyPr wrap="square" lIns="0" tIns="0" rIns="0" bIns="0" rtlCol="0" anchor="ctr"/>
          <a:lstStyle/>
          <a:p>
            <a:pPr algn="ctr" indent="0" marL="0">
              <a:buNone/>
            </a:pPr>
            <a:r>
              <a:rPr lang="en-US" sz="1800" b="1" dirty="0">
                <a:solidFill>
                  <a:schemeClr val="bg1"/>
                </a:solidFill>
                <a:latin typeface="Montserrat" pitchFamily="34" charset="0"/>
                <a:ea typeface="Montserrat" pitchFamily="34" charset="-122"/>
                <a:cs typeface="Montserrat" pitchFamily="34" charset="-120"/>
              </a:rPr>
              <a:t>Lo que hace que tus cosas dejen de quedar para después</a:t>
            </a:r>
            <a:endParaRPr lang="en-US" sz="1800" dirty="0"/>
          </a:p>
        </p:txBody>
      </p:sp>
      <p:sp>
        <p:nvSpPr>
          <p:cNvPr id="14" name="Costo de esperar"/>
          <p:cNvSpPr txBox="1"/>
          <p:nvPr/>
        </p:nvSpPr>
        <p:spPr>
          <a:xfrm>
            <a:off x="731520" y="5120640"/>
            <a:ext cx="4389120" cy="822960"/>
          </a:xfrm>
          <a:prstGeom prst="rect">
            <a:avLst/>
          </a:prstGeom>
          <a:noFill/>
          <a:ln/>
        </p:spPr>
        <p:txBody>
          <a:bodyPr wrap="square" lIns="0" tIns="0" rIns="0" bIns="0" rtlCol="0" anchor="t"/>
          <a:lstStyle/>
          <a:p>
            <a:pPr indent="0" marL="0">
              <a:buNone/>
            </a:pPr>
            <a:r>
              <a:rPr lang="en-US" sz="1800" dirty="0">
                <a:solidFill>
                  <a:schemeClr val="accent3"/>
                </a:solidFill>
              </a:rPr>
              <a:t>Otro mes igual es otro mes con tu proyecto en el mismo lugar.</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10728655"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¿Y CUÁNTO CUESTA?</a:t>
            </a:r>
            <a:endParaRPr lang="en-US" sz="1400" dirty="0"/>
          </a:p>
        </p:txBody>
      </p:sp>
      <p:sp>
        <p:nvSpPr>
          <p:cNvPr id="3" name="Cuenta"/>
          <p:cNvSpPr txBox="1"/>
          <p:nvPr/>
        </p:nvSpPr>
        <p:spPr>
          <a:xfrm>
            <a:off x="731520" y="1417320"/>
            <a:ext cx="6766560" cy="2194560"/>
          </a:xfrm>
          <a:prstGeom prst="rect">
            <a:avLst/>
          </a:prstGeom>
          <a:noFill/>
          <a:ln/>
        </p:spPr>
        <p:txBody>
          <a:bodyPr wrap="square" lIns="0" tIns="0" rIns="0" bIns="0" rtlCol="0" anchor="ctr"/>
          <a:lstStyle/>
          <a:p>
            <a:pPr indent="0" marL="0">
              <a:buNone/>
            </a:pPr>
            <a:r>
              <a:rPr lang="en-US" sz="4800" b="1" dirty="0">
                <a:solidFill>
                  <a:schemeClr val="tx1"/>
                </a:solidFill>
                <a:latin typeface="Montserrat" pitchFamily="34" charset="0"/>
                <a:ea typeface="Montserrat" pitchFamily="34" charset="-122"/>
                <a:cs typeface="Montserrat" pitchFamily="34" charset="-120"/>
              </a:rPr>
              <a:t>USD 35 ÷ 30 días</a:t>
            </a:r>
            <a:endParaRPr lang="en-US" sz="4800" dirty="0"/>
          </a:p>
          <a:p>
            <a:pPr indent="0" marL="0">
              <a:buNone/>
            </a:pPr>
            <a:r>
              <a:rPr lang="en-US" sz="4800" b="1" dirty="0">
                <a:solidFill>
                  <a:schemeClr val="accent1"/>
                </a:solidFill>
                <a:latin typeface="Montserrat" pitchFamily="34" charset="0"/>
                <a:ea typeface="Montserrat" pitchFamily="34" charset="-122"/>
                <a:cs typeface="Montserrat" pitchFamily="34" charset="-120"/>
              </a:rPr>
              <a:t>= USD 1,17 por día</a:t>
            </a:r>
            <a:endParaRPr lang="en-US" sz="4800" dirty="0"/>
          </a:p>
        </p:txBody>
      </p:sp>
      <p:sp>
        <p:nvSpPr>
          <p:cNvPr id="4" name="Remate"/>
          <p:cNvSpPr txBox="1"/>
          <p:nvPr/>
        </p:nvSpPr>
        <p:spPr>
          <a:xfrm>
            <a:off x="731520" y="3977640"/>
            <a:ext cx="6766560" cy="914400"/>
          </a:xfrm>
          <a:prstGeom prst="rect">
            <a:avLst/>
          </a:prstGeom>
          <a:noFill/>
          <a:ln/>
        </p:spPr>
        <p:txBody>
          <a:bodyPr wrap="square" lIns="0" tIns="0" rIns="0" bIns="0" rtlCol="0" anchor="t"/>
          <a:lstStyle/>
          <a:p>
            <a:pPr indent="0" marL="0">
              <a:buNone/>
            </a:pPr>
            <a:r>
              <a:rPr lang="en-US" sz="3600" b="1" dirty="0">
                <a:solidFill>
                  <a:schemeClr val="tx1"/>
                </a:solidFill>
                <a:latin typeface="Montserrat" pitchFamily="34" charset="0"/>
                <a:ea typeface="Montserrat" pitchFamily="34" charset="-122"/>
                <a:cs typeface="Montserrat" pitchFamily="34" charset="-120"/>
              </a:rPr>
              <a:t>Ni siquiera un café por día</a:t>
            </a:r>
            <a:endParaRPr lang="en-US" sz="3600" dirty="0"/>
          </a:p>
        </p:txBody>
      </p:sp>
      <p:sp>
        <p:nvSpPr>
          <p:cNvPr id="5" name="Espacio Mini Nico café"/>
          <p:cNvSpPr/>
          <p:nvPr/>
        </p:nvSpPr>
        <p:spPr>
          <a:xfrm>
            <a:off x="8001000" y="685800"/>
            <a:ext cx="3456432" cy="5074920"/>
          </a:xfrm>
          <a:prstGeom prst="roundRect">
            <a:avLst>
              <a:gd name="adj" fmla="val 4762"/>
            </a:avLst>
          </a:prstGeom>
          <a:solidFill>
            <a:schemeClr val="bg2"/>
          </a:solidFill>
          <a:ln w="19050">
            <a:solidFill>
              <a:schemeClr val="accent3"/>
            </a:solidFill>
            <a:prstDash val="dash"/>
          </a:ln>
        </p:spPr>
      </p:sp>
      <p:sp>
        <p:nvSpPr>
          <p:cNvPr id="6" name="Espacio Mini Nico café (texto)"/>
          <p:cNvSpPr txBox="1"/>
          <p:nvPr/>
        </p:nvSpPr>
        <p:spPr>
          <a:xfrm>
            <a:off x="8275320" y="685800"/>
            <a:ext cx="2907792" cy="5074920"/>
          </a:xfrm>
          <a:prstGeom prst="rect">
            <a:avLst/>
          </a:prstGeom>
          <a:noFill/>
          <a:ln/>
        </p:spPr>
        <p:txBody>
          <a:bodyPr wrap="square" lIns="0" tIns="0" rIns="0" bIns="0" rtlCol="0" anchor="ctr"/>
          <a:lstStyle/>
          <a:p>
            <a:pPr algn="ctr" indent="0" marL="0">
              <a:buNone/>
            </a:pPr>
            <a:r>
              <a:rPr lang="en-US" sz="1300" b="1" spc="200" kern="0" dirty="0">
                <a:solidFill>
                  <a:schemeClr val="accent3"/>
                </a:solidFill>
              </a:rPr>
              <a:t>MINI NICO</a:t>
            </a:r>
            <a:endParaRPr lang="en-US" sz="1300" dirty="0"/>
          </a:p>
          <a:p>
            <a:pPr algn="ctr" indent="0" marL="0">
              <a:buNone/>
            </a:pPr>
            <a:r>
              <a:rPr lang="en-US" sz="1300" b="1" spc="200" kern="0" dirty="0">
                <a:solidFill>
                  <a:schemeClr val="accent3"/>
                </a:solidFill>
              </a:rPr>
              <a:t>con un café en la mano</a:t>
            </a:r>
            <a:endParaRPr lang="en-US" sz="1300" dirty="0"/>
          </a:p>
        </p:txBody>
      </p:sp>
      <p:sp>
        <p:nvSpPr>
          <p:cNvPr id="8" name="Text 0"/>
          <p:cNvSpPr/>
          <p:nvPr>
            <p:ph idx="101" type="title" hasCustomPrompt="1"/>
          </p:nvPr>
        </p:nvSpPr>
        <p:spPr>
          <a:xfrm>
            <a:off x="731520" y="1097280"/>
            <a:ext cx="10728655" cy="1005840"/>
          </a:xfrm>
          <a:prstGeom prst="rect">
            <a:avLst/>
          </a:prstGeom>
          <a:noFill/>
          <a:ln/>
        </p:spPr>
        <p:txBody>
          <a:bodyPr wrap="square" lIns="0" tIns="0" rIns="0" bIns="0" rtlCol="0" anchor="t"/>
          <a:lstStyle/>
          <a:p>
            <a:pPr algn="l" indent="0" marL="0">
              <a:buNone/>
            </a:pP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p:cNvSpPr txBox="1"/>
          <p:nvPr/>
        </p:nvSpPr>
        <p:spPr>
          <a:xfrm>
            <a:off x="731520" y="868680"/>
            <a:ext cx="10728655" cy="365760"/>
          </a:xfrm>
          <a:prstGeom prst="rect">
            <a:avLst/>
          </a:prstGeom>
          <a:noFill/>
          <a:ln/>
        </p:spPr>
        <p:txBody>
          <a:bodyPr wrap="square" lIns="0" tIns="0" rIns="0" bIns="0" rtlCol="0" anchor="t"/>
          <a:lstStyle/>
          <a:p>
            <a:pPr algn="ctr" indent="0" marL="0">
              <a:buNone/>
            </a:pPr>
            <a:r>
              <a:rPr lang="en-US" sz="1400" b="1" spc="300" kern="0" dirty="0">
                <a:solidFill>
                  <a:schemeClr val="accent1"/>
                </a:solidFill>
              </a:rPr>
              <a:t>TU LUGAR EN LA COMUNIDAD PRODUCTIVA</a:t>
            </a:r>
            <a:endParaRPr lang="en-US" sz="1400" dirty="0"/>
          </a:p>
        </p:txBody>
      </p:sp>
      <p:sp>
        <p:nvSpPr>
          <p:cNvPr id="3" name="Precio anterior"/>
          <p:cNvSpPr txBox="1"/>
          <p:nvPr/>
        </p:nvSpPr>
        <p:spPr>
          <a:xfrm>
            <a:off x="731520" y="1508760"/>
            <a:ext cx="10728655" cy="822960"/>
          </a:xfrm>
          <a:prstGeom prst="rect">
            <a:avLst/>
          </a:prstGeom>
          <a:noFill/>
          <a:ln/>
        </p:spPr>
        <p:txBody>
          <a:bodyPr wrap="square" lIns="0" tIns="0" rIns="0" bIns="0" rtlCol="0" anchor="ctr"/>
          <a:lstStyle/>
          <a:p>
            <a:pPr algn="ctr" indent="0" marL="0">
              <a:buNone/>
            </a:pPr>
            <a:r>
              <a:rPr lang="en-US" sz="4400" b="1" strike="sngStrike" dirty="0">
                <a:solidFill>
                  <a:schemeClr val="accent2"/>
                </a:solidFill>
                <a:latin typeface="Montserrat" pitchFamily="34" charset="0"/>
                <a:ea typeface="Montserrat" pitchFamily="34" charset="-122"/>
                <a:cs typeface="Montserrat" pitchFamily="34" charset="-120"/>
              </a:rPr>
              <a:t>USD 50</a:t>
            </a:r>
            <a:endParaRPr lang="en-US" sz="4400" dirty="0"/>
          </a:p>
        </p:txBody>
      </p:sp>
      <p:sp>
        <p:nvSpPr>
          <p:cNvPr id="4" name="Precio"/>
          <p:cNvSpPr txBox="1"/>
          <p:nvPr/>
        </p:nvSpPr>
        <p:spPr>
          <a:xfrm>
            <a:off x="731520" y="2331720"/>
            <a:ext cx="10728655" cy="1737360"/>
          </a:xfrm>
          <a:prstGeom prst="rect">
            <a:avLst/>
          </a:prstGeom>
          <a:noFill/>
          <a:ln/>
        </p:spPr>
        <p:txBody>
          <a:bodyPr wrap="square" lIns="0" tIns="0" rIns="0" bIns="0" rtlCol="0" anchor="ctr"/>
          <a:lstStyle/>
          <a:p>
            <a:pPr algn="ctr" indent="0" marL="0">
              <a:buNone/>
            </a:pPr>
            <a:r>
              <a:rPr lang="en-US" sz="12000" b="1" dirty="0">
                <a:solidFill>
                  <a:schemeClr val="accent1"/>
                </a:solidFill>
                <a:latin typeface="Montserrat" pitchFamily="34" charset="0"/>
                <a:ea typeface="Montserrat" pitchFamily="34" charset="-122"/>
                <a:cs typeface="Montserrat" pitchFamily="34" charset="-120"/>
              </a:rPr>
              <a:t>USD 35</a:t>
            </a:r>
            <a:pPr algn="ctr" indent="0" marL="0">
              <a:buNone/>
            </a:pPr>
            <a:r>
              <a:rPr lang="en-US" sz="3200" b="1" dirty="0">
                <a:solidFill>
                  <a:schemeClr val="bg1"/>
                </a:solidFill>
                <a:latin typeface="Montserrat" pitchFamily="34" charset="0"/>
                <a:ea typeface="Montserrat" pitchFamily="34" charset="-122"/>
                <a:cs typeface="Montserrat" pitchFamily="34" charset="-120"/>
              </a:rPr>
              <a:t> por mes</a:t>
            </a:r>
            <a:endParaRPr lang="en-US" sz="1800" dirty="0"/>
          </a:p>
        </p:txBody>
      </p:sp>
      <p:sp>
        <p:nvSpPr>
          <p:cNvPr id="5" name="Condición"/>
          <p:cNvSpPr txBox="1"/>
          <p:nvPr/>
        </p:nvSpPr>
        <p:spPr>
          <a:xfrm>
            <a:off x="731520" y="4160520"/>
            <a:ext cx="10728655" cy="502920"/>
          </a:xfrm>
          <a:prstGeom prst="rect">
            <a:avLst/>
          </a:prstGeom>
          <a:noFill/>
          <a:ln/>
        </p:spPr>
        <p:txBody>
          <a:bodyPr wrap="square" lIns="0" tIns="0" rIns="0" bIns="0" rtlCol="0" anchor="t"/>
          <a:lstStyle/>
          <a:p>
            <a:pPr algn="ctr" indent="0" marL="0">
              <a:buNone/>
            </a:pPr>
            <a:r>
              <a:rPr lang="en-US" sz="2400" dirty="0">
                <a:solidFill>
                  <a:schemeClr val="bg1"/>
                </a:solidFill>
              </a:rPr>
              <a:t>Es mensual: si no te sirve, no renovás.</a:t>
            </a:r>
            <a:endParaRPr lang="en-US" sz="2400" dirty="0"/>
          </a:p>
        </p:txBody>
      </p:sp>
      <p:sp>
        <p:nvSpPr>
          <p:cNvPr id="6" name="Escasez"/>
          <p:cNvSpPr txBox="1"/>
          <p:nvPr/>
        </p:nvSpPr>
        <p:spPr>
          <a:xfrm>
            <a:off x="731520" y="4983480"/>
            <a:ext cx="10728655" cy="411480"/>
          </a:xfrm>
          <a:prstGeom prst="rect">
            <a:avLst/>
          </a:prstGeom>
          <a:noFill/>
          <a:ln/>
        </p:spPr>
        <p:txBody>
          <a:bodyPr wrap="square" lIns="0" tIns="0" rIns="0" bIns="0" rtlCol="0" anchor="t"/>
          <a:lstStyle/>
          <a:p>
            <a:pPr algn="ctr" indent="0" marL="0">
              <a:buNone/>
            </a:pPr>
            <a:r>
              <a:rPr lang="en-US" sz="1800" dirty="0">
                <a:solidFill>
                  <a:schemeClr val="accent2"/>
                </a:solidFill>
              </a:rPr>
              <a:t>Precio para las primeras 20 personas. Después, el sistema lo sube a USD 50.</a:t>
            </a:r>
            <a:endParaRPr lang="en-US" sz="1800" dirty="0"/>
          </a:p>
        </p:txBody>
      </p:sp>
      <p:pic>
        <p:nvPicPr>
          <p:cNvPr id="7" name="Logo" descr="Instituto de Productividad">    </p:cNvPr>
          <p:cNvPicPr>
            <a:picLocks noChangeAspect="1"/>
          </p:cNvPicPr>
          <p:nvPr/>
        </p:nvPicPr>
        <p:blipFill>
          <a:blip r:embed="rId1"/>
          <a:stretch>
            <a:fillRect/>
          </a:stretch>
        </p:blipFill>
        <p:spPr>
          <a:xfrm>
            <a:off x="9722815" y="6093006"/>
            <a:ext cx="1737360" cy="35351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411480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PRIMERAS 20 PERSONAS</a:t>
            </a:r>
            <a:endParaRPr lang="en-US" sz="1400" dirty="0"/>
          </a:p>
        </p:txBody>
      </p:sp>
      <p:sp>
        <p:nvSpPr>
          <p:cNvPr id="3" name="Text 0"/>
          <p:cNvSpPr/>
          <p:nvPr>
            <p:ph idx="101" type="title" hasCustomPrompt="1"/>
          </p:nvPr>
        </p:nvSpPr>
        <p:spPr>
          <a:xfrm>
            <a:off x="731520" y="1097280"/>
            <a:ext cx="4114800" cy="2743200"/>
          </a:xfrm>
          <a:prstGeom prst="rect">
            <a:avLst/>
          </a:prstGeom>
          <a:noFill/>
          <a:ln/>
        </p:spPr>
        <p:txBody>
          <a:bodyPr wrap="square" lIns="0" tIns="0" rIns="0" bIns="0" rtlCol="0" anchor="t"/>
          <a:lstStyle/>
          <a:p>
            <a:pPr algn="l" indent="0" marL="0">
              <a:buNone/>
            </a:pPr>
            <a:r>
              <a:rPr lang="en-US" sz="3600" b="1" dirty="0">
                <a:solidFill>
                  <a:schemeClr val="bg1"/>
                </a:solidFill>
              </a:rPr>
              <a:t>Sumate al Instituto</a:t>
            </a:r>
            <a:endParaRPr lang="en-US" sz="3600" dirty="0"/>
          </a:p>
        </p:txBody>
      </p:sp>
      <p:sp>
        <p:nvSpPr>
          <p:cNvPr id="4" name="Acción"/>
          <p:cNvSpPr txBox="1"/>
          <p:nvPr/>
        </p:nvSpPr>
        <p:spPr>
          <a:xfrm>
            <a:off x="731520" y="2560320"/>
            <a:ext cx="4114800" cy="1188720"/>
          </a:xfrm>
          <a:prstGeom prst="rect">
            <a:avLst/>
          </a:prstGeom>
          <a:noFill/>
          <a:ln/>
        </p:spPr>
        <p:txBody>
          <a:bodyPr wrap="square" lIns="0" tIns="0" rIns="0" bIns="0" rtlCol="0" anchor="t"/>
          <a:lstStyle/>
          <a:p>
            <a:pPr indent="0" marL="0">
              <a:buNone/>
            </a:pPr>
            <a:r>
              <a:rPr lang="en-US" sz="2100" b="1" dirty="0">
                <a:solidFill>
                  <a:schemeClr val="bg1"/>
                </a:solidFill>
              </a:rPr>
              <a:t>Escaneá el QR de tu moneda. Cuando entres, escribí ADENTRO en el chat.</a:t>
            </a:r>
            <a:endParaRPr lang="en-US" sz="2100" dirty="0"/>
          </a:p>
        </p:txBody>
      </p:sp>
      <p:sp>
        <p:nvSpPr>
          <p:cNvPr id="5" name="Urgencia"/>
          <p:cNvSpPr txBox="1"/>
          <p:nvPr/>
        </p:nvSpPr>
        <p:spPr>
          <a:xfrm>
            <a:off x="731520" y="3886200"/>
            <a:ext cx="4114800" cy="914400"/>
          </a:xfrm>
          <a:prstGeom prst="rect">
            <a:avLst/>
          </a:prstGeom>
          <a:noFill/>
          <a:ln/>
        </p:spPr>
        <p:txBody>
          <a:bodyPr wrap="square" lIns="0" tIns="0" rIns="0" bIns="0" rtlCol="0" anchor="t"/>
          <a:lstStyle/>
          <a:p>
            <a:pPr indent="0" marL="0">
              <a:buNone/>
            </a:pPr>
            <a:r>
              <a:rPr lang="en-US" sz="1800" b="1" dirty="0">
                <a:solidFill>
                  <a:schemeClr val="accent1"/>
                </a:solidFill>
              </a:rPr>
              <a:t>Si entrás hoy, este sábado ya planificás con nosotros.</a:t>
            </a:r>
            <a:endParaRPr lang="en-US" sz="1800" dirty="0"/>
          </a:p>
        </p:txBody>
      </p:sp>
      <p:sp>
        <p:nvSpPr>
          <p:cNvPr id="6" name="Ayuda"/>
          <p:cNvSpPr txBox="1"/>
          <p:nvPr/>
        </p:nvSpPr>
        <p:spPr>
          <a:xfrm>
            <a:off x="731520" y="4846320"/>
            <a:ext cx="4114800" cy="822960"/>
          </a:xfrm>
          <a:prstGeom prst="rect">
            <a:avLst/>
          </a:prstGeom>
          <a:noFill/>
          <a:ln/>
        </p:spPr>
        <p:txBody>
          <a:bodyPr wrap="square" lIns="0" tIns="0" rIns="0" bIns="0" rtlCol="0" anchor="t"/>
          <a:lstStyle/>
          <a:p>
            <a:pPr indent="0" marL="0">
              <a:buNone/>
            </a:pPr>
            <a:r>
              <a:rPr lang="en-US" sz="1600" dirty="0">
                <a:solidFill>
                  <a:schemeClr val="accent2"/>
                </a:solidFill>
              </a:rPr>
              <a:t>¿Problema con el pago? En el chat tenés el WhatsApp de un asesor.</a:t>
            </a:r>
            <a:endParaRPr lang="en-US" sz="1600" dirty="0"/>
          </a:p>
        </p:txBody>
      </p:sp>
      <p:sp>
        <p:nvSpPr>
          <p:cNvPr id="7" name="Pago en pesos"/>
          <p:cNvSpPr/>
          <p:nvPr/>
        </p:nvSpPr>
        <p:spPr>
          <a:xfrm>
            <a:off x="5148072" y="868680"/>
            <a:ext cx="3017520" cy="3749040"/>
          </a:xfrm>
          <a:prstGeom prst="roundRect">
            <a:avLst>
              <a:gd name="adj" fmla="val 5455"/>
            </a:avLst>
          </a:prstGeom>
          <a:solidFill>
            <a:schemeClr val="bg1"/>
          </a:solidFill>
          <a:ln w="12700">
            <a:solidFill>
              <a:schemeClr val="bg1"/>
            </a:solidFill>
            <a:prstDash val="solid"/>
          </a:ln>
        </p:spPr>
      </p:sp>
      <p:sp>
        <p:nvSpPr>
          <p:cNvPr id="8" name="Pago en pesos título"/>
          <p:cNvSpPr txBox="1"/>
          <p:nvPr/>
        </p:nvSpPr>
        <p:spPr>
          <a:xfrm>
            <a:off x="5148072" y="1069848"/>
            <a:ext cx="3017520" cy="365760"/>
          </a:xfrm>
          <a:prstGeom prst="rect">
            <a:avLst/>
          </a:prstGeom>
          <a:noFill/>
          <a:ln/>
        </p:spPr>
        <p:txBody>
          <a:bodyPr wrap="square" lIns="0" tIns="0" rIns="0" bIns="0" rtlCol="0" anchor="t"/>
          <a:lstStyle/>
          <a:p>
            <a:pPr algn="ctr" indent="0" marL="0">
              <a:buNone/>
            </a:pPr>
            <a:r>
              <a:rPr lang="en-US" sz="2000" b="1" dirty="0">
                <a:solidFill>
                  <a:schemeClr val="tx1"/>
                </a:solidFill>
                <a:latin typeface="Montserrat" pitchFamily="34" charset="0"/>
                <a:ea typeface="Montserrat" pitchFamily="34" charset="-122"/>
                <a:cs typeface="Montserrat" pitchFamily="34" charset="-120"/>
              </a:rPr>
              <a:t>EN PESOS</a:t>
            </a:r>
            <a:endParaRPr lang="en-US" sz="2000" dirty="0"/>
          </a:p>
        </p:txBody>
      </p:sp>
      <p:sp>
        <p:nvSpPr>
          <p:cNvPr id="9" name="Pago en pesos medio"/>
          <p:cNvSpPr txBox="1"/>
          <p:nvPr/>
        </p:nvSpPr>
        <p:spPr>
          <a:xfrm>
            <a:off x="5148072" y="1435608"/>
            <a:ext cx="3017520" cy="274320"/>
          </a:xfrm>
          <a:prstGeom prst="rect">
            <a:avLst/>
          </a:prstGeom>
          <a:noFill/>
          <a:ln/>
        </p:spPr>
        <p:txBody>
          <a:bodyPr wrap="square" lIns="0" tIns="0" rIns="0" bIns="0" rtlCol="0" anchor="t"/>
          <a:lstStyle/>
          <a:p>
            <a:pPr algn="ctr" indent="0" marL="0">
              <a:buNone/>
            </a:pPr>
            <a:r>
              <a:rPr lang="en-US" sz="1400" dirty="0">
                <a:solidFill>
                  <a:schemeClr val="accent3"/>
                </a:solidFill>
              </a:rPr>
              <a:t>Mercado Pago</a:t>
            </a:r>
            <a:endParaRPr lang="en-US" sz="1400" dirty="0"/>
          </a:p>
        </p:txBody>
      </p:sp>
      <p:pic>
        <p:nvPicPr>
          <p:cNvPr id="10" name="Pago en pesos QR" descr="QR EN PESOS">    </p:cNvPr>
          <p:cNvPicPr>
            <a:picLocks noChangeAspect="1"/>
          </p:cNvPicPr>
          <p:nvPr/>
        </p:nvPicPr>
        <p:blipFill>
          <a:blip r:embed="rId1"/>
          <a:stretch>
            <a:fillRect/>
          </a:stretch>
        </p:blipFill>
        <p:spPr>
          <a:xfrm>
            <a:off x="5376672" y="1828800"/>
            <a:ext cx="2560320" cy="2560320"/>
          </a:xfrm>
          <a:prstGeom prst="rect">
            <a:avLst/>
          </a:prstGeom>
        </p:spPr>
      </p:pic>
      <p:sp>
        <p:nvSpPr>
          <p:cNvPr id="11" name="Pago en dólares"/>
          <p:cNvSpPr/>
          <p:nvPr/>
        </p:nvSpPr>
        <p:spPr>
          <a:xfrm>
            <a:off x="8439912" y="868680"/>
            <a:ext cx="3017520" cy="3749040"/>
          </a:xfrm>
          <a:prstGeom prst="roundRect">
            <a:avLst>
              <a:gd name="adj" fmla="val 5455"/>
            </a:avLst>
          </a:prstGeom>
          <a:solidFill>
            <a:schemeClr val="bg1"/>
          </a:solidFill>
          <a:ln w="12700">
            <a:solidFill>
              <a:schemeClr val="bg1"/>
            </a:solidFill>
            <a:prstDash val="solid"/>
          </a:ln>
        </p:spPr>
      </p:sp>
      <p:sp>
        <p:nvSpPr>
          <p:cNvPr id="12" name="Pago en dólares título"/>
          <p:cNvSpPr txBox="1"/>
          <p:nvPr/>
        </p:nvSpPr>
        <p:spPr>
          <a:xfrm>
            <a:off x="8439912" y="1069848"/>
            <a:ext cx="3017520" cy="365760"/>
          </a:xfrm>
          <a:prstGeom prst="rect">
            <a:avLst/>
          </a:prstGeom>
          <a:noFill/>
          <a:ln/>
        </p:spPr>
        <p:txBody>
          <a:bodyPr wrap="square" lIns="0" tIns="0" rIns="0" bIns="0" rtlCol="0" anchor="t"/>
          <a:lstStyle/>
          <a:p>
            <a:pPr algn="ctr" indent="0" marL="0">
              <a:buNone/>
            </a:pPr>
            <a:r>
              <a:rPr lang="en-US" sz="2000" b="1" dirty="0">
                <a:solidFill>
                  <a:schemeClr val="tx1"/>
                </a:solidFill>
                <a:latin typeface="Montserrat" pitchFamily="34" charset="0"/>
                <a:ea typeface="Montserrat" pitchFamily="34" charset="-122"/>
                <a:cs typeface="Montserrat" pitchFamily="34" charset="-120"/>
              </a:rPr>
              <a:t>EN DÓLARES</a:t>
            </a:r>
            <a:endParaRPr lang="en-US" sz="2000" dirty="0"/>
          </a:p>
        </p:txBody>
      </p:sp>
      <p:sp>
        <p:nvSpPr>
          <p:cNvPr id="13" name="Pago en dólares medio"/>
          <p:cNvSpPr txBox="1"/>
          <p:nvPr/>
        </p:nvSpPr>
        <p:spPr>
          <a:xfrm>
            <a:off x="8439912" y="1435608"/>
            <a:ext cx="3017520" cy="274320"/>
          </a:xfrm>
          <a:prstGeom prst="rect">
            <a:avLst/>
          </a:prstGeom>
          <a:noFill/>
          <a:ln/>
        </p:spPr>
        <p:txBody>
          <a:bodyPr wrap="square" lIns="0" tIns="0" rIns="0" bIns="0" rtlCol="0" anchor="t"/>
          <a:lstStyle/>
          <a:p>
            <a:pPr algn="ctr" indent="0" marL="0">
              <a:buNone/>
            </a:pPr>
            <a:r>
              <a:rPr lang="en-US" sz="1400" dirty="0">
                <a:solidFill>
                  <a:schemeClr val="accent3"/>
                </a:solidFill>
              </a:rPr>
              <a:t>Con tarjeta</a:t>
            </a:r>
            <a:endParaRPr lang="en-US" sz="1400" dirty="0"/>
          </a:p>
        </p:txBody>
      </p:sp>
      <p:pic>
        <p:nvPicPr>
          <p:cNvPr id="14" name="Pago en dólares QR" descr="QR EN DÓLARES">    </p:cNvPr>
          <p:cNvPicPr>
            <a:picLocks noChangeAspect="1"/>
          </p:cNvPicPr>
          <p:nvPr/>
        </p:nvPicPr>
        <p:blipFill>
          <a:blip r:embed="rId2"/>
          <a:stretch>
            <a:fillRect/>
          </a:stretch>
        </p:blipFill>
        <p:spPr>
          <a:xfrm>
            <a:off x="8668512" y="1828800"/>
            <a:ext cx="2560320" cy="25603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731520" y="685800"/>
            <a:ext cx="4114800" cy="365760"/>
          </a:xfrm>
          <a:prstGeom prst="rect">
            <a:avLst/>
          </a:prstGeom>
          <a:noFill/>
          <a:ln/>
        </p:spPr>
        <p:txBody>
          <a:bodyPr wrap="square" lIns="0" tIns="0" rIns="0" bIns="0" rtlCol="0" anchor="ctr"/>
          <a:lstStyle/>
          <a:p>
            <a:pPr indent="0" marL="0">
              <a:buNone/>
            </a:pPr>
            <a:r>
              <a:rPr lang="en-US" sz="1400" b="1" spc="300" kern="0" dirty="0">
                <a:solidFill>
                  <a:schemeClr val="accent1"/>
                </a:solidFill>
              </a:rPr>
              <a:t>PRIMERO LAS BASES</a:t>
            </a:r>
            <a:endParaRPr lang="en-US" sz="1400" dirty="0"/>
          </a:p>
        </p:txBody>
      </p:sp>
      <p:sp>
        <p:nvSpPr>
          <p:cNvPr id="3" name="Text 0"/>
          <p:cNvSpPr/>
          <p:nvPr>
            <p:ph idx="101" type="title" hasCustomPrompt="1"/>
          </p:nvPr>
        </p:nvSpPr>
        <p:spPr>
          <a:xfrm>
            <a:off x="731520" y="1097280"/>
            <a:ext cx="4114800" cy="2743200"/>
          </a:xfrm>
          <a:prstGeom prst="rect">
            <a:avLst/>
          </a:prstGeom>
          <a:noFill/>
          <a:ln/>
        </p:spPr>
        <p:txBody>
          <a:bodyPr wrap="square" lIns="0" tIns="0" rIns="0" bIns="0" rtlCol="0" anchor="t"/>
          <a:lstStyle/>
          <a:p>
            <a:pPr algn="l" indent="0" marL="0">
              <a:buNone/>
            </a:pPr>
            <a:r>
              <a:rPr lang="en-US" sz="3600" b="1" dirty="0">
                <a:solidFill>
                  <a:schemeClr val="bg1"/>
                </a:solidFill>
              </a:rPr>
              <a:t>¿Este sábado planificás tu semana con nosotros?</a:t>
            </a:r>
            <a:endParaRPr lang="en-US" sz="3600" dirty="0"/>
          </a:p>
        </p:txBody>
      </p:sp>
      <p:sp>
        <p:nvSpPr>
          <p:cNvPr id="4" name="Frase central"/>
          <p:cNvSpPr txBox="1"/>
          <p:nvPr/>
        </p:nvSpPr>
        <p:spPr>
          <a:xfrm>
            <a:off x="731520" y="4069080"/>
            <a:ext cx="4114800" cy="1005840"/>
          </a:xfrm>
          <a:prstGeom prst="rect">
            <a:avLst/>
          </a:prstGeom>
          <a:noFill/>
          <a:ln/>
        </p:spPr>
        <p:txBody>
          <a:bodyPr wrap="square" lIns="0" tIns="0" rIns="0" bIns="0" rtlCol="0" anchor="t"/>
          <a:lstStyle/>
          <a:p>
            <a:pPr indent="0" marL="0">
              <a:buNone/>
            </a:pPr>
            <a:r>
              <a:rPr lang="en-US" sz="2000" dirty="0">
                <a:solidFill>
                  <a:schemeClr val="accent2"/>
                </a:solidFill>
              </a:rPr>
              <a:t>Organizate y concentrate, y todo lo demás se vuelve más fácil.</a:t>
            </a:r>
            <a:endParaRPr lang="en-US" sz="2000" dirty="0"/>
          </a:p>
        </p:txBody>
      </p:sp>
      <p:sp>
        <p:nvSpPr>
          <p:cNvPr id="5" name="Pago en pesos"/>
          <p:cNvSpPr/>
          <p:nvPr/>
        </p:nvSpPr>
        <p:spPr>
          <a:xfrm>
            <a:off x="5148072" y="868680"/>
            <a:ext cx="3017520" cy="3749040"/>
          </a:xfrm>
          <a:prstGeom prst="roundRect">
            <a:avLst>
              <a:gd name="adj" fmla="val 5455"/>
            </a:avLst>
          </a:prstGeom>
          <a:solidFill>
            <a:schemeClr val="bg1"/>
          </a:solidFill>
          <a:ln w="12700">
            <a:solidFill>
              <a:schemeClr val="bg1"/>
            </a:solidFill>
            <a:prstDash val="solid"/>
          </a:ln>
        </p:spPr>
      </p:sp>
      <p:sp>
        <p:nvSpPr>
          <p:cNvPr id="6" name="Pago en pesos título"/>
          <p:cNvSpPr txBox="1"/>
          <p:nvPr/>
        </p:nvSpPr>
        <p:spPr>
          <a:xfrm>
            <a:off x="5148072" y="1069848"/>
            <a:ext cx="3017520" cy="365760"/>
          </a:xfrm>
          <a:prstGeom prst="rect">
            <a:avLst/>
          </a:prstGeom>
          <a:noFill/>
          <a:ln/>
        </p:spPr>
        <p:txBody>
          <a:bodyPr wrap="square" lIns="0" tIns="0" rIns="0" bIns="0" rtlCol="0" anchor="t"/>
          <a:lstStyle/>
          <a:p>
            <a:pPr algn="ctr" indent="0" marL="0">
              <a:buNone/>
            </a:pPr>
            <a:r>
              <a:rPr lang="en-US" sz="2000" b="1" dirty="0">
                <a:solidFill>
                  <a:schemeClr val="tx1"/>
                </a:solidFill>
                <a:latin typeface="Montserrat" pitchFamily="34" charset="0"/>
                <a:ea typeface="Montserrat" pitchFamily="34" charset="-122"/>
                <a:cs typeface="Montserrat" pitchFamily="34" charset="-120"/>
              </a:rPr>
              <a:t>EN PESOS</a:t>
            </a:r>
            <a:endParaRPr lang="en-US" sz="2000" dirty="0"/>
          </a:p>
        </p:txBody>
      </p:sp>
      <p:sp>
        <p:nvSpPr>
          <p:cNvPr id="7" name="Pago en pesos medio"/>
          <p:cNvSpPr txBox="1"/>
          <p:nvPr/>
        </p:nvSpPr>
        <p:spPr>
          <a:xfrm>
            <a:off x="5148072" y="1435608"/>
            <a:ext cx="3017520" cy="274320"/>
          </a:xfrm>
          <a:prstGeom prst="rect">
            <a:avLst/>
          </a:prstGeom>
          <a:noFill/>
          <a:ln/>
        </p:spPr>
        <p:txBody>
          <a:bodyPr wrap="square" lIns="0" tIns="0" rIns="0" bIns="0" rtlCol="0" anchor="t"/>
          <a:lstStyle/>
          <a:p>
            <a:pPr algn="ctr" indent="0" marL="0">
              <a:buNone/>
            </a:pPr>
            <a:r>
              <a:rPr lang="en-US" sz="1400" dirty="0">
                <a:solidFill>
                  <a:schemeClr val="accent3"/>
                </a:solidFill>
              </a:rPr>
              <a:t>Mercado Pago</a:t>
            </a:r>
            <a:endParaRPr lang="en-US" sz="1400" dirty="0"/>
          </a:p>
        </p:txBody>
      </p:sp>
      <p:pic>
        <p:nvPicPr>
          <p:cNvPr id="8" name="Pago en pesos QR" descr="QR EN PESOS">    </p:cNvPr>
          <p:cNvPicPr>
            <a:picLocks noChangeAspect="1"/>
          </p:cNvPicPr>
          <p:nvPr/>
        </p:nvPicPr>
        <p:blipFill>
          <a:blip r:embed="rId1"/>
          <a:stretch>
            <a:fillRect/>
          </a:stretch>
        </p:blipFill>
        <p:spPr>
          <a:xfrm>
            <a:off x="5376672" y="1828800"/>
            <a:ext cx="2560320" cy="2560320"/>
          </a:xfrm>
          <a:prstGeom prst="rect">
            <a:avLst/>
          </a:prstGeom>
        </p:spPr>
      </p:pic>
      <p:sp>
        <p:nvSpPr>
          <p:cNvPr id="9" name="Pago en dólares"/>
          <p:cNvSpPr/>
          <p:nvPr/>
        </p:nvSpPr>
        <p:spPr>
          <a:xfrm>
            <a:off x="8439912" y="868680"/>
            <a:ext cx="3017520" cy="3749040"/>
          </a:xfrm>
          <a:prstGeom prst="roundRect">
            <a:avLst>
              <a:gd name="adj" fmla="val 5455"/>
            </a:avLst>
          </a:prstGeom>
          <a:solidFill>
            <a:schemeClr val="bg1"/>
          </a:solidFill>
          <a:ln w="12700">
            <a:solidFill>
              <a:schemeClr val="bg1"/>
            </a:solidFill>
            <a:prstDash val="solid"/>
          </a:ln>
        </p:spPr>
      </p:sp>
      <p:sp>
        <p:nvSpPr>
          <p:cNvPr id="10" name="Pago en dólares título"/>
          <p:cNvSpPr txBox="1"/>
          <p:nvPr/>
        </p:nvSpPr>
        <p:spPr>
          <a:xfrm>
            <a:off x="8439912" y="1069848"/>
            <a:ext cx="3017520" cy="365760"/>
          </a:xfrm>
          <a:prstGeom prst="rect">
            <a:avLst/>
          </a:prstGeom>
          <a:noFill/>
          <a:ln/>
        </p:spPr>
        <p:txBody>
          <a:bodyPr wrap="square" lIns="0" tIns="0" rIns="0" bIns="0" rtlCol="0" anchor="t"/>
          <a:lstStyle/>
          <a:p>
            <a:pPr algn="ctr" indent="0" marL="0">
              <a:buNone/>
            </a:pPr>
            <a:r>
              <a:rPr lang="en-US" sz="2000" b="1" dirty="0">
                <a:solidFill>
                  <a:schemeClr val="tx1"/>
                </a:solidFill>
                <a:latin typeface="Montserrat" pitchFamily="34" charset="0"/>
                <a:ea typeface="Montserrat" pitchFamily="34" charset="-122"/>
                <a:cs typeface="Montserrat" pitchFamily="34" charset="-120"/>
              </a:rPr>
              <a:t>EN DÓLARES</a:t>
            </a:r>
            <a:endParaRPr lang="en-US" sz="2000" dirty="0"/>
          </a:p>
        </p:txBody>
      </p:sp>
      <p:sp>
        <p:nvSpPr>
          <p:cNvPr id="11" name="Pago en dólares medio"/>
          <p:cNvSpPr txBox="1"/>
          <p:nvPr/>
        </p:nvSpPr>
        <p:spPr>
          <a:xfrm>
            <a:off x="8439912" y="1435608"/>
            <a:ext cx="3017520" cy="274320"/>
          </a:xfrm>
          <a:prstGeom prst="rect">
            <a:avLst/>
          </a:prstGeom>
          <a:noFill/>
          <a:ln/>
        </p:spPr>
        <p:txBody>
          <a:bodyPr wrap="square" lIns="0" tIns="0" rIns="0" bIns="0" rtlCol="0" anchor="t"/>
          <a:lstStyle/>
          <a:p>
            <a:pPr algn="ctr" indent="0" marL="0">
              <a:buNone/>
            </a:pPr>
            <a:r>
              <a:rPr lang="en-US" sz="1400" dirty="0">
                <a:solidFill>
                  <a:schemeClr val="accent3"/>
                </a:solidFill>
              </a:rPr>
              <a:t>Con tarjeta</a:t>
            </a:r>
            <a:endParaRPr lang="en-US" sz="1400" dirty="0"/>
          </a:p>
        </p:txBody>
      </p:sp>
      <p:pic>
        <p:nvPicPr>
          <p:cNvPr id="12" name="Pago en dólares QR" descr="QR EN DÓLARES">    </p:cNvPr>
          <p:cNvPicPr>
            <a:picLocks noChangeAspect="1"/>
          </p:cNvPicPr>
          <p:nvPr/>
        </p:nvPicPr>
        <p:blipFill>
          <a:blip r:embed="rId2"/>
          <a:stretch>
            <a:fillRect/>
          </a:stretch>
        </p:blipFill>
        <p:spPr>
          <a:xfrm>
            <a:off x="8668512" y="1828800"/>
            <a:ext cx="2560320" cy="2560320"/>
          </a:xfrm>
          <a:prstGeom prst="rect">
            <a:avLst/>
          </a:prstGeom>
        </p:spPr>
      </p:pic>
    </p:spTree>
  </p:cSld>
  <p:clrMapOvr>
    <a:masterClrMapping/>
  </p:clrMapOvr>
</p:sld>
</file>

<file path=ppt/theme/theme1.xml><?xml version="1.0" encoding="utf-8"?>
<a:theme xmlns:a="http://schemas.openxmlformats.org/drawingml/2006/main" name="Instituto de Productividad">
  <a:themeElements>
    <a:clrScheme name="Instituto de Productividad">
      <a:dk1>
        <a:srgbClr val="0C3452"/>
      </a:dk1>
      <a:lt1>
        <a:srgbClr val="FFFFFF"/>
      </a:lt1>
      <a:dk2>
        <a:srgbClr val="081F33"/>
      </a:dk2>
      <a:lt2>
        <a:srgbClr val="F4F6FA"/>
      </a:lt2>
      <a:accent1>
        <a:srgbClr val="FF6602"/>
      </a:accent1>
      <a:accent2>
        <a:srgbClr val="9FB3C8"/>
      </a:accent2>
      <a:accent3>
        <a:srgbClr val="5A6B7E"/>
      </a:accent3>
      <a:accent4>
        <a:srgbClr val="E2E8F0"/>
      </a:accent4>
      <a:accent5>
        <a:srgbClr val="1E8E5A"/>
      </a:accent5>
      <a:accent6>
        <a:srgbClr val="FFE3D1"/>
      </a:accent6>
      <a:hlink>
        <a:srgbClr val="FF6602"/>
      </a:hlink>
      <a:folHlink>
        <a:srgbClr val="E55A00"/>
      </a:folHlink>
    </a:clrScheme>
    <a:fontScheme name="Instituto de Productividad">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e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Pitch Comunidad Productiva</dc:title>
  <dc:subject>PptxGenJS Presentation</dc:subject>
  <dc:creator>Instituto de Productividad</dc:creator>
  <cp:lastModifiedBy>Instituto de Productividad</cp:lastModifiedBy>
  <cp:revision>1</cp:revision>
  <dcterms:created xsi:type="dcterms:W3CDTF">2026-10-27T17:57:33Z</dcterms:created>
  <dcterms:modified xsi:type="dcterms:W3CDTF">2026-10-27T17:57:33Z</dcterms:modified>
</cp:coreProperties>
</file>