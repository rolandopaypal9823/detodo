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ente" id="{9d37335b-2f75-2912-a46d-4995a549c6e9}">
          <p14:sldIdLst>
            <p14:sldId id="256"/>
            <p14:sldId id="257"/>
          </p14:sldIdLst>
        </p14:section>
        <p14:section name="Escalera" id="{2c8e7108-f319-0792-96b5-29ecd63e5d41}">
          <p14:sldIdLst>
            <p14:sldId id="258"/>
          </p14:sldIdLst>
        </p14:section>
        <p14:section name="Oferta" id="{1d316f97-4355-a10e-fd25-62da172f77d3}">
          <p14:sldIdLst>
            <p14:sldId id="259"/>
            <p14:sldId id="260"/>
            <p14:sldId id="261"/>
            <p14:sldId id="262"/>
          </p14:sldIdLst>
        </p14:section>
        <p14:section name="Prueba" id="{1a7d2089-a5ce-0a2f-decb-2bdca23f47ea}">
          <p14:sldIdLst>
            <p14:sldId id="263"/>
          </p14:sldIdLst>
        </p14:section>
        <p14:section name="Precio" id="{01962c6c-1bb2-bf90-0a28-ceefe129fe7c}">
          <p14:sldIdLst>
            <p14:sldId id="264"/>
            <p14:sldId id="265"/>
            <p14:sldId id="266"/>
          </p14:sldIdLst>
        </p14:section>
        <p14:section name="Cierre" id="{1eee581d-ce97-bbd9-aed3-fcdb5cd4bb86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bisagra entre la clase y la oferta, sin cambiar el tono. Contá en una frase lo que te costó a vos: te llevó 6 años armarlo solo. Pausa antes de pasar.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Esperá los SÍ y leé dos o tres nombres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subir todo junto. Hoy es el primer escalón. Los otros dos existen y llegan cuando tengas las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lugar donde se hace lo de hoy, todas las semanas, con otros. La planificación la llevan los profesionales del equipo: no prometas tu presencia adentro.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Contalo como la semana de un miembro, cada cosa con su para qué. Cerrá con la regla.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cerebro sostiene distinto cuando hay alguien al lado haciendo lo mismo. Si podés, mostrá una captura real del co-work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Pasalos rápido, cada uno con su para qué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Pierina está en la clase, dale el micrófono un par de minutos para que cuente cómo arrancó.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Decí el precio y hacé silencio tres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Preguntá en el chat cuánto les sale un café donde viven.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dudas: la del producto y la de uno mismo. Respondé las dos, aunque nadie las haya escrito en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ENTRÉ en el chat: «¡Estás adentro, [nombre]!» en voz alta. Si tenés el conteo de los 20 lugares, decilo.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Dejá esta slide en pantalla mientras respondés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4" name="Image 0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6093006"/>
            <a:ext cx="1737360" cy="3535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4" name="Image 0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6093006"/>
            <a:ext cx="1737360" cy="3535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 izquier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4114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4" name="Image 0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6093006"/>
            <a:ext cx="1737360" cy="3535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 derech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577840" y="685800"/>
            <a:ext cx="587959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577840" y="1097280"/>
            <a:ext cx="58795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4" name="Image 0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6093006"/>
            <a:ext cx="1737360" cy="3535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 centr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80160" y="2057400"/>
            <a:ext cx="9631375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14800"/>
            <a:ext cx="88998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pic>
        <p:nvPicPr>
          <p:cNvPr id="5" name="Image 0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6093006"/>
            <a:ext cx="1737360" cy="3535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ANTES DE CERRAR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280160" y="205740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Ahora ya lo sabés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645920" y="4114800"/>
            <a:ext cx="8899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Y con los años me di cuenta de que saberlo no alcanza.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280160" y="2057400"/>
            <a:ext cx="9631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¿Querés que te muestre cómo lo hacemos todas las semanas?</a:t>
            </a:r>
            <a:endParaRPr lang="en-US" sz="4800" dirty="0"/>
          </a:p>
        </p:txBody>
      </p:sp>
      <p:sp>
        <p:nvSpPr>
          <p:cNvPr id="3" name="Pedido al chat"/>
          <p:cNvSpPr/>
          <p:nvPr/>
        </p:nvSpPr>
        <p:spPr>
          <a:xfrm>
            <a:off x="3992728" y="4343400"/>
            <a:ext cx="4206240" cy="68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edido al chat (texto)"/>
          <p:cNvSpPr txBox="1"/>
          <p:nvPr/>
        </p:nvSpPr>
        <p:spPr>
          <a:xfrm>
            <a:off x="3992728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chemeClr val="bg1"/>
                </a:solidFill>
              </a:rPr>
              <a:t>PONÉ SÍ EN EL CHAT</a:t>
            </a:r>
            <a:endParaRPr lang="en-US" sz="18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1645920" y="4114800"/>
            <a:ext cx="8899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TU PRIMER PASO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Una cosa a la vez</a:t>
            </a:r>
            <a:endParaRPr lang="en-US" sz="4000" dirty="0"/>
          </a:p>
        </p:txBody>
      </p:sp>
      <p:sp>
        <p:nvSpPr>
          <p:cNvPr id="4" name="Texto"/>
          <p:cNvSpPr txBox="1"/>
          <p:nvPr/>
        </p:nvSpPr>
        <p:spPr>
          <a:xfrm>
            <a:off x="731520" y="2148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Delegar, crecer o cuidar tu salud dependen de algo previo: ordenar tu semana.</a:t>
            </a:r>
            <a:endParaRPr lang="en-US" sz="2000" dirty="0"/>
          </a:p>
        </p:txBody>
      </p:sp>
      <p:sp>
        <p:nvSpPr>
          <p:cNvPr id="5" name="Remate"/>
          <p:cNvSpPr txBox="1"/>
          <p:nvPr/>
        </p:nvSpPr>
        <p:spPr>
          <a:xfrm>
            <a:off x="731520" y="3611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 arranca por ahí, bien hecho y acompañado.</a:t>
            </a:r>
            <a:endParaRPr lang="en-US" sz="2000" dirty="0"/>
          </a:p>
        </p:txBody>
      </p:sp>
      <p:sp>
        <p:nvSpPr>
          <p:cNvPr id="6" name="Escalón 1"/>
          <p:cNvSpPr/>
          <p:nvPr/>
        </p:nvSpPr>
        <p:spPr>
          <a:xfrm>
            <a:off x="5074920" y="4160520"/>
            <a:ext cx="2103120" cy="1737360"/>
          </a:xfrm>
          <a:prstGeom prst="roundRect">
            <a:avLst>
              <a:gd name="adj" fmla="val 947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Escalón 1 número"/>
          <p:cNvSpPr txBox="1"/>
          <p:nvPr/>
        </p:nvSpPr>
        <p:spPr>
          <a:xfrm>
            <a:off x="5303520" y="4361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Escalón 1 nombre"/>
          <p:cNvSpPr txBox="1"/>
          <p:nvPr/>
        </p:nvSpPr>
        <p:spPr>
          <a:xfrm>
            <a:off x="5303520" y="4754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bases</a:t>
            </a:r>
            <a:endParaRPr lang="en-US" sz="1600" dirty="0"/>
          </a:p>
        </p:txBody>
      </p:sp>
      <p:sp>
        <p:nvSpPr>
          <p:cNvPr id="9" name="Escalón 1 detalle"/>
          <p:cNvSpPr txBox="1"/>
          <p:nvPr/>
        </p:nvSpPr>
        <p:spPr>
          <a:xfrm>
            <a:off x="5303520" y="5422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Ordenar tu semana</a:t>
            </a:r>
            <a:endParaRPr lang="en-US" sz="1300" dirty="0"/>
          </a:p>
        </p:txBody>
      </p:sp>
      <p:sp>
        <p:nvSpPr>
          <p:cNvPr id="10" name="Escalón 2"/>
          <p:cNvSpPr/>
          <p:nvPr/>
        </p:nvSpPr>
        <p:spPr>
          <a:xfrm>
            <a:off x="7287768" y="3154680"/>
            <a:ext cx="2103120" cy="274320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scalón 2 número"/>
          <p:cNvSpPr txBox="1"/>
          <p:nvPr/>
        </p:nvSpPr>
        <p:spPr>
          <a:xfrm>
            <a:off x="7516368" y="3355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Escalón 2 nombre"/>
          <p:cNvSpPr txBox="1"/>
          <p:nvPr/>
        </p:nvSpPr>
        <p:spPr>
          <a:xfrm>
            <a:off x="7516368" y="3749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Clases con expertos</a:t>
            </a:r>
            <a:endParaRPr lang="en-US" sz="1600" dirty="0"/>
          </a:p>
        </p:txBody>
      </p:sp>
      <p:sp>
        <p:nvSpPr>
          <p:cNvPr id="13" name="Escalón 2 detalle"/>
          <p:cNvSpPr txBox="1"/>
          <p:nvPr/>
        </p:nvSpPr>
        <p:spPr>
          <a:xfrm>
            <a:off x="7516368" y="4416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Seguimiento 1 a 1</a:t>
            </a:r>
            <a:endParaRPr lang="en-US" sz="1300" dirty="0"/>
          </a:p>
        </p:txBody>
      </p:sp>
      <p:sp>
        <p:nvSpPr>
          <p:cNvPr id="14" name="Escalón 3"/>
          <p:cNvSpPr/>
          <p:nvPr/>
        </p:nvSpPr>
        <p:spPr>
          <a:xfrm>
            <a:off x="9500616" y="2148840"/>
            <a:ext cx="2103120" cy="374904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scalón 3 número"/>
          <p:cNvSpPr txBox="1"/>
          <p:nvPr/>
        </p:nvSpPr>
        <p:spPr>
          <a:xfrm>
            <a:off x="9729216" y="2350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Escalón 3 nombre"/>
          <p:cNvSpPr txBox="1"/>
          <p:nvPr/>
        </p:nvSpPr>
        <p:spPr>
          <a:xfrm>
            <a:off x="9729216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Proceso personalizado</a:t>
            </a:r>
            <a:endParaRPr lang="en-US" sz="1600" dirty="0"/>
          </a:p>
        </p:txBody>
      </p:sp>
      <p:sp>
        <p:nvSpPr>
          <p:cNvPr id="17" name="Escalón 3 detalle"/>
          <p:cNvSpPr txBox="1"/>
          <p:nvPr/>
        </p:nvSpPr>
        <p:spPr>
          <a:xfrm>
            <a:off x="9729216" y="34107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Experto asignado 1 a 1</a:t>
            </a:r>
            <a:endParaRPr lang="en-US" sz="1300" dirty="0"/>
          </a:p>
        </p:txBody>
      </p:sp>
      <p:sp>
        <p:nvSpPr>
          <p:cNvPr id="18" name="Hoy"/>
          <p:cNvSpPr/>
          <p:nvPr/>
        </p:nvSpPr>
        <p:spPr>
          <a:xfrm>
            <a:off x="6217920" y="4361688"/>
            <a:ext cx="77724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Hoy (texto)"/>
          <p:cNvSpPr txBox="1"/>
          <p:nvPr/>
        </p:nvSpPr>
        <p:spPr>
          <a:xfrm>
            <a:off x="6217920" y="43616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HOY</a:t>
            </a:r>
            <a:endParaRPr lang="en-US" sz="1100" dirty="0"/>
          </a:p>
        </p:txBody>
      </p:sp>
      <p:sp>
        <p:nvSpPr>
          <p:cNvPr id="20" name="Espacio Mini Nico"/>
          <p:cNvSpPr/>
          <p:nvPr/>
        </p:nvSpPr>
        <p:spPr>
          <a:xfrm>
            <a:off x="5074920" y="2148840"/>
            <a:ext cx="2103120" cy="1874520"/>
          </a:xfrm>
          <a:prstGeom prst="roundRect">
            <a:avLst>
              <a:gd name="adj" fmla="val 878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21" name="Espacio Mini Nico (texto)"/>
          <p:cNvSpPr txBox="1"/>
          <p:nvPr/>
        </p:nvSpPr>
        <p:spPr>
          <a:xfrm>
            <a:off x="5349240" y="214884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MINI NICO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subiendo el primer escalón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5608" y="1234440"/>
            <a:ext cx="3840480" cy="781452"/>
          </a:xfrm>
          <a:prstGeom prst="rect">
            <a:avLst/>
          </a:prstGeom>
        </p:spPr>
      </p:pic>
      <p:sp>
        <p:nvSpPr>
          <p:cNvPr id="3" name="Nombre"/>
          <p:cNvSpPr txBox="1"/>
          <p:nvPr/>
        </p:nvSpPr>
        <p:spPr>
          <a:xfrm>
            <a:off x="731520" y="260604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 Productiva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accent1"/>
                </a:solidFill>
              </a:rPr>
              <a:t>Avanzá sin dejar la vida en el intento.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COMUNIDAD PRODUCTIVA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Así es tu semana adentro</a:t>
            </a:r>
            <a:endParaRPr lang="en-US" sz="4000" dirty="0"/>
          </a:p>
        </p:txBody>
      </p:sp>
      <p:sp>
        <p:nvSpPr>
          <p:cNvPr id="4" name="Momento 1"/>
          <p:cNvSpPr/>
          <p:nvPr/>
        </p:nvSpPr>
        <p:spPr>
          <a:xfrm>
            <a:off x="731520" y="2103120"/>
            <a:ext cx="3362858" cy="28803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omento 1 cuándo"/>
          <p:cNvSpPr txBox="1"/>
          <p:nvPr/>
        </p:nvSpPr>
        <p:spPr>
          <a:xfrm>
            <a:off x="1051560" y="2423160"/>
            <a:ext cx="2722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SÁBADO A LA MAÑANA</a:t>
            </a:r>
            <a:endParaRPr lang="en-US" sz="1300" dirty="0"/>
          </a:p>
        </p:txBody>
      </p:sp>
      <p:sp>
        <p:nvSpPr>
          <p:cNvPr id="6" name="Momento 1 qué"/>
          <p:cNvSpPr txBox="1"/>
          <p:nvPr/>
        </p:nvSpPr>
        <p:spPr>
          <a:xfrm>
            <a:off x="1051560" y="283464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Planificás tu semana en vivo, con otros</a:t>
            </a:r>
            <a:endParaRPr lang="en-US" sz="1900" dirty="0"/>
          </a:p>
        </p:txBody>
      </p:sp>
      <p:sp>
        <p:nvSpPr>
          <p:cNvPr id="7" name="Momento 1 para qué"/>
          <p:cNvSpPr txBox="1"/>
          <p:nvPr/>
        </p:nvSpPr>
        <p:spPr>
          <a:xfrm>
            <a:off x="1051560" y="420624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Para saber qué hacés cada día.</a:t>
            </a:r>
            <a:endParaRPr lang="en-US" sz="1600" dirty="0"/>
          </a:p>
        </p:txBody>
      </p:sp>
      <p:sp>
        <p:nvSpPr>
          <p:cNvPr id="8" name="Momento 2"/>
          <p:cNvSpPr/>
          <p:nvPr/>
        </p:nvSpPr>
        <p:spPr>
          <a:xfrm>
            <a:off x="4414418" y="2103120"/>
            <a:ext cx="3362858" cy="28803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mento 2 cuándo"/>
          <p:cNvSpPr txBox="1"/>
          <p:nvPr/>
        </p:nvSpPr>
        <p:spPr>
          <a:xfrm>
            <a:off x="4734458" y="2423160"/>
            <a:ext cx="2722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DE LUNES A VIERNES</a:t>
            </a:r>
            <a:endParaRPr lang="en-US" sz="1300" dirty="0"/>
          </a:p>
        </p:txBody>
      </p:sp>
      <p:sp>
        <p:nvSpPr>
          <p:cNvPr id="10" name="Momento 2 qué"/>
          <p:cNvSpPr txBox="1"/>
          <p:nvPr/>
        </p:nvSpPr>
        <p:spPr>
          <a:xfrm>
            <a:off x="4734458" y="283464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Co-works en vivo, con cámara</a:t>
            </a:r>
            <a:endParaRPr lang="en-US" sz="1900" dirty="0"/>
          </a:p>
        </p:txBody>
      </p:sp>
      <p:sp>
        <p:nvSpPr>
          <p:cNvPr id="11" name="Momento 2 para qué"/>
          <p:cNvSpPr txBox="1"/>
          <p:nvPr/>
        </p:nvSpPr>
        <p:spPr>
          <a:xfrm>
            <a:off x="4734458" y="420624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Para avanzar en tus cosas en bloques de foco.</a:t>
            </a:r>
            <a:endParaRPr lang="en-US" sz="1600" dirty="0"/>
          </a:p>
        </p:txBody>
      </p:sp>
      <p:sp>
        <p:nvSpPr>
          <p:cNvPr id="12" name="Momento 3"/>
          <p:cNvSpPr/>
          <p:nvPr/>
        </p:nvSpPr>
        <p:spPr>
          <a:xfrm>
            <a:off x="8097317" y="2103120"/>
            <a:ext cx="3362858" cy="28803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omento 3 cuándo"/>
          <p:cNvSpPr txBox="1"/>
          <p:nvPr/>
        </p:nvSpPr>
        <p:spPr>
          <a:xfrm>
            <a:off x="8417357" y="2423160"/>
            <a:ext cx="2722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UNA VEZ POR MES</a:t>
            </a:r>
            <a:endParaRPr lang="en-US" sz="1300" dirty="0"/>
          </a:p>
        </p:txBody>
      </p:sp>
      <p:sp>
        <p:nvSpPr>
          <p:cNvPr id="14" name="Momento 3 qué"/>
          <p:cNvSpPr txBox="1"/>
          <p:nvPr/>
        </p:nvSpPr>
        <p:spPr>
          <a:xfrm>
            <a:off x="8417357" y="283464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Planificación con nutricionista, psicóloga y coaches</a:t>
            </a:r>
            <a:endParaRPr lang="en-US" sz="1900" dirty="0"/>
          </a:p>
        </p:txBody>
      </p:sp>
      <p:sp>
        <p:nvSpPr>
          <p:cNvPr id="15" name="Momento 3 para qué"/>
          <p:cNvSpPr txBox="1"/>
          <p:nvPr/>
        </p:nvSpPr>
        <p:spPr>
          <a:xfrm>
            <a:off x="8417357" y="420624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Para que avanzar no te cueste la salud.</a:t>
            </a:r>
            <a:endParaRPr lang="en-US" sz="1600" dirty="0"/>
          </a:p>
        </p:txBody>
      </p:sp>
      <p:sp>
        <p:nvSpPr>
          <p:cNvPr id="16" name="La regla"/>
          <p:cNvSpPr/>
          <p:nvPr/>
        </p:nvSpPr>
        <p:spPr>
          <a:xfrm>
            <a:off x="731520" y="5257800"/>
            <a:ext cx="5852160" cy="56692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La regla (texto)"/>
          <p:cNvSpPr txBox="1"/>
          <p:nvPr/>
        </p:nvSpPr>
        <p:spPr>
          <a:xfrm>
            <a:off x="731520" y="52578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LA REGLA: PODÉS FALTAR UNA SEMANA. DOS, NO.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CO-WORKS EN VIVO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Son las 9 y un grupo prende la cámara</a:t>
            </a:r>
            <a:endParaRPr lang="en-US" sz="3600" dirty="0"/>
          </a:p>
        </p:txBody>
      </p:sp>
      <p:sp>
        <p:nvSpPr>
          <p:cNvPr id="4" name="Texto"/>
          <p:cNvSpPr txBox="1"/>
          <p:nvPr/>
        </p:nvSpPr>
        <p:spPr>
          <a:xfrm>
            <a:off x="731520" y="34290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Para hacer lo que venía postergando, al lado de otros que están en lo mismo.</a:t>
            </a:r>
            <a:endParaRPr lang="en-US" sz="2000" dirty="0"/>
          </a:p>
        </p:txBody>
      </p:sp>
      <p:sp>
        <p:nvSpPr>
          <p:cNvPr id="5" name="Espacio captura co-work"/>
          <p:cNvSpPr/>
          <p:nvPr/>
        </p:nvSpPr>
        <p:spPr>
          <a:xfrm>
            <a:off x="5440680" y="685800"/>
            <a:ext cx="6016752" cy="50749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6" name="Espacio captura co-work (texto)"/>
          <p:cNvSpPr txBox="1"/>
          <p:nvPr/>
        </p:nvSpPr>
        <p:spPr>
          <a:xfrm>
            <a:off x="5715000" y="685800"/>
            <a:ext cx="546811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CAPTURA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grilla del co-work con las cámaras prendidas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Y ENTRÁS CON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6 bonos para arrancar el primer día</a:t>
            </a:r>
            <a:endParaRPr lang="en-US" sz="4000" dirty="0"/>
          </a:p>
        </p:txBody>
      </p:sp>
      <p:sp>
        <p:nvSpPr>
          <p:cNvPr id="4" name="Bono 1"/>
          <p:cNvSpPr/>
          <p:nvPr/>
        </p:nvSpPr>
        <p:spPr>
          <a:xfrm>
            <a:off x="731520" y="2240280"/>
            <a:ext cx="3393338" cy="14630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ono 1 círculo"/>
          <p:cNvSpPr/>
          <p:nvPr/>
        </p:nvSpPr>
        <p:spPr>
          <a:xfrm>
            <a:off x="1005840" y="268833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ono 1 número"/>
          <p:cNvSpPr txBox="1"/>
          <p:nvPr/>
        </p:nvSpPr>
        <p:spPr>
          <a:xfrm>
            <a:off x="1005840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Bono 1 nombre"/>
          <p:cNvSpPr txBox="1"/>
          <p:nvPr/>
        </p:nvSpPr>
        <p:spPr>
          <a:xfrm>
            <a:off x="1783080" y="2240280"/>
            <a:ext cx="2113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Reseteo de Dopamina</a:t>
            </a:r>
            <a:endParaRPr lang="en-US" sz="1800" dirty="0"/>
          </a:p>
        </p:txBody>
      </p:sp>
      <p:sp>
        <p:nvSpPr>
          <p:cNvPr id="8" name="Bono 2"/>
          <p:cNvSpPr/>
          <p:nvPr/>
        </p:nvSpPr>
        <p:spPr>
          <a:xfrm>
            <a:off x="4399178" y="2240280"/>
            <a:ext cx="3393338" cy="14630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ono 2 círculo"/>
          <p:cNvSpPr/>
          <p:nvPr/>
        </p:nvSpPr>
        <p:spPr>
          <a:xfrm>
            <a:off x="4673498" y="268833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ono 2 número"/>
          <p:cNvSpPr txBox="1"/>
          <p:nvPr/>
        </p:nvSpPr>
        <p:spPr>
          <a:xfrm>
            <a:off x="4673498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Bono 2 nombre"/>
          <p:cNvSpPr txBox="1"/>
          <p:nvPr/>
        </p:nvSpPr>
        <p:spPr>
          <a:xfrm>
            <a:off x="5450738" y="2240280"/>
            <a:ext cx="2113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Sueño Blindado</a:t>
            </a:r>
            <a:endParaRPr lang="en-US" sz="1800" dirty="0"/>
          </a:p>
        </p:txBody>
      </p:sp>
      <p:sp>
        <p:nvSpPr>
          <p:cNvPr id="12" name="Bono 3"/>
          <p:cNvSpPr/>
          <p:nvPr/>
        </p:nvSpPr>
        <p:spPr>
          <a:xfrm>
            <a:off x="8066837" y="2240280"/>
            <a:ext cx="3393338" cy="14630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ono 3 círculo"/>
          <p:cNvSpPr/>
          <p:nvPr/>
        </p:nvSpPr>
        <p:spPr>
          <a:xfrm>
            <a:off x="8341157" y="268833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ono 3 número"/>
          <p:cNvSpPr txBox="1"/>
          <p:nvPr/>
        </p:nvSpPr>
        <p:spPr>
          <a:xfrm>
            <a:off x="8341157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Bono 3 nombre"/>
          <p:cNvSpPr txBox="1"/>
          <p:nvPr/>
        </p:nvSpPr>
        <p:spPr>
          <a:xfrm>
            <a:off x="9118397" y="2240280"/>
            <a:ext cx="2113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Bloque de Foco</a:t>
            </a:r>
            <a:endParaRPr lang="en-US" sz="1800" dirty="0"/>
          </a:p>
        </p:txBody>
      </p:sp>
      <p:sp>
        <p:nvSpPr>
          <p:cNvPr id="16" name="Bono 4"/>
          <p:cNvSpPr/>
          <p:nvPr/>
        </p:nvSpPr>
        <p:spPr>
          <a:xfrm>
            <a:off x="731520" y="3977640"/>
            <a:ext cx="3393338" cy="14630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ono 4 círculo"/>
          <p:cNvSpPr/>
          <p:nvPr/>
        </p:nvSpPr>
        <p:spPr>
          <a:xfrm>
            <a:off x="1005840" y="44256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ono 4 número"/>
          <p:cNvSpPr txBox="1"/>
          <p:nvPr/>
        </p:nvSpPr>
        <p:spPr>
          <a:xfrm>
            <a:off x="1005840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Bono 4 nombre"/>
          <p:cNvSpPr txBox="1"/>
          <p:nvPr/>
        </p:nvSpPr>
        <p:spPr>
          <a:xfrm>
            <a:off x="1783080" y="3977640"/>
            <a:ext cx="2113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Masterclass: la neurociencia de la procrastinación</a:t>
            </a:r>
            <a:endParaRPr lang="en-US" sz="1800" dirty="0"/>
          </a:p>
        </p:txBody>
      </p:sp>
      <p:sp>
        <p:nvSpPr>
          <p:cNvPr id="20" name="Bono 5"/>
          <p:cNvSpPr/>
          <p:nvPr/>
        </p:nvSpPr>
        <p:spPr>
          <a:xfrm>
            <a:off x="4399178" y="3977640"/>
            <a:ext cx="3393338" cy="14630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ono 5 círculo"/>
          <p:cNvSpPr/>
          <p:nvPr/>
        </p:nvSpPr>
        <p:spPr>
          <a:xfrm>
            <a:off x="4673498" y="44256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Bono 5 número"/>
          <p:cNvSpPr txBox="1"/>
          <p:nvPr/>
        </p:nvSpPr>
        <p:spPr>
          <a:xfrm>
            <a:off x="4673498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Bono 5 nombre"/>
          <p:cNvSpPr txBox="1"/>
          <p:nvPr/>
        </p:nvSpPr>
        <p:spPr>
          <a:xfrm>
            <a:off x="5450738" y="3977640"/>
            <a:ext cx="2113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 de 7 días</a:t>
            </a:r>
            <a:endParaRPr lang="en-US" sz="1800" dirty="0"/>
          </a:p>
        </p:txBody>
      </p:sp>
      <p:sp>
        <p:nvSpPr>
          <p:cNvPr id="24" name="Bono 6"/>
          <p:cNvSpPr/>
          <p:nvPr/>
        </p:nvSpPr>
        <p:spPr>
          <a:xfrm>
            <a:off x="8066837" y="3977640"/>
            <a:ext cx="3393338" cy="14630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ono 6 círculo"/>
          <p:cNvSpPr/>
          <p:nvPr/>
        </p:nvSpPr>
        <p:spPr>
          <a:xfrm>
            <a:off x="8341157" y="44256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ono 6 número"/>
          <p:cNvSpPr txBox="1"/>
          <p:nvPr/>
        </p:nvSpPr>
        <p:spPr>
          <a:xfrm>
            <a:off x="8341157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Bono 6 nombre"/>
          <p:cNvSpPr txBox="1"/>
          <p:nvPr/>
        </p:nvSpPr>
        <p:spPr>
          <a:xfrm>
            <a:off x="9118397" y="3977640"/>
            <a:ext cx="2113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Canal de difusión de WhatsApp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io foto Pierina"/>
          <p:cNvSpPr/>
          <p:nvPr/>
        </p:nvSpPr>
        <p:spPr>
          <a:xfrm>
            <a:off x="731520" y="685800"/>
            <a:ext cx="4206240" cy="5074920"/>
          </a:xfrm>
          <a:prstGeom prst="roundRect">
            <a:avLst>
              <a:gd name="adj" fmla="val 3913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3" name="Espacio foto Pierina (texto)"/>
          <p:cNvSpPr txBox="1"/>
          <p:nvPr/>
        </p:nvSpPr>
        <p:spPr>
          <a:xfrm>
            <a:off x="1005840" y="685800"/>
            <a:ext cx="365760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FOTO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Pierina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5577840" y="685800"/>
            <a:ext cx="5879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ESTUVO DE TU LADO</a:t>
            </a:r>
            <a:endParaRPr lang="en-US" sz="14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577840" y="1097280"/>
            <a:ext cx="5879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Pierina</a:t>
            </a:r>
            <a:endParaRPr lang="en-US" sz="4000" dirty="0"/>
          </a:p>
        </p:txBody>
      </p:sp>
      <p:sp>
        <p:nvSpPr>
          <p:cNvPr id="6" name="Historia"/>
          <p:cNvSpPr txBox="1"/>
          <p:nvPr/>
        </p:nvSpPr>
        <p:spPr>
          <a:xfrm>
            <a:off x="5577840" y="20574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Entró al Instituto como alumna. Hoy es parte del equipo y coautora del nuevo libro de Nico.</a:t>
            </a:r>
            <a:endParaRPr lang="en-US" sz="2100" dirty="0"/>
          </a:p>
        </p:txBody>
      </p:sp>
      <p:sp>
        <p:nvSpPr>
          <p:cNvPr id="7" name="Cita"/>
          <p:cNvSpPr txBox="1"/>
          <p:nvPr/>
        </p:nvSpPr>
        <p:spPr>
          <a:xfrm>
            <a:off x="5577840" y="35204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“Tal vez el precio más alto no sea cambiar. Tal vez sea quedarnos tal cual estamos.”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8686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TU LUGAR EN LA COMUNIDAD PRODUCTIVA</a:t>
            </a:r>
            <a:endParaRPr lang="en-US" sz="1400" dirty="0"/>
          </a:p>
        </p:txBody>
      </p:sp>
      <p:sp>
        <p:nvSpPr>
          <p:cNvPr id="3" name="Precio anterior"/>
          <p:cNvSpPr txBox="1"/>
          <p:nvPr/>
        </p:nvSpPr>
        <p:spPr>
          <a:xfrm>
            <a:off x="731520" y="150876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trike="sngStrike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50</a:t>
            </a:r>
            <a:endParaRPr lang="en-US" sz="4400" dirty="0"/>
          </a:p>
        </p:txBody>
      </p:sp>
      <p:sp>
        <p:nvSpPr>
          <p:cNvPr id="4" name="Precio"/>
          <p:cNvSpPr txBox="1"/>
          <p:nvPr/>
        </p:nvSpPr>
        <p:spPr>
          <a:xfrm>
            <a:off x="731520" y="233172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35</a:t>
            </a:r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por mes</a:t>
            </a:r>
            <a:endParaRPr lang="en-US" sz="1800" dirty="0"/>
          </a:p>
        </p:txBody>
      </p:sp>
      <p:sp>
        <p:nvSpPr>
          <p:cNvPr id="5" name="Condición"/>
          <p:cNvSpPr txBox="1"/>
          <p:nvPr/>
        </p:nvSpPr>
        <p:spPr>
          <a:xfrm>
            <a:off x="731520" y="41605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Cancelás cuando quieras.</a:t>
            </a:r>
            <a:endParaRPr lang="en-US" sz="2400" dirty="0"/>
          </a:p>
        </p:txBody>
      </p:sp>
      <p:sp>
        <p:nvSpPr>
          <p:cNvPr id="6" name="Escasez"/>
          <p:cNvSpPr txBox="1"/>
          <p:nvPr/>
        </p:nvSpPr>
        <p:spPr>
          <a:xfrm>
            <a:off x="731520" y="498348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Precio para las primeras 20 personas. Después, el sistema lo sube a USD 50.</a:t>
            </a:r>
            <a:endParaRPr lang="en-US" sz="1800" dirty="0"/>
          </a:p>
        </p:txBody>
      </p:sp>
      <p:pic>
        <p:nvPicPr>
          <p:cNvPr id="7" name="Logo" descr="Instituto de Productiv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6093006"/>
            <a:ext cx="1737360" cy="3535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HAGAMOS LA CUENTA</a:t>
            </a:r>
            <a:endParaRPr lang="en-US" sz="1400" dirty="0"/>
          </a:p>
        </p:txBody>
      </p:sp>
      <p:sp>
        <p:nvSpPr>
          <p:cNvPr id="3" name="Cuenta"/>
          <p:cNvSpPr txBox="1"/>
          <p:nvPr/>
        </p:nvSpPr>
        <p:spPr>
          <a:xfrm>
            <a:off x="731520" y="141732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35 ÷ 30 días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USD 1,17 por día</a:t>
            </a:r>
            <a:endParaRPr lang="en-US" sz="4800" dirty="0"/>
          </a:p>
        </p:txBody>
      </p:sp>
      <p:sp>
        <p:nvSpPr>
          <p:cNvPr id="4" name="Remate"/>
          <p:cNvSpPr txBox="1"/>
          <p:nvPr/>
        </p:nvSpPr>
        <p:spPr>
          <a:xfrm>
            <a:off x="731520" y="39776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 siquiera un café por día</a:t>
            </a:r>
            <a:endParaRPr lang="en-US" sz="3600" dirty="0"/>
          </a:p>
        </p:txBody>
      </p:sp>
      <p:sp>
        <p:nvSpPr>
          <p:cNvPr id="5" name="Espacio Mini Nico café"/>
          <p:cNvSpPr/>
          <p:nvPr/>
        </p:nvSpPr>
        <p:spPr>
          <a:xfrm>
            <a:off x="8001000" y="685800"/>
            <a:ext cx="3456432" cy="50749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6" name="Espacio Mini Nico café (texto)"/>
          <p:cNvSpPr txBox="1"/>
          <p:nvPr/>
        </p:nvSpPr>
        <p:spPr>
          <a:xfrm>
            <a:off x="8275320" y="685800"/>
            <a:ext cx="290779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MINI NICO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con un café en la mano</a:t>
            </a:r>
            <a:endParaRPr lang="en-US" sz="13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ANTES DE DECIDIR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Las dos dudas de siempre</a:t>
            </a:r>
            <a:endParaRPr lang="en-US" sz="4000" dirty="0"/>
          </a:p>
        </p:txBody>
      </p:sp>
      <p:sp>
        <p:nvSpPr>
          <p:cNvPr id="4" name="Duda 1"/>
          <p:cNvSpPr/>
          <p:nvPr/>
        </p:nvSpPr>
        <p:spPr>
          <a:xfrm>
            <a:off x="731520" y="2240280"/>
            <a:ext cx="518144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uda 1 pregunta"/>
          <p:cNvSpPr txBox="1"/>
          <p:nvPr/>
        </p:nvSpPr>
        <p:spPr>
          <a:xfrm>
            <a:off x="1143000" y="265176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¿Otro curso más que voy a dejar a la mitad?</a:t>
            </a:r>
            <a:endParaRPr lang="en-US" sz="2600" dirty="0"/>
          </a:p>
        </p:txBody>
      </p:sp>
      <p:sp>
        <p:nvSpPr>
          <p:cNvPr id="6" name="Duda 1 respuesta"/>
          <p:cNvSpPr txBox="1"/>
          <p:nvPr/>
        </p:nvSpPr>
        <p:spPr>
          <a:xfrm>
            <a:off x="1143000" y="393192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Todo pasa en vivo: el sábado planificás con otros y de lunes a viernes avanzás en co-works.</a:t>
            </a:r>
            <a:endParaRPr lang="en-US" sz="1900" dirty="0"/>
          </a:p>
        </p:txBody>
      </p:sp>
      <p:sp>
        <p:nvSpPr>
          <p:cNvPr id="7" name="Duda 2"/>
          <p:cNvSpPr/>
          <p:nvPr/>
        </p:nvSpPr>
        <p:spPr>
          <a:xfrm>
            <a:off x="6278728" y="2240280"/>
            <a:ext cx="518144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uda 2 pregunta"/>
          <p:cNvSpPr txBox="1"/>
          <p:nvPr/>
        </p:nvSpPr>
        <p:spPr>
          <a:xfrm>
            <a:off x="6690208" y="265176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¿Y si una semana no puedo?</a:t>
            </a:r>
            <a:endParaRPr lang="en-US" sz="2600" dirty="0"/>
          </a:p>
        </p:txBody>
      </p:sp>
      <p:sp>
        <p:nvSpPr>
          <p:cNvPr id="9" name="Duda 2 respuesta"/>
          <p:cNvSpPr txBox="1"/>
          <p:nvPr/>
        </p:nvSpPr>
        <p:spPr>
          <a:xfrm>
            <a:off x="6690208" y="393192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El sábado planificamos de nuevo. Y si ya no te sirve, cancelás cuando quieras.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PRIMERAS 20 PERSONAS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Escaneá y entrá ahora</a:t>
            </a:r>
            <a:endParaRPr lang="en-US" sz="3600" dirty="0"/>
          </a:p>
        </p:txBody>
      </p:sp>
      <p:sp>
        <p:nvSpPr>
          <p:cNvPr id="4" name="Pedido"/>
          <p:cNvSpPr txBox="1"/>
          <p:nvPr/>
        </p:nvSpPr>
        <p:spPr>
          <a:xfrm>
            <a:off x="731520" y="2331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¿Ya entraste? Escribí ENTRÉ en el chat.</a:t>
            </a:r>
            <a:endParaRPr lang="en-US" sz="2200" dirty="0"/>
          </a:p>
        </p:txBody>
      </p:sp>
      <p:sp>
        <p:nvSpPr>
          <p:cNvPr id="5" name="Ayuda"/>
          <p:cNvSpPr txBox="1"/>
          <p:nvPr/>
        </p:nvSpPr>
        <p:spPr>
          <a:xfrm>
            <a:off x="731520" y="3383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¿Problema con el pago? Escribilo en el chat y te ayudamos.</a:t>
            </a:r>
            <a:endParaRPr lang="en-US" sz="1800" dirty="0"/>
          </a:p>
        </p:txBody>
      </p:sp>
      <p:sp>
        <p:nvSpPr>
          <p:cNvPr id="6" name="Links"/>
          <p:cNvSpPr txBox="1"/>
          <p:nvPr/>
        </p:nvSpPr>
        <p:spPr>
          <a:xfrm>
            <a:off x="73152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Los dos links también están en el chat.</a:t>
            </a:r>
            <a:endParaRPr lang="en-US" sz="1800" dirty="0"/>
          </a:p>
        </p:txBody>
      </p:sp>
      <p:sp>
        <p:nvSpPr>
          <p:cNvPr id="7" name="Pago en pesos"/>
          <p:cNvSpPr/>
          <p:nvPr/>
        </p:nvSpPr>
        <p:spPr>
          <a:xfrm>
            <a:off x="5148072" y="868680"/>
            <a:ext cx="3017520" cy="37490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Pago en pesos título"/>
          <p:cNvSpPr txBox="1"/>
          <p:nvPr/>
        </p:nvSpPr>
        <p:spPr>
          <a:xfrm>
            <a:off x="5148072" y="1069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PESOS</a:t>
            </a:r>
            <a:endParaRPr lang="en-US" sz="2000" dirty="0"/>
          </a:p>
        </p:txBody>
      </p:sp>
      <p:sp>
        <p:nvSpPr>
          <p:cNvPr id="9" name="Pago en pesos medio"/>
          <p:cNvSpPr txBox="1"/>
          <p:nvPr/>
        </p:nvSpPr>
        <p:spPr>
          <a:xfrm>
            <a:off x="514807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Mercado Pago</a:t>
            </a:r>
            <a:endParaRPr lang="en-US" sz="1400" dirty="0"/>
          </a:p>
        </p:txBody>
      </p:sp>
      <p:pic>
        <p:nvPicPr>
          <p:cNvPr id="10" name="Pago en pesos QR" descr="QR EN PE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828800"/>
            <a:ext cx="2560320" cy="2560320"/>
          </a:xfrm>
          <a:prstGeom prst="rect">
            <a:avLst/>
          </a:prstGeom>
        </p:spPr>
      </p:pic>
      <p:sp>
        <p:nvSpPr>
          <p:cNvPr id="11" name="Pago en dólares"/>
          <p:cNvSpPr/>
          <p:nvPr/>
        </p:nvSpPr>
        <p:spPr>
          <a:xfrm>
            <a:off x="8439912" y="868680"/>
            <a:ext cx="3017520" cy="37490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Pago en dólares título"/>
          <p:cNvSpPr txBox="1"/>
          <p:nvPr/>
        </p:nvSpPr>
        <p:spPr>
          <a:xfrm>
            <a:off x="8439912" y="1069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DÓLARES</a:t>
            </a:r>
            <a:endParaRPr lang="en-US" sz="2000" dirty="0"/>
          </a:p>
        </p:txBody>
      </p:sp>
      <p:sp>
        <p:nvSpPr>
          <p:cNvPr id="13" name="Pago en dólares medio"/>
          <p:cNvSpPr txBox="1"/>
          <p:nvPr/>
        </p:nvSpPr>
        <p:spPr>
          <a:xfrm>
            <a:off x="843991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Con tarjeta</a:t>
            </a:r>
            <a:endParaRPr lang="en-US" sz="1400" dirty="0"/>
          </a:p>
        </p:txBody>
      </p:sp>
      <p:pic>
        <p:nvPicPr>
          <p:cNvPr id="14" name="Pago en dólares QR" descr="QR EN DÓLA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8288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685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TU PRIMER PASO ES HOY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¿Este sábado planificás tu semana con nosotros?</a:t>
            </a:r>
            <a:endParaRPr lang="en-US" sz="3600" dirty="0"/>
          </a:p>
        </p:txBody>
      </p:sp>
      <p:sp>
        <p:nvSpPr>
          <p:cNvPr id="4" name="Recordatorio"/>
          <p:cNvSpPr txBox="1"/>
          <p:nvPr/>
        </p:nvSpPr>
        <p:spPr>
          <a:xfrm>
            <a:off x="731520" y="4160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USD 35 por mes para las primeras 20 personas.</a:t>
            </a:r>
            <a:endParaRPr lang="en-US" sz="2000" dirty="0"/>
          </a:p>
        </p:txBody>
      </p:sp>
      <p:sp>
        <p:nvSpPr>
          <p:cNvPr id="5" name="Pago en pesos"/>
          <p:cNvSpPr/>
          <p:nvPr/>
        </p:nvSpPr>
        <p:spPr>
          <a:xfrm>
            <a:off x="5148072" y="868680"/>
            <a:ext cx="3017520" cy="37490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Pago en pesos título"/>
          <p:cNvSpPr txBox="1"/>
          <p:nvPr/>
        </p:nvSpPr>
        <p:spPr>
          <a:xfrm>
            <a:off x="5148072" y="1069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PESOS</a:t>
            </a:r>
            <a:endParaRPr lang="en-US" sz="2000" dirty="0"/>
          </a:p>
        </p:txBody>
      </p:sp>
      <p:sp>
        <p:nvSpPr>
          <p:cNvPr id="7" name="Pago en pesos medio"/>
          <p:cNvSpPr txBox="1"/>
          <p:nvPr/>
        </p:nvSpPr>
        <p:spPr>
          <a:xfrm>
            <a:off x="514807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Mercado Pago</a:t>
            </a:r>
            <a:endParaRPr lang="en-US" sz="1400" dirty="0"/>
          </a:p>
        </p:txBody>
      </p:sp>
      <p:pic>
        <p:nvPicPr>
          <p:cNvPr id="8" name="Pago en pesos QR" descr="QR EN PE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828800"/>
            <a:ext cx="2560320" cy="2560320"/>
          </a:xfrm>
          <a:prstGeom prst="rect">
            <a:avLst/>
          </a:prstGeom>
        </p:spPr>
      </p:pic>
      <p:sp>
        <p:nvSpPr>
          <p:cNvPr id="9" name="Pago en dólares"/>
          <p:cNvSpPr/>
          <p:nvPr/>
        </p:nvSpPr>
        <p:spPr>
          <a:xfrm>
            <a:off x="8439912" y="868680"/>
            <a:ext cx="3017520" cy="37490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Pago en dólares título"/>
          <p:cNvSpPr txBox="1"/>
          <p:nvPr/>
        </p:nvSpPr>
        <p:spPr>
          <a:xfrm>
            <a:off x="8439912" y="10698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DÓLARES</a:t>
            </a:r>
            <a:endParaRPr lang="en-US" sz="2000" dirty="0"/>
          </a:p>
        </p:txBody>
      </p:sp>
      <p:sp>
        <p:nvSpPr>
          <p:cNvPr id="11" name="Pago en dólares medio"/>
          <p:cNvSpPr txBox="1"/>
          <p:nvPr/>
        </p:nvSpPr>
        <p:spPr>
          <a:xfrm>
            <a:off x="8439912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Con tarjeta</a:t>
            </a:r>
            <a:endParaRPr lang="en-US" sz="1400" dirty="0"/>
          </a:p>
        </p:txBody>
      </p:sp>
      <p:pic>
        <p:nvPicPr>
          <p:cNvPr id="12" name="Pago en dólares QR" descr="QR EN DÓLA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8288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stituto de Productividad">
  <a:themeElements>
    <a:clrScheme name="Instituto de Productividad">
      <a:dk1>
        <a:srgbClr val="0C3452"/>
      </a:dk1>
      <a:lt1>
        <a:srgbClr val="FFFFFF"/>
      </a:lt1>
      <a:dk2>
        <a:srgbClr val="081F33"/>
      </a:dk2>
      <a:lt2>
        <a:srgbClr val="F4F6FA"/>
      </a:lt2>
      <a:accent1>
        <a:srgbClr val="FF6602"/>
      </a:accent1>
      <a:accent2>
        <a:srgbClr val="9FB3C8"/>
      </a:accent2>
      <a:accent3>
        <a:srgbClr val="5A6B7E"/>
      </a:accent3>
      <a:accent4>
        <a:srgbClr val="E2E8F0"/>
      </a:accent4>
      <a:accent5>
        <a:srgbClr val="1E8E5A"/>
      </a:accent5>
      <a:accent6>
        <a:srgbClr val="FFE3D1"/>
      </a:accent6>
      <a:hlink>
        <a:srgbClr val="FF6602"/>
      </a:hlink>
      <a:folHlink>
        <a:srgbClr val="E55A00"/>
      </a:folHlink>
    </a:clrScheme>
    <a:fontScheme name="Instituto de Productividad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Comunidad Productiva</dc:title>
  <dc:subject>PptxGenJS Presentation</dc:subject>
  <dc:creator>Instituto de Productividad</dc:creator>
  <cp:lastModifiedBy>Instituto de Productividad</cp:lastModifiedBy>
  <cp:revision>1</cp:revision>
  <dcterms:created xsi:type="dcterms:W3CDTF">2026-10-27T17:33:48Z</dcterms:created>
  <dcterms:modified xsi:type="dcterms:W3CDTF">2026-10-27T17:33:48Z</dcterms:modified>
</cp:coreProperties>
</file>